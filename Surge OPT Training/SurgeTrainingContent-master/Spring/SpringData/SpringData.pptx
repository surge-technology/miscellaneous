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76" r:id="rId3"/>
    <p:sldId id="277" r:id="rId4"/>
    <p:sldId id="278" r:id="rId5"/>
    <p:sldId id="279" r:id="rId6"/>
    <p:sldId id="269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425" autoAdjust="0"/>
    <p:restoredTop sz="94660"/>
  </p:normalViewPr>
  <p:slideViewPr>
    <p:cSldViewPr>
      <p:cViewPr>
        <p:scale>
          <a:sx n="100" d="100"/>
          <a:sy n="100" d="100"/>
        </p:scale>
        <p:origin x="-57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52005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59570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77776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7569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8967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30089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776808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925844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52017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249577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950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10/31/2019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61824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 descr="Image result for spring annotation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939519" y="3244334"/>
            <a:ext cx="4499309" cy="1200329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en-US" sz="7200" dirty="0" smtClean="0"/>
              <a:t>Spring Data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xmlns="" val="2335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Data</a:t>
            </a:r>
            <a:endParaRPr lang="en-US" sz="1600" b="1" dirty="0"/>
          </a:p>
        </p:txBody>
      </p:sp>
      <p:sp>
        <p:nvSpPr>
          <p:cNvPr id="4" name="Rectangle 3"/>
          <p:cNvSpPr/>
          <p:nvPr/>
        </p:nvSpPr>
        <p:spPr>
          <a:xfrm>
            <a:off x="1752600" y="1524000"/>
            <a:ext cx="5410200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Spring Data’s </a:t>
            </a:r>
            <a:r>
              <a:rPr lang="en-US" dirty="0" smtClean="0"/>
              <a:t>mission is to provide a familiar and consistent, Spring-based programming model for data access while still retaining the special traits of the underlying data store. It makes it easy to use data access technologies, relational and non-relational databases, map-reduce frameworks, and cloud-based data services.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Data Common</a:t>
            </a:r>
            <a:endParaRPr lang="en-US" sz="1600" b="1" dirty="0"/>
          </a:p>
        </p:txBody>
      </p:sp>
      <p:sp>
        <p:nvSpPr>
          <p:cNvPr id="8" name="Rectangle 7"/>
          <p:cNvSpPr/>
          <p:nvPr/>
        </p:nvSpPr>
        <p:spPr>
          <a:xfrm>
            <a:off x="2286000" y="1582341"/>
            <a:ext cx="457200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 smtClean="0"/>
              <a:t>Spring Data Commons</a:t>
            </a:r>
          </a:p>
          <a:p>
            <a:endParaRPr lang="en-US" dirty="0" smtClean="0"/>
          </a:p>
          <a:p>
            <a:r>
              <a:rPr lang="en-US" dirty="0" smtClean="0"/>
              <a:t>Spring Data Commons provides all the common abstractions that enable you to connect with different data stores.</a:t>
            </a:r>
          </a:p>
          <a:p>
            <a:r>
              <a:rPr lang="en-US" dirty="0" smtClean="0"/>
              <a:t>Crud Repository</a:t>
            </a:r>
          </a:p>
          <a:p>
            <a:endParaRPr lang="en-US" dirty="0" smtClean="0"/>
          </a:p>
          <a:p>
            <a:r>
              <a:rPr lang="en-US" dirty="0" smtClean="0"/>
              <a:t>The key interface in Spring Data Commons is </a:t>
            </a:r>
            <a:r>
              <a:rPr lang="en-US" b="1" dirty="0" err="1" smtClean="0"/>
              <a:t>CrudRepository</a:t>
            </a:r>
            <a:r>
              <a:rPr lang="en-US" dirty="0" smtClean="0"/>
              <a:t>. It provides generic CRUD operations irrespective of the underlying data store. It extends Repository which is the base class for all the repositories providing access to data stores.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Data</a:t>
            </a:r>
            <a:endParaRPr lang="en-US" sz="1600" b="1" dirty="0"/>
          </a:p>
        </p:txBody>
      </p:sp>
      <p:sp>
        <p:nvSpPr>
          <p:cNvPr id="7" name="Rectangle 6"/>
          <p:cNvSpPr/>
          <p:nvPr/>
        </p:nvSpPr>
        <p:spPr>
          <a:xfrm>
            <a:off x="2286000" y="1720840"/>
            <a:ext cx="457200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r>
              <a:rPr lang="en-US" b="1" dirty="0" smtClean="0"/>
              <a:t>Spring Data Implementations</a:t>
            </a:r>
          </a:p>
          <a:p>
            <a:endParaRPr lang="en-US" dirty="0" smtClean="0"/>
          </a:p>
          <a:p>
            <a:r>
              <a:rPr lang="en-US" dirty="0" smtClean="0"/>
              <a:t>There are Spring Data Modules specific to the data store you would want to use.</a:t>
            </a:r>
          </a:p>
          <a:p>
            <a:r>
              <a:rPr lang="en-US" b="1" dirty="0" smtClean="0"/>
              <a:t>Spring Data JPA</a:t>
            </a:r>
            <a:r>
              <a:rPr lang="en-US" dirty="0" smtClean="0"/>
              <a:t> - Connect to relational databases using ORM frameworks.</a:t>
            </a:r>
          </a:p>
          <a:p>
            <a:r>
              <a:rPr lang="en-US" b="1" dirty="0" smtClean="0"/>
              <a:t>Spring Data </a:t>
            </a:r>
            <a:r>
              <a:rPr lang="en-US" b="1" dirty="0" err="1" smtClean="0"/>
              <a:t>MongoDB</a:t>
            </a:r>
            <a:r>
              <a:rPr lang="en-US" dirty="0" smtClean="0"/>
              <a:t> - Repositories for </a:t>
            </a:r>
            <a:r>
              <a:rPr lang="en-US" dirty="0" err="1" smtClean="0"/>
              <a:t>MongoDB</a:t>
            </a:r>
            <a:r>
              <a:rPr lang="en-US" dirty="0" smtClean="0"/>
              <a:t>.</a:t>
            </a:r>
          </a:p>
          <a:p>
            <a:r>
              <a:rPr lang="en-US" dirty="0" smtClean="0"/>
              <a:t> </a:t>
            </a:r>
            <a:r>
              <a:rPr lang="en-US" b="1" dirty="0" smtClean="0"/>
              <a:t>Spring Data REST</a:t>
            </a:r>
            <a:r>
              <a:rPr lang="en-US" dirty="0" smtClean="0"/>
              <a:t> - Exposes HATEOAS </a:t>
            </a:r>
            <a:r>
              <a:rPr lang="en-US" dirty="0" err="1" smtClean="0"/>
              <a:t>RESTful</a:t>
            </a:r>
            <a:r>
              <a:rPr lang="en-US" dirty="0" smtClean="0"/>
              <a:t> resources around Spring Data repositories.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  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0" y="495300"/>
            <a:ext cx="3657600" cy="338554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b="1" dirty="0" smtClean="0"/>
              <a:t>Spring Data</a:t>
            </a:r>
            <a:endParaRPr lang="en-US" sz="1600" b="1" dirty="0"/>
          </a:p>
        </p:txBody>
      </p:sp>
      <p:sp>
        <p:nvSpPr>
          <p:cNvPr id="6" name="Rectangle 5"/>
          <p:cNvSpPr/>
          <p:nvPr/>
        </p:nvSpPr>
        <p:spPr>
          <a:xfrm>
            <a:off x="1066800" y="1305342"/>
            <a:ext cx="5791200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/>
              <a:t>Spring Data JPA Dependency:</a:t>
            </a:r>
          </a:p>
          <a:p>
            <a:endParaRPr lang="en-US" dirty="0" smtClean="0"/>
          </a:p>
          <a:p>
            <a:r>
              <a:rPr lang="en-US" dirty="0" smtClean="0"/>
              <a:t>Spring Data JPA helps you to connect to relational databases using ORM frameworks.</a:t>
            </a:r>
          </a:p>
          <a:p>
            <a:endParaRPr lang="en-US" dirty="0" smtClean="0"/>
          </a:p>
          <a:p>
            <a:r>
              <a:rPr lang="en-US" dirty="0" smtClean="0"/>
              <a:t>The dependency is shown below:</a:t>
            </a:r>
          </a:p>
          <a:p>
            <a:endParaRPr lang="en-US" dirty="0" smtClean="0"/>
          </a:p>
          <a:p>
            <a:r>
              <a:rPr lang="en-US" b="1" dirty="0" smtClean="0"/>
              <a:t>&lt;dependencies&gt;</a:t>
            </a:r>
          </a:p>
          <a:p>
            <a:r>
              <a:rPr lang="en-US" b="1" dirty="0" smtClean="0"/>
              <a:t>  &lt;dependency&gt;</a:t>
            </a:r>
          </a:p>
          <a:p>
            <a:r>
              <a:rPr lang="en-US" b="1" dirty="0" smtClean="0"/>
              <a:t>    &lt;</a:t>
            </a:r>
            <a:r>
              <a:rPr lang="en-US" b="1" dirty="0" err="1" smtClean="0"/>
              <a:t>groupId</a:t>
            </a:r>
            <a:r>
              <a:rPr lang="en-US" b="1" dirty="0" smtClean="0"/>
              <a:t>&gt;</a:t>
            </a:r>
            <a:r>
              <a:rPr lang="en-US" b="1" dirty="0" err="1" smtClean="0"/>
              <a:t>org.springframework.data</a:t>
            </a:r>
            <a:r>
              <a:rPr lang="en-US" b="1" dirty="0" smtClean="0"/>
              <a:t>&lt;/</a:t>
            </a:r>
            <a:r>
              <a:rPr lang="en-US" b="1" dirty="0" err="1" smtClean="0"/>
              <a:t>groupId</a:t>
            </a:r>
            <a:r>
              <a:rPr lang="en-US" b="1" dirty="0" smtClean="0"/>
              <a:t>&gt;</a:t>
            </a:r>
          </a:p>
          <a:p>
            <a:r>
              <a:rPr lang="en-US" b="1" dirty="0" smtClean="0"/>
              <a:t>    &lt;</a:t>
            </a:r>
            <a:r>
              <a:rPr lang="en-US" b="1" dirty="0" err="1" smtClean="0"/>
              <a:t>artifactId</a:t>
            </a:r>
            <a:r>
              <a:rPr lang="en-US" b="1" dirty="0" smtClean="0"/>
              <a:t>&gt;spring-data-</a:t>
            </a:r>
            <a:r>
              <a:rPr lang="en-US" b="1" dirty="0" err="1" smtClean="0"/>
              <a:t>jpa</a:t>
            </a:r>
            <a:r>
              <a:rPr lang="en-US" b="1" dirty="0" smtClean="0"/>
              <a:t>&lt;/</a:t>
            </a:r>
            <a:r>
              <a:rPr lang="en-US" b="1" dirty="0" err="1" smtClean="0"/>
              <a:t>artifactId</a:t>
            </a:r>
            <a:r>
              <a:rPr lang="en-US" b="1" dirty="0" smtClean="0"/>
              <a:t>&gt;</a:t>
            </a:r>
          </a:p>
          <a:p>
            <a:r>
              <a:rPr lang="en-US" b="1" dirty="0" smtClean="0"/>
              <a:t>  &lt;/dependency&gt;</a:t>
            </a:r>
          </a:p>
          <a:p>
            <a:r>
              <a:rPr lang="en-US" b="1" dirty="0" smtClean="0"/>
              <a:t>&lt;dependencies&gt;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xmlns="" val="1390303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352800" y="2133600"/>
            <a:ext cx="2143125" cy="2143125"/>
          </a:xfrm>
          <a:prstGeom prst="rect">
            <a:avLst/>
          </a:prstGeom>
          <a:ln>
            <a:noFill/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/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</p:spPr>
        <p:style>
          <a:lnRef idx="2">
            <a:schemeClr val="accent2"/>
          </a:lnRef>
          <a:fillRef idx="1003">
            <a:schemeClr val="dk1"/>
          </a:fillRef>
          <a:effectRef idx="0">
            <a:schemeClr val="accent2"/>
          </a:effectRef>
          <a:fontRef idx="minor">
            <a:schemeClr val="dk1"/>
          </a:fontRef>
        </p:style>
      </p:pic>
    </p:spTree>
    <p:extLst>
      <p:ext uri="{BB962C8B-B14F-4D97-AF65-F5344CB8AC3E}">
        <p14:creationId xmlns:p14="http://schemas.microsoft.com/office/powerpoint/2010/main" xmlns="" val="3414847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Newsprint</Template>
  <TotalTime>389</TotalTime>
  <Words>231</Words>
  <Application>Microsoft Office PowerPoint</Application>
  <PresentationFormat>On-screen Show (4:3)</PresentationFormat>
  <Paragraphs>33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Intellion 2</dc:creator>
  <cp:lastModifiedBy>Muralibabu</cp:lastModifiedBy>
  <cp:revision>131</cp:revision>
  <dcterms:created xsi:type="dcterms:W3CDTF">2006-08-16T00:00:00Z</dcterms:created>
  <dcterms:modified xsi:type="dcterms:W3CDTF">2019-10-31T15:06:13Z</dcterms:modified>
</cp:coreProperties>
</file>