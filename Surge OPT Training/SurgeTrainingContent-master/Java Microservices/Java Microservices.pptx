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56" r:id="rId3"/>
    <p:sldId id="283" r:id="rId4"/>
    <p:sldId id="287" r:id="rId5"/>
    <p:sldId id="288" r:id="rId6"/>
    <p:sldId id="289" r:id="rId7"/>
    <p:sldId id="290" r:id="rId8"/>
    <p:sldId id="291" r:id="rId9"/>
    <p:sldId id="292" r:id="rId10"/>
    <p:sldId id="293" r:id="rId11"/>
    <p:sldId id="294" r:id="rId12"/>
    <p:sldId id="295" r:id="rId13"/>
    <p:sldId id="296" r:id="rId14"/>
    <p:sldId id="29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autoAdjust="0"/>
    <p:restoredTop sz="94660"/>
  </p:normalViewPr>
  <p:slideViewPr>
    <p:cSldViewPr>
      <p:cViewPr varScale="1">
        <p:scale>
          <a:sx n="87" d="100"/>
          <a:sy n="87" d="100"/>
        </p:scale>
        <p:origin x="-157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7/29/2019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7/29/2019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514600"/>
            <a:ext cx="3200400" cy="1428750"/>
          </a:xfrm>
          <a:prstGeom prst="rect">
            <a:avLst/>
          </a:prstGeom>
          <a:ln/>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val="37320897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6096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Service Oriented Architecture - SOA</a:t>
            </a:r>
            <a:endParaRPr lang="en-US" dirty="0"/>
          </a:p>
        </p:txBody>
      </p:sp>
      <p:sp>
        <p:nvSpPr>
          <p:cNvPr id="2" name="Rectangle 1"/>
          <p:cNvSpPr/>
          <p:nvPr/>
        </p:nvSpPr>
        <p:spPr>
          <a:xfrm>
            <a:off x="4234543" y="5029200"/>
            <a:ext cx="4572000" cy="1015663"/>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r>
              <a:rPr lang="en-US" sz="1200" dirty="0"/>
              <a:t>A service-oriented architecture is essentially a collection of services. These services communicate with each other. The communication can involve either simple data passing or it could involve two or more services coordinating some activity. Some means of connecting services to each other is needed.</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00200"/>
            <a:ext cx="3254829" cy="3324080"/>
          </a:xfrm>
          <a:prstGeom prst="rect">
            <a:avLst/>
          </a:prstGeom>
          <a:ln/>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val="17428032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6096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Monolithic Architecture</a:t>
            </a:r>
            <a:endParaRPr lang="en-US" dirty="0"/>
          </a:p>
        </p:txBody>
      </p:sp>
      <p:sp>
        <p:nvSpPr>
          <p:cNvPr id="3" name="Rectangle 2"/>
          <p:cNvSpPr/>
          <p:nvPr/>
        </p:nvSpPr>
        <p:spPr>
          <a:xfrm>
            <a:off x="1066800" y="1295400"/>
            <a:ext cx="6400800" cy="4801314"/>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dirty="0"/>
              <a:t>Monolith means composed all in one piece. </a:t>
            </a:r>
            <a:endParaRPr lang="en-US" dirty="0" smtClean="0"/>
          </a:p>
          <a:p>
            <a:r>
              <a:rPr lang="en-US" dirty="0" smtClean="0"/>
              <a:t>The </a:t>
            </a:r>
            <a:r>
              <a:rPr lang="en-US" b="1" dirty="0"/>
              <a:t>Monolithic</a:t>
            </a:r>
            <a:r>
              <a:rPr lang="en-US" dirty="0"/>
              <a:t> application describes a single-tiered </a:t>
            </a:r>
            <a:r>
              <a:rPr lang="en-US" b="1" dirty="0"/>
              <a:t>software</a:t>
            </a:r>
            <a:r>
              <a:rPr lang="en-US" dirty="0"/>
              <a:t> application in which different components combined into a single program from a single platform. </a:t>
            </a:r>
            <a:endParaRPr lang="en-US" dirty="0" smtClean="0"/>
          </a:p>
          <a:p>
            <a:r>
              <a:rPr lang="en-US" dirty="0" smtClean="0"/>
              <a:t>Components </a:t>
            </a:r>
            <a:r>
              <a:rPr lang="en-US" dirty="0"/>
              <a:t>can be:</a:t>
            </a:r>
          </a:p>
          <a:p>
            <a:pPr lvl="1">
              <a:buFont typeface="Arial"/>
              <a:buChar char="•"/>
            </a:pPr>
            <a:r>
              <a:rPr lang="en-US" dirty="0"/>
              <a:t>Authorization — responsible for authorizing a user</a:t>
            </a:r>
          </a:p>
          <a:p>
            <a:pPr lvl="1">
              <a:buFont typeface="Arial"/>
              <a:buChar char="•"/>
            </a:pPr>
            <a:r>
              <a:rPr lang="en-US" dirty="0"/>
              <a:t>Presentation — responsible for handling HTTP requests and responding with either HTML or JSON/XML (for web services APIs).</a:t>
            </a:r>
          </a:p>
          <a:p>
            <a:pPr lvl="1">
              <a:buFont typeface="Arial"/>
              <a:buChar char="•"/>
            </a:pPr>
            <a:r>
              <a:rPr lang="en-US" dirty="0"/>
              <a:t>Business logic — the application’s business logic.</a:t>
            </a:r>
          </a:p>
          <a:p>
            <a:pPr lvl="1">
              <a:buFont typeface="Arial"/>
              <a:buChar char="•"/>
            </a:pPr>
            <a:r>
              <a:rPr lang="en-US" dirty="0"/>
              <a:t>Database layer — data access objects responsible for accessing the database.</a:t>
            </a:r>
          </a:p>
          <a:p>
            <a:pPr lvl="1">
              <a:buFont typeface="Arial"/>
              <a:buChar char="•"/>
            </a:pPr>
            <a:r>
              <a:rPr lang="en-US" dirty="0"/>
              <a:t>Application integration — integration with other services (e.g. via messaging or REST API). Or integration with any other Data sources.</a:t>
            </a:r>
          </a:p>
          <a:p>
            <a:pPr lvl="1">
              <a:buFont typeface="Arial"/>
              <a:buChar char="•"/>
            </a:pPr>
            <a:r>
              <a:rPr lang="en-US" dirty="0"/>
              <a:t>Notification module — responsible for sending email notifications whenever needed.</a:t>
            </a:r>
          </a:p>
        </p:txBody>
      </p:sp>
    </p:spTree>
    <p:extLst>
      <p:ext uri="{BB962C8B-B14F-4D97-AF65-F5344CB8AC3E}">
        <p14:creationId xmlns:p14="http://schemas.microsoft.com/office/powerpoint/2010/main" val="16694220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Monolithic Architecture</a:t>
            </a:r>
            <a:endParaRPr lang="en-US" dirty="0"/>
          </a:p>
        </p:txBody>
      </p:sp>
      <p:pic>
        <p:nvPicPr>
          <p:cNvPr id="3074" name="Picture 2" descr="Image result for what is monolithic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76400"/>
            <a:ext cx="8382000" cy="3222527"/>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8364107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Monolithic Architecture</a:t>
            </a:r>
            <a:endParaRPr lang="en-US" dirty="0"/>
          </a:p>
        </p:txBody>
      </p:sp>
      <p:sp>
        <p:nvSpPr>
          <p:cNvPr id="2" name="Rectangle 1"/>
          <p:cNvSpPr/>
          <p:nvPr/>
        </p:nvSpPr>
        <p:spPr>
          <a:xfrm>
            <a:off x="914400" y="1443841"/>
            <a:ext cx="6705600" cy="313932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85750" indent="-285750">
              <a:buFont typeface="Arial" panose="020B0604020202020204" pitchFamily="34" charset="0"/>
              <a:buChar char="•"/>
            </a:pPr>
            <a:r>
              <a:rPr lang="en-US" dirty="0"/>
              <a:t>Consider an example of Ecommerce application, that authorizes customer, takes an order, check products inventory, authorize payment and ships ordered products. </a:t>
            </a:r>
            <a:endParaRPr lang="en-US" dirty="0" smtClean="0"/>
          </a:p>
          <a:p>
            <a:pPr marL="285750" indent="-285750">
              <a:buFont typeface="Arial" panose="020B0604020202020204" pitchFamily="34" charset="0"/>
              <a:buChar char="•"/>
            </a:pPr>
            <a:r>
              <a:rPr lang="en-US" dirty="0" smtClean="0"/>
              <a:t>This </a:t>
            </a:r>
            <a:r>
              <a:rPr lang="en-US" dirty="0"/>
              <a:t>application consists of several components including e-Store User interface for customers (Store web view) along with some backend services to check products inventory, authorize and charge payments and shipping orders.</a:t>
            </a:r>
          </a:p>
          <a:p>
            <a:pPr marL="285750" indent="-285750">
              <a:buFont typeface="Arial" panose="020B0604020202020204" pitchFamily="34" charset="0"/>
              <a:buChar char="•"/>
            </a:pPr>
            <a:r>
              <a:rPr lang="en-US" dirty="0"/>
              <a:t>Despite having different components/modules/services, the application is built and deployed as one Application for all platforms (i.e. desktop, mobile and tablet) using RDBMS as a data source.</a:t>
            </a:r>
          </a:p>
        </p:txBody>
      </p:sp>
    </p:spTree>
    <p:extLst>
      <p:ext uri="{BB962C8B-B14F-4D97-AF65-F5344CB8AC3E}">
        <p14:creationId xmlns:p14="http://schemas.microsoft.com/office/powerpoint/2010/main" val="992234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8100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Monolithic Pros And cons</a:t>
            </a:r>
            <a:endParaRPr lang="en-US" dirty="0"/>
          </a:p>
        </p:txBody>
      </p:sp>
      <p:sp>
        <p:nvSpPr>
          <p:cNvPr id="3" name="Rectangle 2"/>
          <p:cNvSpPr/>
          <p:nvPr/>
        </p:nvSpPr>
        <p:spPr>
          <a:xfrm>
            <a:off x="381000" y="1600200"/>
            <a:ext cx="7620000" cy="397031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200" b="1" dirty="0" smtClean="0"/>
              <a:t>Advantages</a:t>
            </a:r>
            <a:r>
              <a:rPr lang="en-US" sz="1200" dirty="0" smtClean="0"/>
              <a:t>:</a:t>
            </a:r>
            <a:endParaRPr lang="en-US" sz="1200" dirty="0"/>
          </a:p>
          <a:p>
            <a:endParaRPr lang="en-US" sz="1200" dirty="0"/>
          </a:p>
          <a:p>
            <a:pPr marL="171450" indent="-171450">
              <a:buFont typeface="Arial" panose="020B0604020202020204" pitchFamily="34" charset="0"/>
              <a:buChar char="•"/>
            </a:pPr>
            <a:r>
              <a:rPr lang="en-US" sz="1200" dirty="0"/>
              <a:t>    Simple to develop — At the beginning of a project it is much easier to go with Monolithic Architecture.</a:t>
            </a:r>
          </a:p>
          <a:p>
            <a:pPr marL="171450" indent="-171450">
              <a:buFont typeface="Arial" panose="020B0604020202020204" pitchFamily="34" charset="0"/>
              <a:buChar char="•"/>
            </a:pPr>
            <a:r>
              <a:rPr lang="en-US" sz="1200" dirty="0"/>
              <a:t>    Simple to test. For example, you can implement end-to-end testing by simply launching the application and testing </a:t>
            </a:r>
            <a:r>
              <a:rPr lang="en-US" sz="1200" dirty="0" smtClean="0"/>
              <a:t>     the </a:t>
            </a:r>
            <a:r>
              <a:rPr lang="en-US" sz="1200" dirty="0"/>
              <a:t>UI with Selenium.</a:t>
            </a:r>
          </a:p>
          <a:p>
            <a:pPr marL="171450" indent="-171450">
              <a:buFont typeface="Arial" panose="020B0604020202020204" pitchFamily="34" charset="0"/>
              <a:buChar char="•"/>
            </a:pPr>
            <a:r>
              <a:rPr lang="en-US" sz="1200" dirty="0"/>
              <a:t>    Simple to deploy. You have to copy the packaged application to a server.</a:t>
            </a:r>
          </a:p>
          <a:p>
            <a:pPr marL="171450" indent="-171450">
              <a:buFont typeface="Arial" panose="020B0604020202020204" pitchFamily="34" charset="0"/>
              <a:buChar char="•"/>
            </a:pPr>
            <a:r>
              <a:rPr lang="en-US" sz="1200" dirty="0"/>
              <a:t>    Simple to scale horizontally by running multiple copies behind a load balancer.</a:t>
            </a:r>
          </a:p>
          <a:p>
            <a:endParaRPr lang="en-US" sz="1200" dirty="0"/>
          </a:p>
          <a:p>
            <a:r>
              <a:rPr lang="en-US" sz="1200" b="1" dirty="0" smtClean="0"/>
              <a:t>Disadvantages</a:t>
            </a:r>
            <a:r>
              <a:rPr lang="en-US" sz="1200" dirty="0" smtClean="0"/>
              <a:t>:</a:t>
            </a:r>
            <a:endParaRPr lang="en-US" sz="1200" dirty="0"/>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 </a:t>
            </a:r>
            <a:r>
              <a:rPr lang="en-US" sz="1200" dirty="0" smtClean="0"/>
              <a:t>Maintenance </a:t>
            </a:r>
            <a:r>
              <a:rPr lang="en-US" sz="1200" dirty="0"/>
              <a:t>— If Application is too large and complex to understand entirely, it is challenging to make changes fast and correctly.</a:t>
            </a:r>
          </a:p>
          <a:p>
            <a:pPr marL="171450" indent="-171450">
              <a:buFont typeface="Arial" panose="020B0604020202020204" pitchFamily="34" charset="0"/>
              <a:buChar char="•"/>
            </a:pPr>
            <a:r>
              <a:rPr lang="en-US" sz="1200" dirty="0"/>
              <a:t> </a:t>
            </a:r>
            <a:r>
              <a:rPr lang="en-US" sz="1200" dirty="0" smtClean="0"/>
              <a:t>The </a:t>
            </a:r>
            <a:r>
              <a:rPr lang="en-US" sz="1200" dirty="0"/>
              <a:t>size of the application can slow down the start-up time.</a:t>
            </a:r>
          </a:p>
          <a:p>
            <a:pPr marL="171450" indent="-171450">
              <a:buFont typeface="Arial" panose="020B0604020202020204" pitchFamily="34" charset="0"/>
              <a:buChar char="•"/>
            </a:pPr>
            <a:r>
              <a:rPr lang="en-US" sz="1200" dirty="0"/>
              <a:t>    You must redeploy the entire application on each update.</a:t>
            </a:r>
          </a:p>
          <a:p>
            <a:pPr marL="171450" indent="-171450">
              <a:buFont typeface="Arial" panose="020B0604020202020204" pitchFamily="34" charset="0"/>
              <a:buChar char="•"/>
            </a:pPr>
            <a:r>
              <a:rPr lang="en-US" sz="1200" dirty="0"/>
              <a:t>    Monolithic applications can also be challenging to scale when different modules have conflicting resource requirements.</a:t>
            </a:r>
          </a:p>
          <a:p>
            <a:pPr marL="171450" indent="-171450">
              <a:buFont typeface="Arial" panose="020B0604020202020204" pitchFamily="34" charset="0"/>
              <a:buChar char="•"/>
            </a:pPr>
            <a:r>
              <a:rPr lang="en-US" sz="1200" dirty="0"/>
              <a:t>    Reliability — Bug in any module (e.g. memory leak) can potentially bring down the entire process. Moreover, since all instances of the application are identical, that bug impact the availability of the entire application</a:t>
            </a:r>
          </a:p>
          <a:p>
            <a:pPr marL="171450" indent="-171450">
              <a:buFont typeface="Arial" panose="020B0604020202020204" pitchFamily="34" charset="0"/>
              <a:buChar char="•"/>
            </a:pPr>
            <a:r>
              <a:rPr lang="en-US" sz="1200" dirty="0"/>
              <a:t>    Regardless of how easy the initial stages may seem, Monolithic applications have difficulty to adopting new and advance technologies. Since changes in languages or frameworks affect an entire application, it requires efforts to thoroughly work with the app details, hence it is costly considering both time and efforts.</a:t>
            </a:r>
          </a:p>
        </p:txBody>
      </p:sp>
    </p:spTree>
    <p:extLst>
      <p:ext uri="{BB962C8B-B14F-4D97-AF65-F5344CB8AC3E}">
        <p14:creationId xmlns:p14="http://schemas.microsoft.com/office/powerpoint/2010/main" val="28400006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Microservices Architecture</a:t>
            </a:r>
            <a:endParaRPr lang="en-US" dirty="0"/>
          </a:p>
        </p:txBody>
      </p:sp>
      <p:sp>
        <p:nvSpPr>
          <p:cNvPr id="2" name="Rectangle 1"/>
          <p:cNvSpPr/>
          <p:nvPr/>
        </p:nvSpPr>
        <p:spPr>
          <a:xfrm>
            <a:off x="402771" y="1430332"/>
            <a:ext cx="4572000" cy="1754326"/>
          </a:xfrm>
          <a:prstGeom prst="rect">
            <a:avLst/>
          </a:prstGeom>
        </p:spPr>
        <p:style>
          <a:lnRef idx="3">
            <a:schemeClr val="lt1"/>
          </a:lnRef>
          <a:fillRef idx="1">
            <a:schemeClr val="accent5"/>
          </a:fillRef>
          <a:effectRef idx="1">
            <a:schemeClr val="accent5"/>
          </a:effectRef>
          <a:fontRef idx="minor">
            <a:schemeClr val="lt1"/>
          </a:fontRef>
        </p:style>
        <p:txBody>
          <a:bodyPr>
            <a:spAutoFit/>
          </a:bodyPr>
          <a:lstStyle/>
          <a:p>
            <a:r>
              <a:rPr lang="en-US" b="1" dirty="0"/>
              <a:t>What Is Microservices?</a:t>
            </a:r>
          </a:p>
          <a:p>
            <a:endParaRPr lang="en-US" b="1" dirty="0"/>
          </a:p>
          <a:p>
            <a:r>
              <a:rPr lang="en-US" b="1" dirty="0"/>
              <a:t>Microservices, </a:t>
            </a:r>
            <a:r>
              <a:rPr lang="en-US" b="1" dirty="0" smtClean="0"/>
              <a:t>is </a:t>
            </a:r>
            <a:r>
              <a:rPr lang="en-US" b="1" dirty="0"/>
              <a:t>an architectural style that structures an application as a collection of small autonomous services, modeled around a business domain. </a:t>
            </a:r>
          </a:p>
        </p:txBody>
      </p:sp>
      <p:pic>
        <p:nvPicPr>
          <p:cNvPr id="4098" name="Picture 2" descr="Microservices-What Is Microservices-Edurek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3162887"/>
            <a:ext cx="359584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0464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Microservices Architecture</a:t>
            </a: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6667500" cy="2562225"/>
          </a:xfrm>
          <a:prstGeom prst="rect">
            <a:avLst/>
          </a:prstGeom>
          <a:ln/>
        </p:spPr>
        <p:style>
          <a:lnRef idx="2">
            <a:schemeClr val="accent3"/>
          </a:lnRef>
          <a:fillRef idx="1">
            <a:schemeClr val="lt1"/>
          </a:fillRef>
          <a:effectRef idx="0">
            <a:schemeClr val="accent3"/>
          </a:effectRef>
          <a:fontRef idx="minor">
            <a:schemeClr val="dk1"/>
          </a:fontRef>
        </p:style>
      </p:pic>
      <p:sp>
        <p:nvSpPr>
          <p:cNvPr id="3" name="Rectangle 2"/>
          <p:cNvSpPr/>
          <p:nvPr/>
        </p:nvSpPr>
        <p:spPr>
          <a:xfrm>
            <a:off x="3714750" y="4191000"/>
            <a:ext cx="4572000" cy="212365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r>
              <a:rPr lang="en-US" sz="1200" dirty="0"/>
              <a:t>Microservices are an approach to application development in which a large application is built as a suite of modular services (i.e. loosely coupled modules/components). Each module supports a specific business goal and uses a simple, well-defined interface to communicate with other sets of services.</a:t>
            </a:r>
          </a:p>
          <a:p>
            <a:endParaRPr lang="en-US" sz="1200" dirty="0"/>
          </a:p>
          <a:p>
            <a:r>
              <a:rPr lang="en-US" sz="1200" dirty="0"/>
              <a:t>Instead of sharing a single database as in Monolithic application, each </a:t>
            </a:r>
            <a:r>
              <a:rPr lang="en-US" sz="1200" dirty="0" err="1"/>
              <a:t>microservice</a:t>
            </a:r>
            <a:r>
              <a:rPr lang="en-US" sz="1200" dirty="0"/>
              <a:t> has its own database. Having a database per service is essential if you want to benefit from </a:t>
            </a:r>
            <a:r>
              <a:rPr lang="en-US" sz="1200" dirty="0" err="1"/>
              <a:t>microservices</a:t>
            </a:r>
            <a:r>
              <a:rPr lang="en-US" sz="1200" dirty="0"/>
              <a:t>, because it ensures loose coupling. Each of the services has its own database. Moreover, a service can use a type of database that is best suited to its needs.</a:t>
            </a:r>
          </a:p>
        </p:txBody>
      </p:sp>
    </p:spTree>
    <p:extLst>
      <p:ext uri="{BB962C8B-B14F-4D97-AF65-F5344CB8AC3E}">
        <p14:creationId xmlns:p14="http://schemas.microsoft.com/office/powerpoint/2010/main" val="10755348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Microservices Architecture</a:t>
            </a: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0"/>
            <a:ext cx="7105650" cy="5191125"/>
          </a:xfrm>
          <a:prstGeom prst="rect">
            <a:avLst/>
          </a:prstGeom>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5503450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Microservices Architecture</a:t>
            </a:r>
            <a:endParaRPr lang="en-US"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49829"/>
            <a:ext cx="6315075" cy="4933950"/>
          </a:xfrm>
          <a:prstGeom prst="rect">
            <a:avLst/>
          </a:prstGeom>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0204746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Microservices Architecture</a:t>
            </a:r>
            <a:endParaRPr lang="en-US" dirty="0"/>
          </a:p>
        </p:txBody>
      </p:sp>
      <p:pic>
        <p:nvPicPr>
          <p:cNvPr id="10242" name="Picture 2" descr="Microservice Architecture-What Is Microservices-Edurek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600199"/>
            <a:ext cx="5874378" cy="2668983"/>
          </a:xfrm>
          <a:prstGeom prst="rect">
            <a:avLst/>
          </a:prstGeom>
        </p:spPr>
        <p:style>
          <a:lnRef idx="2">
            <a:schemeClr val="accent5"/>
          </a:lnRef>
          <a:fillRef idx="1">
            <a:schemeClr val="lt1"/>
          </a:fillRef>
          <a:effectRef idx="0">
            <a:schemeClr val="accent5"/>
          </a:effectRef>
          <a:fontRef idx="minor">
            <a:schemeClr val="dk1"/>
          </a:fontRef>
        </p:style>
      </p:pic>
      <p:sp>
        <p:nvSpPr>
          <p:cNvPr id="2" name="Rectangle 1"/>
          <p:cNvSpPr/>
          <p:nvPr/>
        </p:nvSpPr>
        <p:spPr>
          <a:xfrm>
            <a:off x="1143000" y="4572000"/>
            <a:ext cx="8001000" cy="178510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71450" indent="-171450">
              <a:buFont typeface="Arial" panose="020B0604020202020204" pitchFamily="34" charset="0"/>
              <a:buChar char="•"/>
            </a:pPr>
            <a:r>
              <a:rPr lang="en-US" sz="1100" dirty="0"/>
              <a:t> Different clients from different devices try to use different services like search, build, configure and other management capabilities</a:t>
            </a:r>
          </a:p>
          <a:p>
            <a:pPr marL="171450" indent="-171450">
              <a:buFont typeface="Arial" panose="020B0604020202020204" pitchFamily="34" charset="0"/>
              <a:buChar char="•"/>
            </a:pPr>
            <a:r>
              <a:rPr lang="en-US" sz="1100" dirty="0"/>
              <a:t>    All the services are separated based on their domains and functionalities and  are further allotted to individual </a:t>
            </a:r>
            <a:r>
              <a:rPr lang="en-US" sz="1100" dirty="0" err="1"/>
              <a:t>microservices</a:t>
            </a:r>
            <a:endParaRPr lang="en-US" sz="1100" dirty="0"/>
          </a:p>
          <a:p>
            <a:pPr marL="171450" indent="-171450">
              <a:buFont typeface="Arial" panose="020B0604020202020204" pitchFamily="34" charset="0"/>
              <a:buChar char="•"/>
            </a:pPr>
            <a:r>
              <a:rPr lang="en-US" sz="1100" dirty="0"/>
              <a:t>    These </a:t>
            </a:r>
            <a:r>
              <a:rPr lang="en-US" sz="1100" dirty="0" err="1"/>
              <a:t>microservices</a:t>
            </a:r>
            <a:r>
              <a:rPr lang="en-US" sz="1100" dirty="0"/>
              <a:t> have their own load balancer and execution environment to execute their functionalities &amp; at the same time captures data in their own databases</a:t>
            </a:r>
          </a:p>
          <a:p>
            <a:pPr marL="171450" indent="-171450">
              <a:buFont typeface="Arial" panose="020B0604020202020204" pitchFamily="34" charset="0"/>
              <a:buChar char="•"/>
            </a:pPr>
            <a:r>
              <a:rPr lang="en-US" sz="1100" dirty="0"/>
              <a:t>    All the </a:t>
            </a:r>
            <a:r>
              <a:rPr lang="en-US" sz="1100" dirty="0" err="1"/>
              <a:t>microservices</a:t>
            </a:r>
            <a:r>
              <a:rPr lang="en-US" sz="1100" dirty="0"/>
              <a:t> communicate with each other through a stateless server which is either REST or Message Bus</a:t>
            </a:r>
          </a:p>
          <a:p>
            <a:pPr marL="171450" indent="-171450">
              <a:buFont typeface="Arial" panose="020B0604020202020204" pitchFamily="34" charset="0"/>
              <a:buChar char="•"/>
            </a:pPr>
            <a:r>
              <a:rPr lang="en-US" sz="1100" dirty="0"/>
              <a:t>    Microservices know their path of communication with the help of Service Discovery and perform operational capabilities such as automation, monitoring</a:t>
            </a:r>
          </a:p>
          <a:p>
            <a:pPr marL="171450" indent="-171450">
              <a:buFont typeface="Arial" panose="020B0604020202020204" pitchFamily="34" charset="0"/>
              <a:buChar char="•"/>
            </a:pPr>
            <a:r>
              <a:rPr lang="en-US" sz="1100" dirty="0"/>
              <a:t>    Then all the functionalities performed by </a:t>
            </a:r>
            <a:r>
              <a:rPr lang="en-US" sz="1100" dirty="0" err="1"/>
              <a:t>microservices</a:t>
            </a:r>
            <a:r>
              <a:rPr lang="en-US" sz="1100" dirty="0"/>
              <a:t> are communicated to clients via API Gateway</a:t>
            </a:r>
          </a:p>
          <a:p>
            <a:pPr marL="171450" indent="-171450">
              <a:buFont typeface="Arial" panose="020B0604020202020204" pitchFamily="34" charset="0"/>
              <a:buChar char="•"/>
            </a:pPr>
            <a:r>
              <a:rPr lang="en-US" sz="1100" dirty="0"/>
              <a:t>    All the internal points are connected from the API Gateway. So, anybody who connects to the API Gateway automatically gets connected to the complete system</a:t>
            </a:r>
          </a:p>
        </p:txBody>
      </p:sp>
    </p:spTree>
    <p:extLst>
      <p:ext uri="{BB962C8B-B14F-4D97-AF65-F5344CB8AC3E}">
        <p14:creationId xmlns:p14="http://schemas.microsoft.com/office/powerpoint/2010/main" val="37514599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Microservices Advantages</a:t>
            </a: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71600"/>
            <a:ext cx="5847006" cy="4908550"/>
          </a:xfrm>
          <a:prstGeom prst="rect">
            <a:avLst/>
          </a:prstGeom>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0856391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Microservices Vs Monolithic</a:t>
            </a:r>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19200"/>
            <a:ext cx="5800183" cy="5095875"/>
          </a:xfrm>
          <a:prstGeom prst="rect">
            <a:avLst/>
          </a:prstGeom>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5261961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685800"/>
            <a:ext cx="3810000" cy="36933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dirty="0" smtClean="0"/>
              <a:t>Microservices Vs Monolithic</a:t>
            </a:r>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64771"/>
            <a:ext cx="7010400" cy="5257800"/>
          </a:xfrm>
          <a:prstGeom prst="rect">
            <a:avLst/>
          </a:prstGeom>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0322307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7479</TotalTime>
  <Words>824</Words>
  <Application>Microsoft Office PowerPoint</Application>
  <PresentationFormat>On-screen Show (4:3)</PresentationFormat>
  <Paragraphs>54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Intellion 2</cp:lastModifiedBy>
  <cp:revision>99</cp:revision>
  <dcterms:created xsi:type="dcterms:W3CDTF">2006-08-16T00:00:00Z</dcterms:created>
  <dcterms:modified xsi:type="dcterms:W3CDTF">2019-07-29T09:02:16Z</dcterms:modified>
</cp:coreProperties>
</file>