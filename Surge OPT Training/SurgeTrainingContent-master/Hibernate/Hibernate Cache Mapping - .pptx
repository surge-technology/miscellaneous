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56" r:id="rId3"/>
    <p:sldId id="289" r:id="rId4"/>
    <p:sldId id="290" r:id="rId5"/>
    <p:sldId id="291" r:id="rId6"/>
    <p:sldId id="292" r:id="rId7"/>
    <p:sldId id="294" r:id="rId8"/>
    <p:sldId id="293" r:id="rId9"/>
    <p:sldId id="295" r:id="rId10"/>
    <p:sldId id="296" r:id="rId11"/>
    <p:sldId id="29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4660"/>
  </p:normalViewPr>
  <p:slideViewPr>
    <p:cSldViewPr>
      <p:cViewPr varScale="1">
        <p:scale>
          <a:sx n="87" d="100"/>
          <a:sy n="87" d="100"/>
        </p:scale>
        <p:origin x="-157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result for hibernate cach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371600"/>
            <a:ext cx="4572000" cy="3429001"/>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7320897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Hibernate </a:t>
            </a:r>
            <a:r>
              <a:rPr lang="en-US" b="1" dirty="0" smtClean="0"/>
              <a:t>Cache</a:t>
            </a:r>
            <a:endParaRPr lang="en-US" b="1" dirty="0"/>
          </a:p>
        </p:txBody>
      </p:sp>
      <p:sp>
        <p:nvSpPr>
          <p:cNvPr id="2" name="Rectangle 1"/>
          <p:cNvSpPr/>
          <p:nvPr/>
        </p:nvSpPr>
        <p:spPr>
          <a:xfrm>
            <a:off x="849086" y="1524000"/>
            <a:ext cx="7075714"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t>While working with Hibernate web applications we will face so many problems in its performance due to database traffic. </a:t>
            </a:r>
          </a:p>
          <a:p>
            <a:pPr marL="285750" indent="-285750">
              <a:buFont typeface="Arial" panose="020B0604020202020204" pitchFamily="34" charset="0"/>
              <a:buChar char="•"/>
            </a:pPr>
            <a:r>
              <a:rPr lang="en-US" dirty="0"/>
              <a:t>So some techniques are necessary to maintain its performance. </a:t>
            </a:r>
          </a:p>
          <a:p>
            <a:pPr marL="285750" indent="-285750">
              <a:buFont typeface="Arial" panose="020B0604020202020204" pitchFamily="34" charset="0"/>
              <a:buChar char="•"/>
            </a:pPr>
            <a:r>
              <a:rPr lang="en-US" dirty="0"/>
              <a:t>Hibernate Caching is the best technique to solve this problem. </a:t>
            </a:r>
          </a:p>
          <a:p>
            <a:pPr marL="285750" indent="-285750">
              <a:buFont typeface="Arial" panose="020B0604020202020204" pitchFamily="34" charset="0"/>
              <a:buChar char="•"/>
            </a:pPr>
            <a:r>
              <a:rPr lang="en-US" dirty="0"/>
              <a:t>How we can improve the performance of Hibernate web applications using caching. </a:t>
            </a:r>
          </a:p>
        </p:txBody>
      </p:sp>
    </p:spTree>
    <p:extLst>
      <p:ext uri="{BB962C8B-B14F-4D97-AF65-F5344CB8AC3E}">
        <p14:creationId xmlns:p14="http://schemas.microsoft.com/office/powerpoint/2010/main" val="17428032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Hibernate </a:t>
            </a:r>
            <a:r>
              <a:rPr lang="en-US" b="1" dirty="0" smtClean="0"/>
              <a:t>Cache</a:t>
            </a:r>
            <a:endParaRPr lang="en-US" b="1" dirty="0"/>
          </a:p>
        </p:txBody>
      </p:sp>
      <p:sp>
        <p:nvSpPr>
          <p:cNvPr id="3" name="Rectangle 2"/>
          <p:cNvSpPr/>
          <p:nvPr/>
        </p:nvSpPr>
        <p:spPr>
          <a:xfrm>
            <a:off x="419100" y="1447800"/>
            <a:ext cx="8458200" cy="30469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sz="1600" dirty="0"/>
              <a:t>The performance of Hibernate web applications is improved using caching by optimizing the database applications.</a:t>
            </a:r>
          </a:p>
          <a:p>
            <a:pPr marL="285750" indent="-285750">
              <a:buFont typeface="Arial" panose="020B0604020202020204" pitchFamily="34" charset="0"/>
              <a:buChar char="•"/>
            </a:pPr>
            <a:r>
              <a:rPr lang="en-US" sz="1600" dirty="0"/>
              <a:t>The cache actually stores the data already loaded from the database, so that the traffic between our application and the database will be reduced when the application want to access that data again. </a:t>
            </a:r>
          </a:p>
          <a:p>
            <a:pPr marL="285750" indent="-285750">
              <a:buFont typeface="Arial" panose="020B0604020202020204" pitchFamily="34" charset="0"/>
              <a:buChar char="•"/>
            </a:pPr>
            <a:r>
              <a:rPr lang="en-US" sz="1600" dirty="0"/>
              <a:t>Maximum the application will works with the data in the cache only. </a:t>
            </a:r>
          </a:p>
          <a:p>
            <a:pPr marL="285750" indent="-285750">
              <a:buFont typeface="Arial" panose="020B0604020202020204" pitchFamily="34" charset="0"/>
              <a:buChar char="•"/>
            </a:pPr>
            <a:r>
              <a:rPr lang="en-US" sz="1600" dirty="0"/>
              <a:t>Whenever some another data is needed, the database will be accessed. </a:t>
            </a:r>
          </a:p>
          <a:p>
            <a:pPr marL="285750" indent="-285750">
              <a:buFont typeface="Arial" panose="020B0604020202020204" pitchFamily="34" charset="0"/>
              <a:buChar char="•"/>
            </a:pPr>
            <a:r>
              <a:rPr lang="en-US" sz="1600" dirty="0"/>
              <a:t>Because the time needed to access the database is more when compared with the time needed to access the cache. </a:t>
            </a:r>
          </a:p>
          <a:p>
            <a:pPr marL="285750" indent="-285750">
              <a:buFont typeface="Arial" panose="020B0604020202020204" pitchFamily="34" charset="0"/>
              <a:buChar char="•"/>
            </a:pPr>
            <a:r>
              <a:rPr lang="en-US" sz="1600" dirty="0"/>
              <a:t>So obviously the access time and traffic will be reduced between the application and the database. </a:t>
            </a:r>
          </a:p>
          <a:p>
            <a:pPr marL="285750" indent="-285750">
              <a:buFont typeface="Arial" panose="020B0604020202020204" pitchFamily="34" charset="0"/>
              <a:buChar char="•"/>
            </a:pPr>
            <a:r>
              <a:rPr lang="en-US" sz="1600" dirty="0"/>
              <a:t>Here the cache stores only the data related to current running application.</a:t>
            </a:r>
          </a:p>
        </p:txBody>
      </p:sp>
    </p:spTree>
    <p:extLst>
      <p:ext uri="{BB962C8B-B14F-4D97-AF65-F5344CB8AC3E}">
        <p14:creationId xmlns:p14="http://schemas.microsoft.com/office/powerpoint/2010/main" val="41528068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Cache Types</a:t>
            </a:r>
            <a:endParaRPr lang="en-US" b="1" dirty="0"/>
          </a:p>
        </p:txBody>
      </p:sp>
      <p:sp>
        <p:nvSpPr>
          <p:cNvPr id="3" name="Rectangle 2"/>
          <p:cNvSpPr/>
          <p:nvPr/>
        </p:nvSpPr>
        <p:spPr>
          <a:xfrm>
            <a:off x="805543" y="1415143"/>
            <a:ext cx="5676900"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85750" indent="-285750">
              <a:buFont typeface="Arial" panose="020B0604020202020204" pitchFamily="34" charset="0"/>
              <a:buChar char="•"/>
            </a:pPr>
            <a:r>
              <a:rPr lang="en-US" sz="1600" dirty="0"/>
              <a:t>First-level cache.</a:t>
            </a:r>
          </a:p>
          <a:p>
            <a:pPr marL="285750" indent="-285750">
              <a:buFont typeface="Arial" panose="020B0604020202020204" pitchFamily="34" charset="0"/>
              <a:buChar char="•"/>
            </a:pPr>
            <a:r>
              <a:rPr lang="en-US" sz="1600" dirty="0"/>
              <a:t>Second-level cache.</a:t>
            </a:r>
          </a:p>
        </p:txBody>
      </p:sp>
      <p:sp>
        <p:nvSpPr>
          <p:cNvPr id="2" name="Rectangle 1"/>
          <p:cNvSpPr/>
          <p:nvPr/>
        </p:nvSpPr>
        <p:spPr>
          <a:xfrm>
            <a:off x="2286000" y="2413338"/>
            <a:ext cx="5257800" cy="203132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marL="285750" indent="-285750">
              <a:buFont typeface="Arial" panose="020B0604020202020204" pitchFamily="34" charset="0"/>
              <a:buChar char="•"/>
            </a:pPr>
            <a:r>
              <a:rPr lang="en-US" dirty="0"/>
              <a:t>Fist level cache in hibernate is enabled by default and you do not need to do anything to get this functionality working. </a:t>
            </a:r>
          </a:p>
          <a:p>
            <a:pPr marL="285750" indent="-285750">
              <a:buFont typeface="Arial" panose="020B0604020202020204" pitchFamily="34" charset="0"/>
              <a:buChar char="•"/>
            </a:pPr>
            <a:r>
              <a:rPr lang="en-US" dirty="0"/>
              <a:t>In fact, you can not disable it even forcefully.</a:t>
            </a:r>
          </a:p>
          <a:p>
            <a:pPr marL="285750" indent="-285750">
              <a:buFont typeface="Arial" panose="020B0604020202020204" pitchFamily="34" charset="0"/>
              <a:buChar char="•"/>
            </a:pPr>
            <a:r>
              <a:rPr lang="en-US" dirty="0"/>
              <a:t>Its easy to understand the first level cache if we understand the fact that it is associated with Session object.</a:t>
            </a:r>
          </a:p>
        </p:txBody>
      </p:sp>
    </p:spTree>
    <p:extLst>
      <p:ext uri="{BB962C8B-B14F-4D97-AF65-F5344CB8AC3E}">
        <p14:creationId xmlns:p14="http://schemas.microsoft.com/office/powerpoint/2010/main" val="32835913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First Level Cache</a:t>
            </a:r>
            <a:endParaRPr lang="en-US" b="1" dirty="0"/>
          </a:p>
        </p:txBody>
      </p:sp>
      <p:sp>
        <p:nvSpPr>
          <p:cNvPr id="5" name="Rectangle 4"/>
          <p:cNvSpPr/>
          <p:nvPr/>
        </p:nvSpPr>
        <p:spPr>
          <a:xfrm>
            <a:off x="838200" y="1845830"/>
            <a:ext cx="7467600" cy="2677656"/>
          </a:xfrm>
          <a:prstGeom prst="rect">
            <a:avLst/>
          </a:prstGeom>
          <a:solidFill>
            <a:schemeClr val="bg2"/>
          </a:solidFill>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sz="1400" dirty="0"/>
              <a:t>First level cache is associated with “session” object and other session objects in application can not see it.</a:t>
            </a:r>
          </a:p>
          <a:p>
            <a:pPr marL="285750" indent="-285750">
              <a:buFont typeface="Arial" panose="020B0604020202020204" pitchFamily="34" charset="0"/>
              <a:buChar char="•"/>
            </a:pPr>
            <a:r>
              <a:rPr lang="en-US" sz="1400" dirty="0"/>
              <a:t>The scope of cache objects is of session. Once session is closed, cached objects are gone forever.</a:t>
            </a:r>
          </a:p>
          <a:p>
            <a:pPr marL="285750" indent="-285750">
              <a:buFont typeface="Arial" panose="020B0604020202020204" pitchFamily="34" charset="0"/>
              <a:buChar char="•"/>
            </a:pPr>
            <a:r>
              <a:rPr lang="en-US" sz="1400" dirty="0"/>
              <a:t>First level cache is enabled by default and you can not disable it.</a:t>
            </a:r>
          </a:p>
          <a:p>
            <a:pPr marL="285750" indent="-285750">
              <a:buFont typeface="Arial" panose="020B0604020202020204" pitchFamily="34" charset="0"/>
              <a:buChar char="•"/>
            </a:pPr>
            <a:r>
              <a:rPr lang="en-US" sz="1400" dirty="0"/>
              <a:t>When we query an entity first time, it is retrieved from database and stored in first level cache associated with hibernate session.</a:t>
            </a:r>
          </a:p>
          <a:p>
            <a:pPr marL="285750" indent="-285750">
              <a:buFont typeface="Arial" panose="020B0604020202020204" pitchFamily="34" charset="0"/>
              <a:buChar char="•"/>
            </a:pPr>
            <a:r>
              <a:rPr lang="en-US" sz="1400" dirty="0"/>
              <a:t>If we query same object again with same session object, it will be loaded from cache and no </a:t>
            </a:r>
            <a:r>
              <a:rPr lang="en-US" sz="1400" dirty="0" err="1"/>
              <a:t>sql</a:t>
            </a:r>
            <a:r>
              <a:rPr lang="en-US" sz="1400" dirty="0"/>
              <a:t> query will be executed.</a:t>
            </a:r>
          </a:p>
          <a:p>
            <a:pPr marL="285750" indent="-285750">
              <a:buFont typeface="Arial" panose="020B0604020202020204" pitchFamily="34" charset="0"/>
              <a:buChar char="•"/>
            </a:pPr>
            <a:r>
              <a:rPr lang="en-US" sz="1400" dirty="0"/>
              <a:t>The loaded entity can be removed from session using evict() method. The next loading of this entity will again make a database call if it has been removed using evict() method.</a:t>
            </a:r>
          </a:p>
          <a:p>
            <a:pPr marL="285750" indent="-285750">
              <a:buFont typeface="Arial" panose="020B0604020202020204" pitchFamily="34" charset="0"/>
              <a:buChar char="•"/>
            </a:pPr>
            <a:r>
              <a:rPr lang="en-US" sz="1400" dirty="0"/>
              <a:t>The whole session cache can be removed using clear() method. It will remove all the entities stored in cache.</a:t>
            </a:r>
          </a:p>
        </p:txBody>
      </p:sp>
    </p:spTree>
    <p:extLst>
      <p:ext uri="{BB962C8B-B14F-4D97-AF65-F5344CB8AC3E}">
        <p14:creationId xmlns:p14="http://schemas.microsoft.com/office/powerpoint/2010/main" val="22284915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First Level Cache</a:t>
            </a:r>
            <a:endParaRPr lang="en-US"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5621337" cy="3162300"/>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1766017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First Level Cache</a:t>
            </a:r>
            <a:endParaRPr lang="en-US" b="1" dirty="0"/>
          </a:p>
        </p:txBody>
      </p:sp>
      <p:sp>
        <p:nvSpPr>
          <p:cNvPr id="2" name="Rectangle 1"/>
          <p:cNvSpPr/>
          <p:nvPr/>
        </p:nvSpPr>
        <p:spPr>
          <a:xfrm>
            <a:off x="838200" y="1997838"/>
            <a:ext cx="6553200" cy="2031325"/>
          </a:xfrm>
          <a:prstGeom prst="rect">
            <a:avLst/>
          </a:prstGeom>
          <a:solidFill>
            <a:schemeClr val="bg2">
              <a:lumMod val="9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t>Second level cache is created in session factory scope and is available to be used in all sessions which are created using that particular session factory.</a:t>
            </a:r>
          </a:p>
          <a:p>
            <a:pPr marL="285750" indent="-285750">
              <a:buFont typeface="Arial" panose="020B0604020202020204" pitchFamily="34" charset="0"/>
              <a:buChar char="•"/>
            </a:pPr>
            <a:r>
              <a:rPr lang="en-US" dirty="0"/>
              <a:t>Once session factory is closed, all cache associated with it die and cache manager also closed down.</a:t>
            </a:r>
          </a:p>
          <a:p>
            <a:pPr marL="285750" indent="-285750">
              <a:buFont typeface="Arial" panose="020B0604020202020204" pitchFamily="34" charset="0"/>
              <a:buChar char="•"/>
            </a:pPr>
            <a:r>
              <a:rPr lang="en-US" dirty="0"/>
              <a:t>Further, It also means that if you have two instances of session factory (normally no application does that)</a:t>
            </a:r>
          </a:p>
        </p:txBody>
      </p:sp>
    </p:spTree>
    <p:extLst>
      <p:ext uri="{BB962C8B-B14F-4D97-AF65-F5344CB8AC3E}">
        <p14:creationId xmlns:p14="http://schemas.microsoft.com/office/powerpoint/2010/main" val="17227545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Second</a:t>
            </a:r>
            <a:r>
              <a:rPr lang="en-US" b="1" dirty="0" smtClean="0"/>
              <a:t> Level Cache</a:t>
            </a:r>
            <a:endParaRPr lang="en-US"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7362"/>
            <a:ext cx="5781675" cy="3343275"/>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5257018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8342" y="588508"/>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Hibernate Mapping – One To One</a:t>
            </a:r>
            <a:endParaRPr lang="en-US"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486" y="985837"/>
            <a:ext cx="3371850" cy="1076325"/>
          </a:xfrm>
          <a:prstGeom prst="rect">
            <a:avLst/>
          </a:prstGeom>
          <a:ln/>
        </p:spPr>
        <p:style>
          <a:lnRef idx="2">
            <a:schemeClr val="accent3"/>
          </a:lnRef>
          <a:fillRef idx="1">
            <a:schemeClr val="lt1"/>
          </a:fillRef>
          <a:effectRef idx="0">
            <a:schemeClr val="accent3"/>
          </a:effectRef>
          <a:fontRef idx="minor">
            <a:schemeClr val="dk1"/>
          </a:fontRef>
        </p:style>
      </p:pic>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42" y="1523999"/>
            <a:ext cx="4680857" cy="2281260"/>
          </a:xfrm>
          <a:prstGeom prst="rect">
            <a:avLst/>
          </a:prstGeom>
          <a:ln/>
        </p:spPr>
        <p:style>
          <a:lnRef idx="2">
            <a:schemeClr val="accent3"/>
          </a:lnRef>
          <a:fillRef idx="1">
            <a:schemeClr val="lt1"/>
          </a:fillRef>
          <a:effectRef idx="0">
            <a:schemeClr val="accent3"/>
          </a:effectRef>
          <a:fontRef idx="minor">
            <a:schemeClr val="dk1"/>
          </a:fontRef>
        </p:style>
      </p:pic>
      <p:pic>
        <p:nvPicPr>
          <p:cNvPr id="41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962400"/>
            <a:ext cx="4595812" cy="2765445"/>
          </a:xfrm>
          <a:prstGeom prst="rect">
            <a:avLst/>
          </a:prstGeom>
          <a:ln/>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19659960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err="1" smtClean="0"/>
              <a:t>Hibertnate</a:t>
            </a:r>
            <a:r>
              <a:rPr lang="en-US" b="1" dirty="0" smtClean="0"/>
              <a:t> Mapping – One To One</a:t>
            </a:r>
            <a:endParaRPr lang="en-US"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14513"/>
            <a:ext cx="3371850" cy="1076325"/>
          </a:xfrm>
          <a:prstGeom prst="rect">
            <a:avLst/>
          </a:prstGeom>
          <a:ln/>
        </p:spPr>
        <p:style>
          <a:lnRef idx="2">
            <a:schemeClr val="accent3"/>
          </a:lnRef>
          <a:fillRef idx="1">
            <a:schemeClr val="lt1"/>
          </a:fillRef>
          <a:effectRef idx="0">
            <a:schemeClr val="accent3"/>
          </a:effectRef>
          <a:fontRef idx="minor">
            <a:schemeClr val="dk1"/>
          </a:fontRef>
        </p:style>
      </p:pic>
      <p:sp>
        <p:nvSpPr>
          <p:cNvPr id="2" name="Rectangle 1"/>
          <p:cNvSpPr/>
          <p:nvPr/>
        </p:nvSpPr>
        <p:spPr>
          <a:xfrm>
            <a:off x="4114800" y="3200400"/>
            <a:ext cx="4800600" cy="92333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a:t>    @</a:t>
            </a:r>
            <a:r>
              <a:rPr lang="en-US" dirty="0" err="1"/>
              <a:t>OneToOne</a:t>
            </a:r>
            <a:endParaRPr lang="en-US" dirty="0"/>
          </a:p>
          <a:p>
            <a:r>
              <a:rPr lang="en-US" dirty="0"/>
              <a:t>    @</a:t>
            </a:r>
            <a:r>
              <a:rPr lang="en-US" dirty="0" err="1"/>
              <a:t>JoinColumn</a:t>
            </a:r>
            <a:r>
              <a:rPr lang="en-US" dirty="0"/>
              <a:t>(name="</a:t>
            </a:r>
            <a:r>
              <a:rPr lang="en-US" dirty="0" err="1"/>
              <a:t>Capital_Name</a:t>
            </a:r>
            <a:r>
              <a:rPr lang="en-US" dirty="0"/>
              <a:t>")</a:t>
            </a:r>
          </a:p>
          <a:p>
            <a:r>
              <a:rPr lang="en-US" dirty="0"/>
              <a:t>    Capital </a:t>
            </a:r>
            <a:r>
              <a:rPr lang="en-US" dirty="0" err="1"/>
              <a:t>capital</a:t>
            </a:r>
            <a:r>
              <a:rPr lang="en-US" dirty="0"/>
              <a:t>;</a:t>
            </a:r>
          </a:p>
        </p:txBody>
      </p:sp>
    </p:spTree>
    <p:extLst>
      <p:ext uri="{BB962C8B-B14F-4D97-AF65-F5344CB8AC3E}">
        <p14:creationId xmlns:p14="http://schemas.microsoft.com/office/powerpoint/2010/main" val="19755019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2732" y="631371"/>
            <a:ext cx="3810000" cy="381000"/>
          </a:xfrm>
          <a:prstGeom prst="rect">
            <a:avLst/>
          </a:prstGeom>
          <a:solidFill>
            <a:schemeClr val="accent5">
              <a:lumMod val="50000"/>
            </a:schemeClr>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Hibernate Mapping – One To Many</a:t>
            </a:r>
            <a:endParaRPr lang="en-US" b="1" dirty="0"/>
          </a:p>
        </p:txBody>
      </p:sp>
      <p:pic>
        <p:nvPicPr>
          <p:cNvPr id="6146" name="Picture 2" descr="One to Many Mapping, One to Many Mapping in Hibernate, Hibernate One to Many Mapping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1300163"/>
            <a:ext cx="4286250" cy="2495551"/>
          </a:xfrm>
          <a:prstGeom prst="rect">
            <a:avLst/>
          </a:prstGeom>
        </p:spPr>
        <p:style>
          <a:lnRef idx="2">
            <a:schemeClr val="accent1"/>
          </a:lnRef>
          <a:fillRef idx="1">
            <a:schemeClr val="lt1"/>
          </a:fillRef>
          <a:effectRef idx="0">
            <a:schemeClr val="accent1"/>
          </a:effectRef>
          <a:fontRef idx="minor">
            <a:schemeClr val="dk1"/>
          </a:fontRef>
        </p:style>
      </p:pic>
      <p:sp>
        <p:nvSpPr>
          <p:cNvPr id="3" name="Rectangle 2"/>
          <p:cNvSpPr/>
          <p:nvPr/>
        </p:nvSpPr>
        <p:spPr>
          <a:xfrm>
            <a:off x="3048000" y="6400800"/>
            <a:ext cx="6019800" cy="253916"/>
          </a:xfrm>
          <a:prstGeom prst="rect">
            <a:avLst/>
          </a:prstGeom>
        </p:spPr>
        <p:txBody>
          <a:bodyPr wrap="square">
            <a:spAutoFit/>
          </a:bodyPr>
          <a:lstStyle/>
          <a:p>
            <a:r>
              <a:rPr lang="en-US" sz="1050" dirty="0"/>
              <a:t>https://www.journaldev.com/2924/hibernate-one-to-many-mapping-annotation</a:t>
            </a:r>
          </a:p>
        </p:txBody>
      </p:sp>
    </p:spTree>
    <p:extLst>
      <p:ext uri="{BB962C8B-B14F-4D97-AF65-F5344CB8AC3E}">
        <p14:creationId xmlns:p14="http://schemas.microsoft.com/office/powerpoint/2010/main" val="460166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1668</TotalTime>
  <Words>510</Words>
  <Application>Microsoft Office PowerPoint</Application>
  <PresentationFormat>On-screen Show (4:3)</PresentationFormat>
  <Paragraphs>40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Intellion 2</cp:lastModifiedBy>
  <cp:revision>107</cp:revision>
  <dcterms:created xsi:type="dcterms:W3CDTF">2006-08-16T00:00:00Z</dcterms:created>
  <dcterms:modified xsi:type="dcterms:W3CDTF">2019-07-17T10:49:01Z</dcterms:modified>
</cp:coreProperties>
</file>