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8" r:id="rId2"/>
    <p:sldId id="256" r:id="rId3"/>
    <p:sldId id="290" r:id="rId4"/>
    <p:sldId id="289" r:id="rId5"/>
    <p:sldId id="291" r:id="rId6"/>
    <p:sldId id="292" r:id="rId7"/>
    <p:sldId id="288"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25" autoAdjust="0"/>
    <p:restoredTop sz="94660"/>
  </p:normalViewPr>
  <p:slideViewPr>
    <p:cSldViewPr>
      <p:cViewPr varScale="1">
        <p:scale>
          <a:sx n="87" d="100"/>
          <a:sy n="87" d="100"/>
        </p:scale>
        <p:origin x="-1572"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20053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59570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7776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7569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7/11/2019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78967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7/11/2019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30089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7/11/2019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77680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25844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52017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24957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99500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7/11/2019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618247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Image result for hibernate transaction management using annotation examp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2362200"/>
            <a:ext cx="2847975"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20897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66800" y="609600"/>
            <a:ext cx="3810000" cy="381000"/>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dirty="0" smtClean="0"/>
              <a:t>Hibernate Transaction</a:t>
            </a:r>
            <a:endParaRPr lang="en-US" dirty="0"/>
          </a:p>
        </p:txBody>
      </p:sp>
      <p:pic>
        <p:nvPicPr>
          <p:cNvPr id="2052" name="Picture 4" descr="transaction manage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643743"/>
            <a:ext cx="5457825" cy="2714626"/>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17428032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66800" y="609600"/>
            <a:ext cx="3810000" cy="381000"/>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dirty="0" smtClean="0"/>
              <a:t>Hibernate Transaction</a:t>
            </a:r>
            <a:endParaRPr lang="en-US" dirty="0"/>
          </a:p>
        </p:txBody>
      </p:sp>
      <p:sp>
        <p:nvSpPr>
          <p:cNvPr id="2" name="Rectangle 1"/>
          <p:cNvSpPr/>
          <p:nvPr/>
        </p:nvSpPr>
        <p:spPr>
          <a:xfrm>
            <a:off x="1066800" y="1371600"/>
            <a:ext cx="5638800"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A </a:t>
            </a:r>
            <a:r>
              <a:rPr lang="en-US" u="sng" dirty="0"/>
              <a:t>Transaction</a:t>
            </a:r>
            <a:r>
              <a:rPr lang="en-US" dirty="0"/>
              <a:t> is a unit of work in which all the operations must be executed or none of them. To understand the importance of transaction, think of an example which applies on all of us i.e. Transferring Amount from one account to another as this operation includes the below two steps:</a:t>
            </a:r>
          </a:p>
          <a:p>
            <a:r>
              <a:rPr lang="en-US" dirty="0"/>
              <a:t>Deduct the balance from the sender’s bank account</a:t>
            </a:r>
          </a:p>
          <a:p>
            <a:r>
              <a:rPr lang="en-US" dirty="0"/>
              <a:t>Add the amount to the receiver’s bank account</a:t>
            </a:r>
          </a:p>
        </p:txBody>
      </p:sp>
      <p:sp>
        <p:nvSpPr>
          <p:cNvPr id="3" name="Rectangle 2"/>
          <p:cNvSpPr/>
          <p:nvPr/>
        </p:nvSpPr>
        <p:spPr>
          <a:xfrm>
            <a:off x="2351314" y="4419600"/>
            <a:ext cx="5791200" cy="95410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400" dirty="0"/>
              <a:t>Now think a situation where the amount is deducted from sender’s account but is not delivered to receiver’s account due to some errors. Such issues are managed by the transaction management where both steps are performed in a single unit. In the case of a failure, the transaction should be roll-backed</a:t>
            </a:r>
          </a:p>
        </p:txBody>
      </p:sp>
    </p:spTree>
    <p:extLst>
      <p:ext uri="{BB962C8B-B14F-4D97-AF65-F5344CB8AC3E}">
        <p14:creationId xmlns:p14="http://schemas.microsoft.com/office/powerpoint/2010/main" val="19053623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66800" y="609600"/>
            <a:ext cx="3810000" cy="381000"/>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dirty="0" smtClean="0"/>
              <a:t>Hibernate Transaction</a:t>
            </a:r>
            <a:endParaRPr lang="en-US" dirty="0"/>
          </a:p>
        </p:txBody>
      </p:sp>
      <p:sp>
        <p:nvSpPr>
          <p:cNvPr id="2" name="Rectangle 1"/>
          <p:cNvSpPr/>
          <p:nvPr/>
        </p:nvSpPr>
        <p:spPr>
          <a:xfrm>
            <a:off x="1034142" y="1524000"/>
            <a:ext cx="7424057" cy="313932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The methods of Transaction interface are as follows:</a:t>
            </a:r>
          </a:p>
          <a:p>
            <a:r>
              <a:rPr lang="en-US" b="1" dirty="0"/>
              <a:t>void begin()</a:t>
            </a:r>
            <a:r>
              <a:rPr lang="en-US" dirty="0"/>
              <a:t> starts a new transaction.</a:t>
            </a:r>
          </a:p>
          <a:p>
            <a:r>
              <a:rPr lang="en-US" b="1" dirty="0"/>
              <a:t>void commit()</a:t>
            </a:r>
            <a:r>
              <a:rPr lang="en-US" dirty="0"/>
              <a:t> ends the unit of work unless we are in </a:t>
            </a:r>
            <a:r>
              <a:rPr lang="en-US" dirty="0" err="1"/>
              <a:t>FlushMode.NEVER</a:t>
            </a:r>
            <a:r>
              <a:rPr lang="en-US" dirty="0"/>
              <a:t>.</a:t>
            </a:r>
          </a:p>
          <a:p>
            <a:r>
              <a:rPr lang="en-US" b="1" dirty="0"/>
              <a:t>void rollback()</a:t>
            </a:r>
            <a:r>
              <a:rPr lang="en-US" dirty="0"/>
              <a:t> forces this transaction to rollback.</a:t>
            </a:r>
          </a:p>
          <a:p>
            <a:r>
              <a:rPr lang="en-US" b="1" dirty="0"/>
              <a:t>void </a:t>
            </a:r>
            <a:r>
              <a:rPr lang="en-US" b="1" dirty="0" err="1"/>
              <a:t>setTimeout</a:t>
            </a:r>
            <a:r>
              <a:rPr lang="en-US" b="1" dirty="0"/>
              <a:t>(</a:t>
            </a:r>
            <a:r>
              <a:rPr lang="en-US" b="1" dirty="0" err="1"/>
              <a:t>int</a:t>
            </a:r>
            <a:r>
              <a:rPr lang="en-US" b="1" dirty="0"/>
              <a:t> seconds)</a:t>
            </a:r>
            <a:r>
              <a:rPr lang="en-US" dirty="0"/>
              <a:t> it sets a transaction timeout for any transaction started by a subsequent call to begin on this instance.</a:t>
            </a:r>
          </a:p>
          <a:p>
            <a:r>
              <a:rPr lang="en-US" b="1" dirty="0" err="1"/>
              <a:t>boolean</a:t>
            </a:r>
            <a:r>
              <a:rPr lang="en-US" b="1" dirty="0"/>
              <a:t> </a:t>
            </a:r>
            <a:r>
              <a:rPr lang="en-US" b="1" dirty="0" err="1"/>
              <a:t>isAlive</a:t>
            </a:r>
            <a:r>
              <a:rPr lang="en-US" b="1" dirty="0"/>
              <a:t>()</a:t>
            </a:r>
            <a:r>
              <a:rPr lang="en-US" dirty="0"/>
              <a:t> checks if the transaction is still alive.</a:t>
            </a:r>
          </a:p>
          <a:p>
            <a:r>
              <a:rPr lang="en-US" b="1" dirty="0"/>
              <a:t>void </a:t>
            </a:r>
            <a:r>
              <a:rPr lang="en-US" b="1" dirty="0" err="1"/>
              <a:t>registerSynchronization</a:t>
            </a:r>
            <a:r>
              <a:rPr lang="en-US" b="1" dirty="0"/>
              <a:t>(Synchronization s)</a:t>
            </a:r>
            <a:r>
              <a:rPr lang="en-US" dirty="0"/>
              <a:t> registers a user synchronization callback for this transaction.</a:t>
            </a:r>
          </a:p>
          <a:p>
            <a:r>
              <a:rPr lang="en-US" b="1" dirty="0" err="1"/>
              <a:t>boolean</a:t>
            </a:r>
            <a:r>
              <a:rPr lang="en-US" b="1" dirty="0"/>
              <a:t> </a:t>
            </a:r>
            <a:r>
              <a:rPr lang="en-US" b="1" dirty="0" err="1"/>
              <a:t>wasCommited</a:t>
            </a:r>
            <a:r>
              <a:rPr lang="en-US" b="1" dirty="0"/>
              <a:t>()</a:t>
            </a:r>
            <a:r>
              <a:rPr lang="en-US" dirty="0"/>
              <a:t> checks if the transaction is </a:t>
            </a:r>
            <a:r>
              <a:rPr lang="en-US" dirty="0" err="1"/>
              <a:t>commited</a:t>
            </a:r>
            <a:r>
              <a:rPr lang="en-US" dirty="0"/>
              <a:t> successfully.</a:t>
            </a:r>
          </a:p>
          <a:p>
            <a:r>
              <a:rPr lang="en-US" b="1" dirty="0" err="1"/>
              <a:t>boolean</a:t>
            </a:r>
            <a:r>
              <a:rPr lang="en-US" b="1" dirty="0"/>
              <a:t> </a:t>
            </a:r>
            <a:r>
              <a:rPr lang="en-US" b="1" dirty="0" err="1"/>
              <a:t>wasRolledBack</a:t>
            </a:r>
            <a:r>
              <a:rPr lang="en-US" b="1" dirty="0"/>
              <a:t>()</a:t>
            </a:r>
            <a:r>
              <a:rPr lang="en-US" dirty="0"/>
              <a:t> checks if the transaction is </a:t>
            </a:r>
            <a:r>
              <a:rPr lang="en-US" dirty="0" err="1"/>
              <a:t>rolledback</a:t>
            </a:r>
            <a:r>
              <a:rPr lang="en-US" dirty="0"/>
              <a:t> successfully.</a:t>
            </a:r>
          </a:p>
        </p:txBody>
      </p:sp>
    </p:spTree>
    <p:extLst>
      <p:ext uri="{BB962C8B-B14F-4D97-AF65-F5344CB8AC3E}">
        <p14:creationId xmlns:p14="http://schemas.microsoft.com/office/powerpoint/2010/main" val="13664399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66800" y="609600"/>
            <a:ext cx="3810000" cy="381000"/>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dirty="0" smtClean="0"/>
              <a:t>Hibernate Transaction</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75" y="2224088"/>
            <a:ext cx="7181850" cy="2409825"/>
          </a:xfrm>
          <a:prstGeom prst="rect">
            <a:avLst/>
          </a:prstGeom>
          <a:ln/>
        </p:spPr>
        <p:style>
          <a:lnRef idx="2">
            <a:schemeClr val="accent3"/>
          </a:lnRef>
          <a:fillRef idx="1">
            <a:schemeClr val="lt1"/>
          </a:fillRef>
          <a:effectRef idx="0">
            <a:schemeClr val="accent3"/>
          </a:effectRef>
          <a:fontRef idx="minor">
            <a:schemeClr val="dk1"/>
          </a:fontRef>
        </p:style>
      </p:pic>
    </p:spTree>
    <p:extLst>
      <p:ext uri="{BB962C8B-B14F-4D97-AF65-F5344CB8AC3E}">
        <p14:creationId xmlns:p14="http://schemas.microsoft.com/office/powerpoint/2010/main" val="26728414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66800" y="609600"/>
            <a:ext cx="3810000" cy="381000"/>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dirty="0" smtClean="0"/>
              <a:t>Hibernate Transaction</a:t>
            </a:r>
            <a:endParaRPr lang="en-US" dirty="0"/>
          </a:p>
        </p:txBody>
      </p:sp>
      <p:sp>
        <p:nvSpPr>
          <p:cNvPr id="2" name="Rectangle 1"/>
          <p:cNvSpPr/>
          <p:nvPr/>
        </p:nvSpPr>
        <p:spPr>
          <a:xfrm>
            <a:off x="1066800" y="1582340"/>
            <a:ext cx="4572000" cy="3693319"/>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buFont typeface="Arial"/>
              <a:buChar char="•"/>
            </a:pPr>
            <a:r>
              <a:rPr lang="en-US" b="1" dirty="0"/>
              <a:t>Atomicity</a:t>
            </a:r>
            <a:r>
              <a:rPr lang="en-US" dirty="0"/>
              <a:t>: Is defined as either all operations can be done or all operation can be undone</a:t>
            </a:r>
          </a:p>
          <a:p>
            <a:pPr>
              <a:buFont typeface="Arial"/>
              <a:buChar char="•"/>
            </a:pPr>
            <a:r>
              <a:rPr lang="en-US" b="1" dirty="0"/>
              <a:t>Consistency</a:t>
            </a:r>
            <a:r>
              <a:rPr lang="en-US" dirty="0"/>
              <a:t>: After a transaction is completed successfully, the data in the </a:t>
            </a:r>
            <a:r>
              <a:rPr lang="en-US" dirty="0" err="1"/>
              <a:t>datastore</a:t>
            </a:r>
            <a:r>
              <a:rPr lang="en-US" dirty="0"/>
              <a:t> should be a reliable data. This reliable data is also called as consistent data</a:t>
            </a:r>
          </a:p>
          <a:p>
            <a:pPr>
              <a:buFont typeface="Arial"/>
              <a:buChar char="•"/>
            </a:pPr>
            <a:r>
              <a:rPr lang="en-US" b="1" dirty="0"/>
              <a:t>Isolation</a:t>
            </a:r>
            <a:r>
              <a:rPr lang="en-US" dirty="0"/>
              <a:t>: If two transactions are going on the same data then one transaction will not disturb the other transaction</a:t>
            </a:r>
          </a:p>
          <a:p>
            <a:pPr>
              <a:buFont typeface="Arial"/>
              <a:buChar char="•"/>
            </a:pPr>
            <a:r>
              <a:rPr lang="en-US" b="1" dirty="0"/>
              <a:t>Durability</a:t>
            </a:r>
            <a:r>
              <a:rPr lang="en-US" dirty="0"/>
              <a:t>: After a transaction is completed, the data in the </a:t>
            </a:r>
            <a:r>
              <a:rPr lang="en-US" dirty="0" err="1"/>
              <a:t>datastore</a:t>
            </a:r>
            <a:r>
              <a:rPr lang="en-US" dirty="0"/>
              <a:t> will be permanent until another transaction is going to be performed on that data</a:t>
            </a:r>
          </a:p>
        </p:txBody>
      </p:sp>
    </p:spTree>
    <p:extLst>
      <p:ext uri="{BB962C8B-B14F-4D97-AF65-F5344CB8AC3E}">
        <p14:creationId xmlns:p14="http://schemas.microsoft.com/office/powerpoint/2010/main" val="573269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66800" y="609600"/>
            <a:ext cx="3810000" cy="381000"/>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dirty="0" smtClean="0"/>
              <a:t>HQL – Positional Parameters</a:t>
            </a:r>
            <a:endParaRPr lang="en-US" dirty="0"/>
          </a:p>
        </p:txBody>
      </p:sp>
      <p:sp>
        <p:nvSpPr>
          <p:cNvPr id="3" name="Rectangle 2"/>
          <p:cNvSpPr/>
          <p:nvPr/>
        </p:nvSpPr>
        <p:spPr>
          <a:xfrm>
            <a:off x="914400" y="1371600"/>
            <a:ext cx="7239000" cy="830997"/>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sz="1600" dirty="0"/>
              <a:t>Query </a:t>
            </a:r>
            <a:r>
              <a:rPr lang="en-US" sz="1600" dirty="0" err="1"/>
              <a:t>query</a:t>
            </a:r>
            <a:r>
              <a:rPr lang="en-US" sz="1600" dirty="0"/>
              <a:t> = </a:t>
            </a:r>
            <a:r>
              <a:rPr lang="en-US" sz="1600" dirty="0" err="1"/>
              <a:t>session.createQuery</a:t>
            </a:r>
            <a:r>
              <a:rPr lang="en-US" sz="1600" dirty="0"/>
              <a:t>("from Student where </a:t>
            </a:r>
            <a:r>
              <a:rPr lang="en-US" sz="1600" dirty="0" err="1"/>
              <a:t>studentId</a:t>
            </a:r>
            <a:r>
              <a:rPr lang="en-US" sz="1600" dirty="0"/>
              <a:t> = ? and </a:t>
            </a:r>
            <a:r>
              <a:rPr lang="en-US" sz="1600" dirty="0" err="1"/>
              <a:t>studentName</a:t>
            </a:r>
            <a:r>
              <a:rPr lang="en-US" sz="1600" dirty="0"/>
              <a:t>=?");</a:t>
            </a:r>
          </a:p>
          <a:p>
            <a:r>
              <a:rPr lang="en-US" sz="1600" b="1" dirty="0" err="1"/>
              <a:t>query.setInteger</a:t>
            </a:r>
            <a:r>
              <a:rPr lang="en-US" sz="1600" b="1" dirty="0"/>
              <a:t>(0, 1).</a:t>
            </a:r>
            <a:r>
              <a:rPr lang="en-US" sz="1600" b="1" dirty="0" err="1"/>
              <a:t>setString</a:t>
            </a:r>
            <a:r>
              <a:rPr lang="en-US" sz="1600" b="1" dirty="0"/>
              <a:t>(1, "Jack");</a:t>
            </a:r>
          </a:p>
        </p:txBody>
      </p:sp>
    </p:spTree>
    <p:extLst>
      <p:ext uri="{BB962C8B-B14F-4D97-AF65-F5344CB8AC3E}">
        <p14:creationId xmlns:p14="http://schemas.microsoft.com/office/powerpoint/2010/main" val="148996017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Newsprint</Template>
  <TotalTime>1609</TotalTime>
  <Words>364</Words>
  <Application>Microsoft Office PowerPoint</Application>
  <PresentationFormat>On-screen Show (4:3)</PresentationFormat>
  <Paragraphs>25</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Intellion 2</dc:creator>
  <cp:lastModifiedBy>Intellion 2</cp:lastModifiedBy>
  <cp:revision>92</cp:revision>
  <dcterms:created xsi:type="dcterms:W3CDTF">2006-08-16T00:00:00Z</dcterms:created>
  <dcterms:modified xsi:type="dcterms:W3CDTF">2019-07-11T12:58:28Z</dcterms:modified>
</cp:coreProperties>
</file>