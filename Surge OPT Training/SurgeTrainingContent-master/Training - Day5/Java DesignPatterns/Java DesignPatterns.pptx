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85" r:id="rId3"/>
    <p:sldId id="286" r:id="rId4"/>
    <p:sldId id="289" r:id="rId5"/>
    <p:sldId id="290" r:id="rId6"/>
    <p:sldId id="291" r:id="rId7"/>
    <p:sldId id="292" r:id="rId8"/>
    <p:sldId id="293" r:id="rId9"/>
    <p:sldId id="294" r:id="rId10"/>
    <p:sldId id="295" r:id="rId11"/>
    <p:sldId id="26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5" autoAdjust="0"/>
    <p:restoredTop sz="94660"/>
  </p:normalViewPr>
  <p:slideViewPr>
    <p:cSldViewPr>
      <p:cViewPr>
        <p:scale>
          <a:sx n="100" d="100"/>
          <a:sy n="100" d="100"/>
        </p:scale>
        <p:origin x="-594" y="49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47800" y="3200400"/>
            <a:ext cx="6858000"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sz="3600" b="1" dirty="0" smtClean="0"/>
              <a:t>Java – Design Pattern</a:t>
            </a:r>
            <a:endParaRPr lang="en-US" sz="3600" b="1" dirty="0"/>
          </a:p>
        </p:txBody>
      </p:sp>
    </p:spTree>
    <p:extLst>
      <p:ext uri="{BB962C8B-B14F-4D97-AF65-F5344CB8AC3E}">
        <p14:creationId xmlns="" xmlns:p14="http://schemas.microsoft.com/office/powerpoint/2010/main" val="233541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Singleton Pattern in Java</a:t>
            </a:r>
            <a:endParaRPr lang="en-US" b="1" dirty="0"/>
          </a:p>
        </p:txBody>
      </p:sp>
      <p:sp>
        <p:nvSpPr>
          <p:cNvPr id="4" name="Rectangle 3"/>
          <p:cNvSpPr/>
          <p:nvPr/>
        </p:nvSpPr>
        <p:spPr>
          <a:xfrm>
            <a:off x="2057400" y="1371600"/>
            <a:ext cx="6553200" cy="6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b="1" dirty="0" smtClean="0"/>
              <a:t>What is Singleton Design Pattern?</a:t>
            </a:r>
          </a:p>
          <a:p>
            <a:r>
              <a:rPr lang="en-US" sz="1050" dirty="0" smtClean="0"/>
              <a:t>Singleton design pattern ensures a particular class has only one object instance for the lifetime of an application. That object is accessible via a global point of access and it is shared among all the required resources</a:t>
            </a:r>
            <a:endParaRPr lang="en-US" sz="1050" dirty="0"/>
          </a:p>
        </p:txBody>
      </p:sp>
      <p:pic>
        <p:nvPicPr>
          <p:cNvPr id="5122" name="Picture 2" descr="Image"/>
          <p:cNvPicPr>
            <a:picLocks noChangeAspect="1" noChangeArrowheads="1"/>
          </p:cNvPicPr>
          <p:nvPr/>
        </p:nvPicPr>
        <p:blipFill>
          <a:blip r:embed="rId2"/>
          <a:srcRect/>
          <a:stretch>
            <a:fillRect/>
          </a:stretch>
        </p:blipFill>
        <p:spPr bwMode="auto">
          <a:xfrm>
            <a:off x="533400" y="2514600"/>
            <a:ext cx="5362575" cy="244792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Singleton in Java</a:t>
            </a:r>
            <a:endParaRPr lang="en-US" b="1" dirty="0"/>
          </a:p>
        </p:txBody>
      </p:sp>
      <p:pic>
        <p:nvPicPr>
          <p:cNvPr id="4098" name="Picture 2" descr="singleton pattern overview"/>
          <p:cNvPicPr>
            <a:picLocks noChangeAspect="1" noChangeArrowheads="1"/>
          </p:cNvPicPr>
          <p:nvPr/>
        </p:nvPicPr>
        <p:blipFill>
          <a:blip r:embed="rId2"/>
          <a:srcRect/>
          <a:stretch>
            <a:fillRect/>
          </a:stretch>
        </p:blipFill>
        <p:spPr bwMode="auto">
          <a:xfrm>
            <a:off x="2438400" y="1752600"/>
            <a:ext cx="4552950" cy="333375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Singleton in Java</a:t>
            </a:r>
            <a:endParaRPr lang="en-US" b="1" dirty="0"/>
          </a:p>
        </p:txBody>
      </p:sp>
      <p:pic>
        <p:nvPicPr>
          <p:cNvPr id="19458" name="Picture 2" descr="Java Singleton Design Pattern - Classic Singleton Design Pattern"/>
          <p:cNvPicPr>
            <a:picLocks noChangeAspect="1" noChangeArrowheads="1"/>
          </p:cNvPicPr>
          <p:nvPr/>
        </p:nvPicPr>
        <p:blipFill>
          <a:blip r:embed="rId2"/>
          <a:srcRect/>
          <a:stretch>
            <a:fillRect/>
          </a:stretch>
        </p:blipFill>
        <p:spPr bwMode="auto">
          <a:xfrm>
            <a:off x="2133600" y="1905000"/>
            <a:ext cx="5633255" cy="293370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Factory Pattern in Java</a:t>
            </a:r>
            <a:endParaRPr lang="en-US" b="1" dirty="0"/>
          </a:p>
        </p:txBody>
      </p:sp>
      <p:pic>
        <p:nvPicPr>
          <p:cNvPr id="1028" name="Picture 4" descr="Factory method pattern"/>
          <p:cNvPicPr>
            <a:picLocks noChangeAspect="1" noChangeArrowheads="1"/>
          </p:cNvPicPr>
          <p:nvPr/>
        </p:nvPicPr>
        <p:blipFill>
          <a:blip r:embed="rId2"/>
          <a:srcRect/>
          <a:stretch>
            <a:fillRect/>
          </a:stretch>
        </p:blipFill>
        <p:spPr bwMode="auto">
          <a:xfrm>
            <a:off x="685800" y="1905000"/>
            <a:ext cx="6172200" cy="2400301"/>
          </a:xfrm>
          <a:prstGeom prst="rect">
            <a:avLst/>
          </a:prstGeom>
        </p:spPr>
        <p:style>
          <a:lnRef idx="2">
            <a:schemeClr val="accent4"/>
          </a:lnRef>
          <a:fillRef idx="1">
            <a:schemeClr val="lt1"/>
          </a:fillRef>
          <a:effectRef idx="0">
            <a:schemeClr val="accent4"/>
          </a:effectRef>
          <a:fontRef idx="minor">
            <a:schemeClr val="dk1"/>
          </a:fontRef>
        </p:style>
      </p:pic>
      <p:sp>
        <p:nvSpPr>
          <p:cNvPr id="6" name="Rectangle 5"/>
          <p:cNvSpPr/>
          <p:nvPr/>
        </p:nvSpPr>
        <p:spPr>
          <a:xfrm>
            <a:off x="3124200" y="1143000"/>
            <a:ext cx="5638800" cy="4154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sz="1050" dirty="0" smtClean="0"/>
              <a:t>“An interface for creating an object, but let subclasses decide which class to instantiate. Factory Method lets a class defer instantiation to subclasses”</a:t>
            </a:r>
            <a:endParaRPr lang="en-US" sz="1050" dirty="0"/>
          </a:p>
        </p:txBody>
      </p:sp>
      <p:sp>
        <p:nvSpPr>
          <p:cNvPr id="7" name="Rectangle 6"/>
          <p:cNvSpPr/>
          <p:nvPr/>
        </p:nvSpPr>
        <p:spPr>
          <a:xfrm>
            <a:off x="1143000" y="4876800"/>
            <a:ext cx="7772400" cy="5770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sz="1050" dirty="0" smtClean="0"/>
              <a:t>In simpler words, object creation is handed over to a separate entity via an interface. This entity is called the factory, and it contains the object creation code with the help of an interface or an abstract class to create the suitable object from various class implementations. Only sub-classes are responsible and decide which class to instantiate at runtime.</a:t>
            </a:r>
            <a:endParaRPr lang="en-US" sz="105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Factory Pattern in Java</a:t>
            </a:r>
            <a:endParaRPr lang="en-US" b="1" dirty="0"/>
          </a:p>
        </p:txBody>
      </p:sp>
      <p:pic>
        <p:nvPicPr>
          <p:cNvPr id="1026" name="Picture 2" descr="Factory method pattern class diagram"/>
          <p:cNvPicPr>
            <a:picLocks noChangeAspect="1" noChangeArrowheads="1"/>
          </p:cNvPicPr>
          <p:nvPr/>
        </p:nvPicPr>
        <p:blipFill>
          <a:blip r:embed="rId2"/>
          <a:srcRect/>
          <a:stretch>
            <a:fillRect/>
          </a:stretch>
        </p:blipFill>
        <p:spPr bwMode="auto">
          <a:xfrm>
            <a:off x="1752600" y="1295400"/>
            <a:ext cx="6172200" cy="3990976"/>
          </a:xfrm>
          <a:prstGeom prst="rect">
            <a:avLst/>
          </a:prstGeom>
        </p:spPr>
        <p:style>
          <a:lnRef idx="2">
            <a:schemeClr val="accent2"/>
          </a:lnRef>
          <a:fillRef idx="1">
            <a:schemeClr val="lt1"/>
          </a:fillRef>
          <a:effectRef idx="0">
            <a:schemeClr val="accent2"/>
          </a:effectRef>
          <a:fontRef idx="minor">
            <a:schemeClr val="dk1"/>
          </a:fontRef>
        </p:style>
      </p:pic>
      <p:sp>
        <p:nvSpPr>
          <p:cNvPr id="4" name="Rectangle 3"/>
          <p:cNvSpPr/>
          <p:nvPr/>
        </p:nvSpPr>
        <p:spPr>
          <a:xfrm>
            <a:off x="2514600" y="5105400"/>
            <a:ext cx="6324600" cy="4154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sz="1050" dirty="0" smtClean="0"/>
              <a:t>The key concept of the Factory pattern is to abstract the way an object or a group of related objects are created and instantiated for a specific purpose. </a:t>
            </a:r>
            <a:endParaRPr lang="en-US" sz="105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Factory Pattern in Java</a:t>
            </a:r>
            <a:endParaRPr lang="en-US" b="1" dirty="0"/>
          </a:p>
        </p:txBody>
      </p:sp>
      <p:sp>
        <p:nvSpPr>
          <p:cNvPr id="5" name="Rectangle 4"/>
          <p:cNvSpPr/>
          <p:nvPr/>
        </p:nvSpPr>
        <p:spPr>
          <a:xfrm>
            <a:off x="685800" y="1447800"/>
            <a:ext cx="8077200" cy="20313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sz="1050" b="1" dirty="0" smtClean="0"/>
              <a:t>Class Diagram Components</a:t>
            </a:r>
          </a:p>
          <a:p>
            <a:r>
              <a:rPr lang="en-US" sz="1050" b="1" i="1" dirty="0" smtClean="0"/>
              <a:t>Rose à Interface/Abstract Class:</a:t>
            </a:r>
            <a:r>
              <a:rPr lang="en-US" sz="1050" b="1" dirty="0" smtClean="0"/>
              <a:t> </a:t>
            </a:r>
          </a:p>
          <a:p>
            <a:pPr lvl="1"/>
            <a:r>
              <a:rPr lang="en-US" sz="1050" dirty="0" smtClean="0"/>
              <a:t>Contains the factory method to use in the factory class. This method is shared by all the sub-classes to implement the unique functionality required by the system</a:t>
            </a:r>
          </a:p>
          <a:p>
            <a:r>
              <a:rPr lang="en-US" sz="1050" b="1" i="1" dirty="0" err="1" smtClean="0"/>
              <a:t>RedRose</a:t>
            </a:r>
            <a:r>
              <a:rPr lang="en-US" sz="1050" b="1" i="1" dirty="0" smtClean="0"/>
              <a:t>(Yellow/Pink) </a:t>
            </a:r>
            <a:r>
              <a:rPr lang="en-US" sz="1050" b="1" i="1" dirty="0" err="1" smtClean="0"/>
              <a:t>àConcrete</a:t>
            </a:r>
            <a:r>
              <a:rPr lang="en-US" sz="1050" b="1" i="1" dirty="0" smtClean="0"/>
              <a:t> Class:</a:t>
            </a:r>
          </a:p>
          <a:p>
            <a:pPr lvl="1"/>
            <a:r>
              <a:rPr lang="en-US" sz="1050" dirty="0" smtClean="0"/>
              <a:t>These concrete subclasses override the abstract methods included in the interface with their customized code</a:t>
            </a:r>
          </a:p>
          <a:p>
            <a:r>
              <a:rPr lang="en-US" sz="1050" b="1" i="1" dirty="0" err="1" smtClean="0"/>
              <a:t>RoseFactory</a:t>
            </a:r>
            <a:r>
              <a:rPr lang="en-US" sz="1050" b="1" i="1" dirty="0" smtClean="0"/>
              <a:t> à Factory Class: </a:t>
            </a:r>
          </a:p>
          <a:p>
            <a:pPr lvl="1"/>
            <a:r>
              <a:rPr lang="en-US" sz="1050" dirty="0" smtClean="0"/>
              <a:t>Uses the factory method to create the object instances. Factory method will be executed at this level to create unique instances depending on the request from the client</a:t>
            </a:r>
          </a:p>
          <a:p>
            <a:r>
              <a:rPr lang="en-US" sz="1050" b="1" i="1" dirty="0" err="1" smtClean="0"/>
              <a:t>CreateRoseDemo</a:t>
            </a:r>
            <a:r>
              <a:rPr lang="en-US" sz="1050" b="1" i="1" dirty="0" smtClean="0"/>
              <a:t> à Client Class: </a:t>
            </a:r>
          </a:p>
          <a:p>
            <a:pPr lvl="1"/>
            <a:r>
              <a:rPr lang="en-US" sz="1050" dirty="0" smtClean="0"/>
              <a:t>Request the specific behavior from the application. The client is not aware of how to create the object instead client knows when to create the object.</a:t>
            </a:r>
            <a:endParaRPr lang="en-US" sz="105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err="1" smtClean="0"/>
              <a:t>InnerClasses</a:t>
            </a:r>
            <a:r>
              <a:rPr lang="en-US" b="1" dirty="0" smtClean="0"/>
              <a:t> in Java</a:t>
            </a:r>
            <a:endParaRPr lang="en-US" b="1" dirty="0"/>
          </a:p>
        </p:txBody>
      </p:sp>
      <p:pic>
        <p:nvPicPr>
          <p:cNvPr id="23554" name="Picture 2" descr="d"/>
          <p:cNvPicPr>
            <a:picLocks noChangeAspect="1" noChangeArrowheads="1"/>
          </p:cNvPicPr>
          <p:nvPr/>
        </p:nvPicPr>
        <p:blipFill>
          <a:blip r:embed="rId2"/>
          <a:srcRect/>
          <a:stretch>
            <a:fillRect/>
          </a:stretch>
        </p:blipFill>
        <p:spPr bwMode="auto">
          <a:xfrm>
            <a:off x="838200" y="1676400"/>
            <a:ext cx="3581399" cy="3581400"/>
          </a:xfrm>
          <a:prstGeom prst="rect">
            <a:avLst/>
          </a:prstGeom>
        </p:spPr>
        <p:style>
          <a:lnRef idx="2">
            <a:schemeClr val="accent2"/>
          </a:lnRef>
          <a:fillRef idx="1">
            <a:schemeClr val="lt1"/>
          </a:fillRef>
          <a:effectRef idx="0">
            <a:schemeClr val="accent2"/>
          </a:effectRef>
          <a:fontRef idx="minor">
            <a:schemeClr val="dk1"/>
          </a:fontRef>
        </p:style>
      </p:pic>
      <p:sp>
        <p:nvSpPr>
          <p:cNvPr id="6" name="Rectangle 5"/>
          <p:cNvSpPr/>
          <p:nvPr/>
        </p:nvSpPr>
        <p:spPr>
          <a:xfrm>
            <a:off x="3886200" y="990600"/>
            <a:ext cx="4572000" cy="90024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en-US" sz="1050" b="1" dirty="0" smtClean="0"/>
              <a:t>Static nested classes</a:t>
            </a:r>
            <a:endParaRPr lang="en-US" sz="1050" dirty="0" smtClean="0"/>
          </a:p>
          <a:p>
            <a:r>
              <a:rPr lang="en-US" sz="1050" dirty="0" smtClean="0"/>
              <a:t>As with class methods and variables, a static nested class is associated with its outer class. And like static class methods, a static nested class cannot refer directly to instance variables or methods defined in its enclosing class: it can use them only through an object reference.</a:t>
            </a:r>
            <a:endParaRPr lang="en-US" sz="1050" dirty="0"/>
          </a:p>
        </p:txBody>
      </p:sp>
      <p:sp>
        <p:nvSpPr>
          <p:cNvPr id="7" name="Rectangle 6"/>
          <p:cNvSpPr/>
          <p:nvPr/>
        </p:nvSpPr>
        <p:spPr>
          <a:xfrm>
            <a:off x="3962400" y="4876800"/>
            <a:ext cx="4572000" cy="17081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r>
              <a:rPr lang="en-US" sz="1050" b="1" dirty="0" smtClean="0"/>
              <a:t>Difference between static and inner(non-static nested) classes</a:t>
            </a:r>
            <a:endParaRPr lang="en-US" sz="1050" dirty="0" smtClean="0"/>
          </a:p>
          <a:p>
            <a:r>
              <a:rPr lang="en-US" sz="1050" dirty="0" smtClean="0"/>
              <a:t>Static nested classes do not directly have access to other members(non-static variables and methods) of the enclosing class because as it is static, it must access the non-static members of its enclosing class through an object. That is, it cannot refer to non-static members of its enclosing class directly. Because of this restriction, static nested classes are seldom used.</a:t>
            </a:r>
          </a:p>
          <a:p>
            <a:r>
              <a:rPr lang="en-US" sz="1050" dirty="0" smtClean="0"/>
              <a:t>Non-static nested classes (inner classes) has access to all members(static and non-static variables and methods, including private) of its outer class and may refer to them directly in the same way that other non-static members of the outer class do.</a:t>
            </a:r>
            <a:endParaRPr lang="en-US" sz="105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4038600"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Java 8 Features – Lambda Expressions</a:t>
            </a:r>
            <a:endParaRPr lang="en-US" b="1" dirty="0"/>
          </a:p>
        </p:txBody>
      </p:sp>
      <p:sp>
        <p:nvSpPr>
          <p:cNvPr id="8" name="Rectangle 7"/>
          <p:cNvSpPr/>
          <p:nvPr/>
        </p:nvSpPr>
        <p:spPr>
          <a:xfrm>
            <a:off x="762000" y="1295400"/>
            <a:ext cx="6553200" cy="7386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sz="1050" b="1" dirty="0" smtClean="0"/>
              <a:t>1) Definition</a:t>
            </a:r>
            <a:endParaRPr lang="en-US" sz="1050" dirty="0" smtClean="0"/>
          </a:p>
          <a:p>
            <a:r>
              <a:rPr lang="en-US" sz="1050" dirty="0" smtClean="0"/>
              <a:t>Java 8 Lambda Expressions can be defined as methods without names </a:t>
            </a:r>
            <a:r>
              <a:rPr lang="en-US" sz="1050" dirty="0" err="1" smtClean="0"/>
              <a:t>i.e</a:t>
            </a:r>
            <a:r>
              <a:rPr lang="en-US" sz="1050" dirty="0" smtClean="0"/>
              <a:t> anonymous functions. Like methods, they can have parameters, a body, a return type and possible list of exceptions that can be thrown. But unlike methods, neither they have names nor they are associated with any particular class.</a:t>
            </a:r>
            <a:endParaRPr lang="en-US" sz="1050" dirty="0"/>
          </a:p>
        </p:txBody>
      </p:sp>
      <p:sp>
        <p:nvSpPr>
          <p:cNvPr id="9" name="Rectangle 8"/>
          <p:cNvSpPr/>
          <p:nvPr/>
        </p:nvSpPr>
        <p:spPr>
          <a:xfrm>
            <a:off x="5562600" y="2286000"/>
            <a:ext cx="2590800" cy="738664"/>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050" b="1" dirty="0" smtClean="0"/>
              <a:t>Lambda Syntax</a:t>
            </a:r>
            <a:endParaRPr lang="en-US" sz="1050" dirty="0" smtClean="0"/>
          </a:p>
          <a:p>
            <a:r>
              <a:rPr lang="en-US" sz="1050" dirty="0" smtClean="0"/>
              <a:t>(Parameters) -&gt; Expression</a:t>
            </a:r>
          </a:p>
          <a:p>
            <a:r>
              <a:rPr lang="en-US" sz="1050" dirty="0" smtClean="0"/>
              <a:t>OR</a:t>
            </a:r>
          </a:p>
          <a:p>
            <a:r>
              <a:rPr lang="en-US" sz="1050" dirty="0" smtClean="0"/>
              <a:t>(Parameters) -&gt; { Statements }</a:t>
            </a:r>
            <a:endParaRPr lang="en-US" sz="1050" dirty="0"/>
          </a:p>
        </p:txBody>
      </p:sp>
      <p:sp>
        <p:nvSpPr>
          <p:cNvPr id="10" name="Rectangle 9"/>
          <p:cNvSpPr/>
          <p:nvPr/>
        </p:nvSpPr>
        <p:spPr>
          <a:xfrm>
            <a:off x="762000" y="3352800"/>
            <a:ext cx="6019800" cy="738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050" dirty="0" smtClean="0"/>
              <a:t>Lambda syntax consist of three parts – list of parameters, an arrow mark and a body. The body of a lambda can be an expression or a set of statements. If it is set of statements, they must be enclosed within curly braces { }. Return type and possible list of exceptions that can be thrown are not explicitly mentioned in a lambda. They are implicitly applied.</a:t>
            </a:r>
            <a:endParaRPr lang="en-US" sz="1050" dirty="0"/>
          </a:p>
        </p:txBody>
      </p:sp>
      <p:sp>
        <p:nvSpPr>
          <p:cNvPr id="11" name="Rectangle 10"/>
          <p:cNvSpPr/>
          <p:nvPr/>
        </p:nvSpPr>
        <p:spPr>
          <a:xfrm>
            <a:off x="1981200" y="4419600"/>
            <a:ext cx="5867400" cy="90024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050" b="1" dirty="0" smtClean="0"/>
              <a:t>3) Where To Use Lambda Expressions?</a:t>
            </a:r>
            <a:endParaRPr lang="en-US" sz="1050" dirty="0" smtClean="0"/>
          </a:p>
          <a:p>
            <a:r>
              <a:rPr lang="en-US" sz="1050" dirty="0" smtClean="0"/>
              <a:t>Lambda expressions are used where an instance of functional interface is expected. Functional interface is an interface which has only one abstract method. Functional interfaces can have any number of default methods. But, they must have only one abstract method. </a:t>
            </a:r>
            <a:r>
              <a:rPr lang="en-US" sz="1050" i="1" dirty="0" smtClean="0"/>
              <a:t>Comparator</a:t>
            </a:r>
            <a:r>
              <a:rPr lang="en-US" sz="1050" dirty="0" smtClean="0"/>
              <a:t>, </a:t>
            </a:r>
            <a:r>
              <a:rPr lang="en-US" sz="1050" i="1" dirty="0" err="1" smtClean="0"/>
              <a:t>Runnable</a:t>
            </a:r>
            <a:r>
              <a:rPr lang="en-US" sz="1050" dirty="0" smtClean="0"/>
              <a:t> </a:t>
            </a:r>
            <a:r>
              <a:rPr lang="en-US" sz="1050" dirty="0" smtClean="0"/>
              <a:t>And </a:t>
            </a:r>
            <a:r>
              <a:rPr lang="en-US" sz="1050" i="1" dirty="0" err="1" smtClean="0"/>
              <a:t>ActionListener</a:t>
            </a:r>
            <a:r>
              <a:rPr lang="en-US" sz="1050" dirty="0" smtClean="0"/>
              <a:t> </a:t>
            </a:r>
            <a:r>
              <a:rPr lang="en-US" sz="1050" dirty="0" smtClean="0"/>
              <a:t>are some examples of functional interfaces.</a:t>
            </a:r>
            <a:endParaRPr lang="en-US" sz="105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40386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b="1" dirty="0" smtClean="0"/>
              <a:t>Java 8 Features – Lambda Expressions</a:t>
            </a:r>
            <a:endParaRPr lang="en-US" b="1" dirty="0"/>
          </a:p>
        </p:txBody>
      </p:sp>
      <p:sp>
        <p:nvSpPr>
          <p:cNvPr id="7" name="Rectangle 6"/>
          <p:cNvSpPr/>
          <p:nvPr/>
        </p:nvSpPr>
        <p:spPr>
          <a:xfrm>
            <a:off x="762000" y="1295400"/>
            <a:ext cx="6324600" cy="577081"/>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sz="1050" b="1" dirty="0" smtClean="0"/>
              <a:t>4) How To Use Lambda Expressions?</a:t>
            </a:r>
            <a:endParaRPr lang="en-US" sz="1050" dirty="0" smtClean="0"/>
          </a:p>
          <a:p>
            <a:r>
              <a:rPr lang="en-US" sz="1050" dirty="0" smtClean="0"/>
              <a:t>Lambda expressions are used to implement functional interfaces. Before Java 8, anonymous inner classes are used to implement functional interfaces. Let’s explore this with some before Java 8 and after Java 8 code.</a:t>
            </a:r>
            <a:endParaRPr lang="en-US" sz="1050" dirty="0"/>
          </a:p>
        </p:txBody>
      </p:sp>
      <p:sp>
        <p:nvSpPr>
          <p:cNvPr id="12" name="Rectangle 11"/>
          <p:cNvSpPr/>
          <p:nvPr/>
        </p:nvSpPr>
        <p:spPr>
          <a:xfrm>
            <a:off x="2590800" y="2362200"/>
            <a:ext cx="6019800" cy="1869743"/>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050" b="1" dirty="0" smtClean="0"/>
              <a:t>Before Java 8 </a:t>
            </a:r>
            <a:r>
              <a:rPr lang="en-US" sz="1050" dirty="0" smtClean="0"/>
              <a:t>: Implementation of Comparator interface using anonymous inner class</a:t>
            </a:r>
          </a:p>
          <a:p>
            <a:pPr lvl="1"/>
            <a:r>
              <a:rPr lang="en-US" sz="1050" dirty="0" smtClean="0"/>
              <a:t>Comparator&lt;Student&gt; </a:t>
            </a:r>
            <a:r>
              <a:rPr lang="en-US" sz="1050" dirty="0" err="1" smtClean="0"/>
              <a:t>idComparator</a:t>
            </a:r>
            <a:r>
              <a:rPr lang="en-US" sz="1050" dirty="0" smtClean="0"/>
              <a:t> = new Comparator&lt;Student&gt;() {</a:t>
            </a:r>
          </a:p>
          <a:p>
            <a:pPr lvl="1"/>
            <a:r>
              <a:rPr lang="en-US" sz="1050" dirty="0" smtClean="0"/>
              <a:t>            @Override</a:t>
            </a:r>
          </a:p>
          <a:p>
            <a:pPr lvl="1"/>
            <a:r>
              <a:rPr lang="en-US" sz="1050" dirty="0" smtClean="0"/>
              <a:t>            public </a:t>
            </a:r>
            <a:r>
              <a:rPr lang="en-US" sz="1050" dirty="0" err="1" smtClean="0"/>
              <a:t>int</a:t>
            </a:r>
            <a:r>
              <a:rPr lang="en-US" sz="1050" dirty="0" smtClean="0"/>
              <a:t> compare(Student s1, Student s2) {</a:t>
            </a:r>
          </a:p>
          <a:p>
            <a:pPr lvl="1"/>
            <a:r>
              <a:rPr lang="en-US" sz="1050" dirty="0" smtClean="0"/>
              <a:t>                return s1.getID()-s2.getID();</a:t>
            </a:r>
          </a:p>
          <a:p>
            <a:pPr lvl="1"/>
            <a:r>
              <a:rPr lang="en-US" sz="1050" dirty="0" smtClean="0"/>
              <a:t>            }</a:t>
            </a:r>
          </a:p>
          <a:p>
            <a:pPr lvl="1"/>
            <a:r>
              <a:rPr lang="en-US" sz="1050" dirty="0" smtClean="0"/>
              <a:t>        };</a:t>
            </a:r>
          </a:p>
          <a:p>
            <a:pPr lvl="1"/>
            <a:r>
              <a:rPr lang="en-US" sz="1050" dirty="0" smtClean="0"/>
              <a:t>		</a:t>
            </a:r>
          </a:p>
          <a:p>
            <a:r>
              <a:rPr lang="en-US" sz="1050" b="1" dirty="0" smtClean="0"/>
              <a:t>After Java 8 </a:t>
            </a:r>
            <a:r>
              <a:rPr lang="en-US" sz="1050" dirty="0" smtClean="0"/>
              <a:t>: Implementation of </a:t>
            </a:r>
            <a:r>
              <a:rPr lang="en-US" sz="1050" dirty="0" err="1" smtClean="0"/>
              <a:t>Comaparator</a:t>
            </a:r>
            <a:r>
              <a:rPr lang="en-US" sz="1050" dirty="0" smtClean="0"/>
              <a:t> interface using lambda expressions	</a:t>
            </a:r>
            <a:endParaRPr lang="en-US" sz="1050" dirty="0" smtClean="0"/>
          </a:p>
          <a:p>
            <a:r>
              <a:rPr lang="en-US" sz="1050" dirty="0" smtClean="0"/>
              <a:t>	</a:t>
            </a:r>
          </a:p>
          <a:p>
            <a:r>
              <a:rPr lang="en-US" sz="1050" dirty="0" smtClean="0"/>
              <a:t>	Comparator&lt;Student</a:t>
            </a:r>
            <a:r>
              <a:rPr lang="en-US" sz="1050" dirty="0" smtClean="0"/>
              <a:t>&gt; </a:t>
            </a:r>
            <a:r>
              <a:rPr lang="en-US" sz="1050" dirty="0" err="1" smtClean="0"/>
              <a:t>idComparator</a:t>
            </a:r>
            <a:r>
              <a:rPr lang="en-US" sz="1050" dirty="0" smtClean="0"/>
              <a:t> = (Student s1, Student s2) -&gt; s1.getID()-s2.getID();</a:t>
            </a:r>
            <a:endParaRPr lang="en-US" sz="1050" dirty="0"/>
          </a:p>
        </p:txBody>
      </p:sp>
      <p:sp>
        <p:nvSpPr>
          <p:cNvPr id="14" name="Rectangle 13"/>
          <p:cNvSpPr/>
          <p:nvPr/>
        </p:nvSpPr>
        <p:spPr>
          <a:xfrm>
            <a:off x="533400" y="4572000"/>
            <a:ext cx="5791200" cy="209288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000" dirty="0" smtClean="0"/>
              <a:t>Before Java 8 : Implementation of </a:t>
            </a:r>
            <a:r>
              <a:rPr lang="en-US" sz="1000" dirty="0" err="1" smtClean="0"/>
              <a:t>Runnable</a:t>
            </a:r>
            <a:r>
              <a:rPr lang="en-US" sz="1000" dirty="0" smtClean="0"/>
              <a:t> interface using anonymous inner class</a:t>
            </a:r>
          </a:p>
          <a:p>
            <a:endParaRPr lang="en-US" sz="1000" dirty="0" smtClean="0"/>
          </a:p>
          <a:p>
            <a:pPr lvl="1"/>
            <a:r>
              <a:rPr lang="en-US" sz="1000" b="1" dirty="0" err="1" smtClean="0"/>
              <a:t>Runnable</a:t>
            </a:r>
            <a:r>
              <a:rPr lang="en-US" sz="1000" b="1" dirty="0" smtClean="0"/>
              <a:t> </a:t>
            </a:r>
            <a:r>
              <a:rPr lang="en-US" sz="1000" b="1" dirty="0" smtClean="0"/>
              <a:t>r = new </a:t>
            </a:r>
            <a:r>
              <a:rPr lang="en-US" sz="1000" b="1" dirty="0" err="1" smtClean="0"/>
              <a:t>Runnable</a:t>
            </a:r>
            <a:r>
              <a:rPr lang="en-US" sz="1000" b="1" dirty="0" smtClean="0"/>
              <a:t>() {   </a:t>
            </a:r>
          </a:p>
          <a:p>
            <a:pPr lvl="1"/>
            <a:r>
              <a:rPr lang="en-US" sz="1000" b="1" dirty="0" smtClean="0"/>
              <a:t>@</a:t>
            </a:r>
            <a:r>
              <a:rPr lang="en-US" sz="1000" b="1" dirty="0" smtClean="0"/>
              <a:t>Override</a:t>
            </a:r>
          </a:p>
          <a:p>
            <a:pPr lvl="2"/>
            <a:r>
              <a:rPr lang="en-US" sz="1000" b="1" dirty="0" smtClean="0"/>
              <a:t>public </a:t>
            </a:r>
            <a:r>
              <a:rPr lang="en-US" sz="1000" b="1" dirty="0" smtClean="0"/>
              <a:t>void run() {</a:t>
            </a:r>
          </a:p>
          <a:p>
            <a:pPr lvl="3"/>
            <a:r>
              <a:rPr lang="en-US" sz="1000" b="1" dirty="0" err="1" smtClean="0"/>
              <a:t>System.out.println</a:t>
            </a:r>
            <a:r>
              <a:rPr lang="en-US" sz="1000" b="1" dirty="0" smtClean="0"/>
              <a:t>("</a:t>
            </a:r>
            <a:r>
              <a:rPr lang="en-US" sz="1000" b="1" dirty="0" err="1" smtClean="0"/>
              <a:t>Runnable</a:t>
            </a:r>
            <a:r>
              <a:rPr lang="en-US" sz="1000" b="1" dirty="0" smtClean="0"/>
              <a:t> Implementation Using Anonymous Inner Class");</a:t>
            </a:r>
          </a:p>
          <a:p>
            <a:pPr lvl="2"/>
            <a:r>
              <a:rPr lang="en-US" sz="1000" b="1" dirty="0" smtClean="0"/>
              <a:t>}</a:t>
            </a:r>
            <a:endParaRPr lang="en-US" sz="1000" b="1" dirty="0" smtClean="0"/>
          </a:p>
          <a:p>
            <a:pPr lvl="1"/>
            <a:r>
              <a:rPr lang="en-US" sz="1000" b="1" dirty="0" smtClean="0"/>
              <a:t>};</a:t>
            </a:r>
          </a:p>
          <a:p>
            <a:pPr lvl="1"/>
            <a:endParaRPr lang="en-US" sz="1000" dirty="0" smtClean="0"/>
          </a:p>
          <a:p>
            <a:r>
              <a:rPr lang="en-US" sz="1000" dirty="0" smtClean="0"/>
              <a:t>After </a:t>
            </a:r>
            <a:r>
              <a:rPr lang="en-US" sz="1000" dirty="0" smtClean="0"/>
              <a:t>Java 8 : Implementation of </a:t>
            </a:r>
            <a:r>
              <a:rPr lang="en-US" sz="1000" dirty="0" err="1" smtClean="0"/>
              <a:t>Runnable</a:t>
            </a:r>
            <a:r>
              <a:rPr lang="en-US" sz="1000" dirty="0" smtClean="0"/>
              <a:t> interface using lambda </a:t>
            </a:r>
            <a:r>
              <a:rPr lang="en-US" sz="1000" dirty="0" smtClean="0"/>
              <a:t>expressions</a:t>
            </a:r>
          </a:p>
          <a:p>
            <a:endParaRPr lang="en-US" sz="1000" dirty="0" smtClean="0"/>
          </a:p>
          <a:p>
            <a:pPr lvl="1"/>
            <a:r>
              <a:rPr lang="en-US" sz="1000" b="1" dirty="0" err="1" smtClean="0"/>
              <a:t>Runnable</a:t>
            </a:r>
            <a:r>
              <a:rPr lang="en-US" sz="1000" b="1" dirty="0" smtClean="0"/>
              <a:t> </a:t>
            </a:r>
            <a:r>
              <a:rPr lang="en-US" sz="1000" b="1" dirty="0" smtClean="0"/>
              <a:t>r = () -&gt; </a:t>
            </a:r>
            <a:r>
              <a:rPr lang="en-US" sz="1000" b="1" dirty="0" err="1" smtClean="0"/>
              <a:t>System.out.println</a:t>
            </a:r>
            <a:r>
              <a:rPr lang="en-US" sz="1000" b="1" dirty="0" smtClean="0"/>
              <a:t>("</a:t>
            </a:r>
            <a:r>
              <a:rPr lang="en-US" sz="1000" b="1" dirty="0" err="1" smtClean="0"/>
              <a:t>Runnable</a:t>
            </a:r>
            <a:r>
              <a:rPr lang="en-US" sz="1000" b="1" dirty="0" smtClean="0"/>
              <a:t> Implementation Using Lambda Expressions</a:t>
            </a:r>
            <a:r>
              <a:rPr lang="en-US" sz="1000" b="1" dirty="0" smtClean="0"/>
              <a:t>");</a:t>
            </a:r>
          </a:p>
          <a:p>
            <a:pPr lvl="1"/>
            <a:endParaRPr lang="en-US" sz="1000" dirty="0"/>
          </a:p>
        </p:txBody>
      </p:sp>
    </p:spTree>
    <p:extLst>
      <p:ext uri="{BB962C8B-B14F-4D97-AF65-F5344CB8AC3E}">
        <p14:creationId xmlns="" xmlns:p14="http://schemas.microsoft.com/office/powerpoint/2010/main" val="13903039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 xmlns:p14="http://schemas.microsoft.com/office/powerpoint/2010/main"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2149</TotalTime>
  <Words>863</Words>
  <Application>Microsoft Office PowerPoint</Application>
  <PresentationFormat>On-screen Show (4:3)</PresentationFormat>
  <Paragraphs>63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Muralibabu</cp:lastModifiedBy>
  <cp:revision>198</cp:revision>
  <dcterms:created xsi:type="dcterms:W3CDTF">2006-08-16T00:00:00Z</dcterms:created>
  <dcterms:modified xsi:type="dcterms:W3CDTF">2019-06-04T15:53:36Z</dcterms:modified>
</cp:coreProperties>
</file>