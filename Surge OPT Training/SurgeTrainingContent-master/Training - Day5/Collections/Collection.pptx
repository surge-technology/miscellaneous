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76" r:id="rId3"/>
    <p:sldId id="275" r:id="rId4"/>
    <p:sldId id="278" r:id="rId5"/>
    <p:sldId id="279" r:id="rId6"/>
    <p:sldId id="274" r:id="rId7"/>
    <p:sldId id="280" r:id="rId8"/>
    <p:sldId id="281" r:id="rId9"/>
    <p:sldId id="282" r:id="rId10"/>
    <p:sldId id="283" r:id="rId11"/>
    <p:sldId id="269" r:id="rId12"/>
    <p:sldId id="28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425" autoAdjust="0"/>
    <p:restoredTop sz="94660"/>
  </p:normalViewPr>
  <p:slideViewPr>
    <p:cSldViewPr>
      <p:cViewPr>
        <p:scale>
          <a:sx n="120" d="100"/>
          <a:sy n="120" d="100"/>
        </p:scale>
        <p:origin x="-7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200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5957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7777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756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7896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3008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776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2584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520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2495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9950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182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47800" y="3200400"/>
            <a:ext cx="6858000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600" b="1" dirty="0" smtClean="0"/>
              <a:t>Java – Collections Framework</a:t>
            </a:r>
            <a:endParaRPr lang="en-US" sz="3600" b="1" dirty="0"/>
          </a:p>
        </p:txBody>
      </p:sp>
    </p:spTree>
    <p:extLst>
      <p:ext uri="{BB962C8B-B14F-4D97-AF65-F5344CB8AC3E}">
        <p14:creationId xmlns="" xmlns:p14="http://schemas.microsoft.com/office/powerpoint/2010/main" val="23354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495300"/>
            <a:ext cx="3657600" cy="381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Java Collection Framework - JCF</a:t>
            </a:r>
            <a:endParaRPr lang="en-US" b="1" dirty="0"/>
          </a:p>
        </p:txBody>
      </p:sp>
      <p:pic>
        <p:nvPicPr>
          <p:cNvPr id="9218" name="Picture 2" descr="Java Framewor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447800"/>
            <a:ext cx="4124325" cy="24288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3505200" y="4343400"/>
            <a:ext cx="5486400" cy="93871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Collection is an object representing a group of objects.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Collection framework contains a set of classes and interfaces which are used for       representing and manipulating collections.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Collection interface is the root interface from which the interfaces List,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Set,Queue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are extended. </a:t>
            </a:r>
          </a:p>
        </p:txBody>
      </p:sp>
    </p:spTree>
    <p:extLst>
      <p:ext uri="{BB962C8B-B14F-4D97-AF65-F5344CB8AC3E}">
        <p14:creationId xmlns="" xmlns:p14="http://schemas.microsoft.com/office/powerpoint/2010/main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62484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List interface: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List interface is an ordered collection in which duplicate               elements are also allowed.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Elements are stored in a sequential way and hence its elements can be accessed using the index value.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ArrayList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LinkedList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Vector</a:t>
            </a:r>
            <a:endParaRPr lang="en-US" b="0" dirty="0"/>
          </a:p>
        </p:txBody>
      </p:sp>
    </p:spTree>
    <p:extLst>
      <p:ext uri="{BB962C8B-B14F-4D97-AF65-F5344CB8AC3E}">
        <p14:creationId xmlns="" xmlns:p14="http://schemas.microsoft.com/office/powerpoint/2010/main" val="306688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Set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6248400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Set interface: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Set is an unordered collection. It does not maintain any order while storing the elements. It does not allow duplicate elements.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if one requires to store a group of unique elements, set can be used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err="1" smtClean="0"/>
              <a:t>HashSet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err="1" smtClean="0"/>
              <a:t>LinkedHashSet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err="1" smtClean="0"/>
              <a:t>TreeSet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6688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Map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62484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Map interface:</a:t>
            </a:r>
          </a:p>
          <a:p>
            <a:r>
              <a:rPr lang="en-US" dirty="0" smtClean="0"/>
              <a:t>Map is an interface which maps keys to values in which each key has to be unique.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err="1" smtClean="0"/>
              <a:t>HashMap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err="1" smtClean="0"/>
              <a:t>Hashtable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err="1" smtClean="0"/>
              <a:t>TreeMap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6688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495300"/>
            <a:ext cx="36576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ArrayList Vs Vector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4419600" y="2514600"/>
            <a:ext cx="4343400" cy="16158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100" dirty="0" smtClean="0"/>
              <a:t>  ArrayList and Vector both having same data structure internally </a:t>
            </a:r>
          </a:p>
          <a:p>
            <a:pPr>
              <a:buFont typeface="Arial" pitchFamily="34" charset="0"/>
              <a:buChar char="•"/>
            </a:pPr>
            <a:r>
              <a:rPr lang="en-US" sz="1100" dirty="0" smtClean="0"/>
              <a:t>  </a:t>
            </a:r>
            <a:r>
              <a:rPr lang="en-US" sz="1100" dirty="0" err="1" smtClean="0"/>
              <a:t>ArrayVector</a:t>
            </a:r>
            <a:r>
              <a:rPr lang="en-US" sz="1100" dirty="0" smtClean="0"/>
              <a:t> is by default synchronized, means at a time only one thread can access its methods from out side, where as ArrayList is non-synchronized means N number of threads can access at a time</a:t>
            </a:r>
          </a:p>
          <a:p>
            <a:pPr>
              <a:buFont typeface="Arial" pitchFamily="34" charset="0"/>
              <a:buChar char="•"/>
            </a:pPr>
            <a:r>
              <a:rPr lang="en-US" sz="1100" dirty="0" smtClean="0"/>
              <a:t>  But we can make ArrayList as synchronized by using Collections class, see it bellow</a:t>
            </a:r>
          </a:p>
          <a:p>
            <a:pPr>
              <a:buFont typeface="Arial" pitchFamily="34" charset="0"/>
              <a:buChar char="•"/>
            </a:pPr>
            <a:r>
              <a:rPr lang="en-US" sz="1100" dirty="0" smtClean="0"/>
              <a:t>  Both Vector and ArrayList  have capability to re-size dynamically, means Vector will </a:t>
            </a:r>
            <a:r>
              <a:rPr lang="en-US" sz="1100" b="1" dirty="0" smtClean="0"/>
              <a:t>Doubles</a:t>
            </a:r>
            <a:r>
              <a:rPr lang="en-US" sz="1100" dirty="0" smtClean="0"/>
              <a:t> the size of its array when its size increased, but ArrayList increased by </a:t>
            </a:r>
            <a:r>
              <a:rPr lang="en-US" sz="1100" b="1" dirty="0" smtClean="0"/>
              <a:t>Half</a:t>
            </a:r>
            <a:r>
              <a:rPr lang="en-US" sz="1100" dirty="0" smtClean="0"/>
              <a:t> only </a:t>
            </a:r>
            <a:endParaRPr lang="en-US" sz="1100" dirty="0"/>
          </a:p>
        </p:txBody>
      </p:sp>
      <p:pic>
        <p:nvPicPr>
          <p:cNvPr id="7174" name="Picture 6" descr="https://www.java4s.com/wp-content/uploads/2012/11/arraylist-vector-differenc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676400"/>
            <a:ext cx="2895600" cy="289560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="" xmlns:p14="http://schemas.microsoft.com/office/powerpoint/2010/main" val="96103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495300"/>
            <a:ext cx="36576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LinkedList</a:t>
            </a:r>
            <a:endParaRPr lang="en-US" b="1" dirty="0"/>
          </a:p>
        </p:txBody>
      </p:sp>
      <p:pic>
        <p:nvPicPr>
          <p:cNvPr id="25602" name="Picture 2" descr="Image result for LinkedLis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19200"/>
            <a:ext cx="3124200" cy="249530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25604" name="Picture 4" descr="Image result for LinkedLis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1447800"/>
            <a:ext cx="4098326" cy="2151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="" xmlns:p14="http://schemas.microsoft.com/office/powerpoint/2010/main" val="96103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457200"/>
            <a:ext cx="36576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LinkedList Vs ArrayList</a:t>
            </a:r>
            <a:endParaRPr lang="en-US" b="1" dirty="0"/>
          </a:p>
        </p:txBody>
      </p:sp>
      <p:pic>
        <p:nvPicPr>
          <p:cNvPr id="25606" name="Picture 6" descr="https://i1.wp.com/agostini.tech/wp-content/uploads/2017/01/LinkedList.png?resize=625%2C10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371600"/>
            <a:ext cx="3429000" cy="102870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25608" name="Picture 8" descr="https://i0.wp.com/agostini.tech/wp-content/uploads/2017/01/LinkedList-1.png?resize=625%2C20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1371600"/>
            <a:ext cx="3428999" cy="113568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26626" name="Picture 2" descr="Remove Element at index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3943350"/>
            <a:ext cx="3505200" cy="26289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  <p:sp>
        <p:nvSpPr>
          <p:cNvPr id="9" name="Rectangle 8"/>
          <p:cNvSpPr/>
          <p:nvPr/>
        </p:nvSpPr>
        <p:spPr>
          <a:xfrm>
            <a:off x="533400" y="2971800"/>
            <a:ext cx="8382000" cy="6924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dirty="0" smtClean="0"/>
              <a:t>Element Manipulation</a:t>
            </a:r>
          </a:p>
          <a:p>
            <a:r>
              <a:rPr lang="en-US" sz="900" dirty="0" smtClean="0"/>
              <a:t>Element manipulation with ArrayList is slow because it uses internally Array, For storing or removing of any new element needs to shift other elements in Array</a:t>
            </a:r>
            <a:r>
              <a:rPr lang="en-US" dirty="0" smtClean="0"/>
              <a:t>.</a:t>
            </a:r>
          </a:p>
          <a:p>
            <a:r>
              <a:rPr lang="en-US" sz="900" dirty="0" smtClean="0"/>
              <a:t>Element manipulation with LinkedList is fast compare to ArrayList, For storing or removing of new element needs to update the node address only.</a:t>
            </a:r>
          </a:p>
        </p:txBody>
      </p:sp>
      <p:pic>
        <p:nvPicPr>
          <p:cNvPr id="26628" name="Picture 4" descr="Memory Allocation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95800" y="5029200"/>
            <a:ext cx="4096512" cy="1600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4419600" y="3733801"/>
            <a:ext cx="4343400" cy="120032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900" b="1" dirty="0" smtClean="0"/>
              <a:t>Memory Allocation</a:t>
            </a:r>
          </a:p>
          <a:p>
            <a:r>
              <a:rPr lang="en-US" sz="900" dirty="0" smtClean="0"/>
              <a:t>ArrayList uses Array as underline datastructure to store the elements, and we know Array stores elements in consecutive manner.</a:t>
            </a:r>
          </a:p>
          <a:p>
            <a:r>
              <a:rPr lang="en-US" sz="900" dirty="0" smtClean="0"/>
              <a:t>In LinkedList, elements can be stored at any available memory location as address of node is stored in previous node.</a:t>
            </a:r>
          </a:p>
          <a:p>
            <a:r>
              <a:rPr lang="en-US" sz="900" b="1" dirty="0" smtClean="0"/>
              <a:t>Element Retrieval</a:t>
            </a:r>
          </a:p>
          <a:p>
            <a:r>
              <a:rPr lang="en-US" sz="900" dirty="0" smtClean="0"/>
              <a:t>Element retrieval in ArrayList is much faster then LinkedList, ArrayList take O(1) of time to retrieve any location where LinkedList take O(n) time to retrieve the element.</a:t>
            </a:r>
            <a:endParaRPr lang="en-US" sz="900" dirty="0"/>
          </a:p>
        </p:txBody>
      </p:sp>
    </p:spTree>
    <p:extLst>
      <p:ext uri="{BB962C8B-B14F-4D97-AF65-F5344CB8AC3E}">
        <p14:creationId xmlns="" xmlns:p14="http://schemas.microsoft.com/office/powerpoint/2010/main" val="96103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457200"/>
            <a:ext cx="36576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Set</a:t>
            </a:r>
            <a:endParaRPr lang="en-US" b="1" dirty="0"/>
          </a:p>
        </p:txBody>
      </p:sp>
      <p:sp>
        <p:nvSpPr>
          <p:cNvPr id="10" name="Rectangle 9"/>
          <p:cNvSpPr/>
          <p:nvPr/>
        </p:nvSpPr>
        <p:spPr>
          <a:xfrm>
            <a:off x="533400" y="1600200"/>
            <a:ext cx="3581400" cy="30162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Set in Java</a:t>
            </a:r>
          </a:p>
          <a:p>
            <a:endParaRPr lang="en-US" b="1" dirty="0" smtClean="0"/>
          </a:p>
          <a:p>
            <a:pPr>
              <a:buFont typeface="Arial" pitchFamily="34" charset="0"/>
              <a:buChar char="•"/>
            </a:pPr>
            <a:r>
              <a:rPr lang="en-US" sz="1400" dirty="0" smtClean="0"/>
              <a:t>Set is an interface which extends Collection. </a:t>
            </a:r>
          </a:p>
          <a:p>
            <a:pPr>
              <a:buFont typeface="Arial" pitchFamily="34" charset="0"/>
              <a:buChar char="•"/>
            </a:pPr>
            <a:endParaRPr lang="en-US" sz="1400" dirty="0" smtClean="0"/>
          </a:p>
          <a:p>
            <a:pPr>
              <a:buFont typeface="Arial" pitchFamily="34" charset="0"/>
              <a:buChar char="•"/>
            </a:pPr>
            <a:r>
              <a:rPr lang="en-US" sz="1400" dirty="0" smtClean="0"/>
              <a:t>It is an unordered collection of objects in which duplicate values cannot be stored.</a:t>
            </a:r>
          </a:p>
          <a:p>
            <a:pPr>
              <a:buFont typeface="Arial" pitchFamily="34" charset="0"/>
              <a:buChar char="•"/>
            </a:pPr>
            <a:endParaRPr lang="en-US" sz="1400" dirty="0" smtClean="0"/>
          </a:p>
          <a:p>
            <a:pPr>
              <a:buFont typeface="Arial" pitchFamily="34" charset="0"/>
              <a:buChar char="•"/>
            </a:pPr>
            <a:r>
              <a:rPr lang="en-US" sz="1400" dirty="0" smtClean="0"/>
              <a:t>Basically, Set is implemented by </a:t>
            </a:r>
            <a:r>
              <a:rPr lang="en-US" sz="1400" dirty="0" err="1" smtClean="0"/>
              <a:t>HashSet</a:t>
            </a:r>
            <a:r>
              <a:rPr lang="en-US" sz="1400" dirty="0" smtClean="0"/>
              <a:t>, </a:t>
            </a:r>
            <a:r>
              <a:rPr lang="en-US" sz="1400" dirty="0" err="1" smtClean="0"/>
              <a:t>LinkedHashSet</a:t>
            </a:r>
            <a:r>
              <a:rPr lang="en-US" sz="1400" dirty="0" smtClean="0"/>
              <a:t> or </a:t>
            </a:r>
            <a:r>
              <a:rPr lang="en-US" sz="1400" dirty="0" err="1" smtClean="0"/>
              <a:t>TreeSet</a:t>
            </a:r>
            <a:r>
              <a:rPr lang="en-US" sz="1400" dirty="0" smtClean="0"/>
              <a:t> (sorted representation).</a:t>
            </a:r>
          </a:p>
          <a:p>
            <a:pPr>
              <a:buFont typeface="Arial" pitchFamily="34" charset="0"/>
              <a:buChar char="•"/>
            </a:pPr>
            <a:endParaRPr lang="en-US" sz="1400" dirty="0" smtClean="0"/>
          </a:p>
          <a:p>
            <a:pPr>
              <a:buFont typeface="Arial" pitchFamily="34" charset="0"/>
              <a:buChar char="•"/>
            </a:pPr>
            <a:r>
              <a:rPr lang="en-US" sz="1400" dirty="0" smtClean="0"/>
              <a:t>Set has various methods to add, remove clear, size, etc to enhance the usage of this interface</a:t>
            </a:r>
            <a:endParaRPr lang="en-US" sz="1400" dirty="0"/>
          </a:p>
        </p:txBody>
      </p:sp>
      <p:sp>
        <p:nvSpPr>
          <p:cNvPr id="2050" name="AutoShape 2" descr="Image result for set in jav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Image result for set in jav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1981200"/>
            <a:ext cx="3718593" cy="229393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="" xmlns:p14="http://schemas.microsoft.com/office/powerpoint/2010/main" val="96103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457200"/>
            <a:ext cx="36576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Map</a:t>
            </a:r>
            <a:endParaRPr lang="en-US" b="1" dirty="0"/>
          </a:p>
        </p:txBody>
      </p:sp>
      <p:sp>
        <p:nvSpPr>
          <p:cNvPr id="2050" name="AutoShape 2" descr="Image result for set in jav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Image result for map in jav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066800"/>
            <a:ext cx="5981700" cy="29908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7" name="Rectangle 6"/>
          <p:cNvSpPr/>
          <p:nvPr/>
        </p:nvSpPr>
        <p:spPr>
          <a:xfrm>
            <a:off x="4800600" y="1143000"/>
            <a:ext cx="4191000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000" b="1" dirty="0" smtClean="0"/>
              <a:t>Map</a:t>
            </a:r>
            <a:r>
              <a:rPr lang="en-US" sz="1000" dirty="0" smtClean="0"/>
              <a:t> “” an object that maps keys to values. A Map cannot contain duplicate keys; each key can map to at most one value. </a:t>
            </a:r>
            <a:endParaRPr lang="en-US" sz="1000" dirty="0"/>
          </a:p>
        </p:txBody>
      </p:sp>
      <p:pic>
        <p:nvPicPr>
          <p:cNvPr id="1030" name="Picture 6" descr="Related imag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4495800"/>
            <a:ext cx="3429000" cy="21719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pic>
      <p:pic>
        <p:nvPicPr>
          <p:cNvPr id="2" name="Picture 2" descr="Image result for map in jav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" y="4495800"/>
            <a:ext cx="3533001" cy="221713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="" xmlns:p14="http://schemas.microsoft.com/office/powerpoint/2010/main" val="96103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ccess-modifiers-in-jav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676400"/>
            <a:ext cx="5260975" cy="1796809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533400" y="457200"/>
            <a:ext cx="36576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Access Modifiers:</a:t>
            </a:r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val="341484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133600"/>
            <a:ext cx="2143125" cy="2143125"/>
          </a:xfrm>
          <a:prstGeom prst="rect">
            <a:avLst/>
          </a:prstGeom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="" xmlns:p14="http://schemas.microsoft.com/office/powerpoint/2010/main" val="341484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868</TotalTime>
  <Words>486</Words>
  <Application>Microsoft Office PowerPoint</Application>
  <PresentationFormat>On-screen Show (4:3)</PresentationFormat>
  <Paragraphs>54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Intellion 2</dc:creator>
  <cp:lastModifiedBy>Muralibabu</cp:lastModifiedBy>
  <cp:revision>131</cp:revision>
  <dcterms:created xsi:type="dcterms:W3CDTF">2006-08-16T00:00:00Z</dcterms:created>
  <dcterms:modified xsi:type="dcterms:W3CDTF">2019-06-29T07:16:02Z</dcterms:modified>
</cp:coreProperties>
</file>