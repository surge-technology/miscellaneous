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8" r:id="rId2"/>
    <p:sldId id="286" r:id="rId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25" autoAdjust="0"/>
    <p:restoredTop sz="94660"/>
  </p:normalViewPr>
  <p:slideViewPr>
    <p:cSldViewPr>
      <p:cViewPr>
        <p:scale>
          <a:sx n="100" d="100"/>
          <a:sy n="100" d="100"/>
        </p:scale>
        <p:origin x="-1212" y="3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20053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59570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7776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569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5/22/2019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78967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5/22/2019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30089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77680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25844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52017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24957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99500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5/22/2019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618247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java garbage collec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819400"/>
            <a:ext cx="2686050" cy="170497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657600" y="1382286"/>
            <a:ext cx="4572000" cy="116955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spAutoFit/>
          </a:bodyPr>
          <a:lstStyle/>
          <a:p>
            <a:r>
              <a:rPr lang="en-US" sz="1400" dirty="0"/>
              <a:t>In Java destruction of object from memory is done automatically by the JVM. When there is no reference to an object, then that object is assumed to be no longer needed and the memory occupied by the object are released. This technique is called Garbage Collection. </a:t>
            </a:r>
          </a:p>
        </p:txBody>
      </p:sp>
      <p:sp>
        <p:nvSpPr>
          <p:cNvPr id="5" name="Rectangle 4"/>
          <p:cNvSpPr/>
          <p:nvPr/>
        </p:nvSpPr>
        <p:spPr>
          <a:xfrm>
            <a:off x="609600" y="609600"/>
            <a:ext cx="2367764" cy="369332"/>
          </a:xfrm>
          <a:prstGeom prst="rect">
            <a:avLst/>
          </a:prstGeom>
        </p:spPr>
        <p:style>
          <a:lnRef idx="1">
            <a:schemeClr val="accent5"/>
          </a:lnRef>
          <a:fillRef idx="3">
            <a:schemeClr val="accent5"/>
          </a:fillRef>
          <a:effectRef idx="2">
            <a:schemeClr val="accent5"/>
          </a:effectRef>
          <a:fontRef idx="minor">
            <a:schemeClr val="lt1"/>
          </a:fontRef>
        </p:style>
        <p:txBody>
          <a:bodyPr wrap="none">
            <a:spAutoFit/>
          </a:bodyPr>
          <a:lstStyle/>
          <a:p>
            <a:r>
              <a:rPr lang="en-US" dirty="0" smtClean="0"/>
              <a:t>Java Garbage Collector</a:t>
            </a:r>
            <a:r>
              <a:rPr lang="en-US" dirty="0" smtClean="0"/>
              <a:t> </a:t>
            </a:r>
            <a:endParaRPr lang="en-US" dirty="0"/>
          </a:p>
        </p:txBody>
      </p:sp>
      <p:sp>
        <p:nvSpPr>
          <p:cNvPr id="4" name="Rectangle 3"/>
          <p:cNvSpPr/>
          <p:nvPr/>
        </p:nvSpPr>
        <p:spPr>
          <a:xfrm>
            <a:off x="3695700" y="4524376"/>
            <a:ext cx="4572000" cy="187743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spAutoFit/>
          </a:bodyPr>
          <a:lstStyle/>
          <a:p>
            <a:r>
              <a:rPr lang="en-US" dirty="0"/>
              <a:t>Advantages of Garbage Collection</a:t>
            </a:r>
          </a:p>
          <a:p>
            <a:pPr marL="285750" indent="-285750">
              <a:buFont typeface="Arial" panose="020B0604020202020204" pitchFamily="34" charset="0"/>
              <a:buChar char="•"/>
            </a:pPr>
            <a:r>
              <a:rPr lang="en-US" sz="1400" dirty="0" smtClean="0"/>
              <a:t>The </a:t>
            </a:r>
            <a:r>
              <a:rPr lang="en-US" sz="1400" dirty="0"/>
              <a:t>programmer doesn't need to worry about </a:t>
            </a:r>
            <a:r>
              <a:rPr lang="en-US" sz="1400" dirty="0" smtClean="0"/>
              <a:t>dereferencing </a:t>
            </a:r>
            <a:r>
              <a:rPr lang="en-US" sz="1400" dirty="0"/>
              <a:t>an </a:t>
            </a:r>
            <a:r>
              <a:rPr lang="en-US" sz="1400" dirty="0" smtClean="0"/>
              <a:t>object.</a:t>
            </a:r>
          </a:p>
          <a:p>
            <a:pPr marL="285750" indent="-285750">
              <a:buFont typeface="Arial" panose="020B0604020202020204" pitchFamily="34" charset="0"/>
              <a:buChar char="•"/>
            </a:pPr>
            <a:r>
              <a:rPr lang="en-US" sz="1400" dirty="0" smtClean="0"/>
              <a:t>Increases </a:t>
            </a:r>
            <a:r>
              <a:rPr lang="en-US" sz="1400" dirty="0"/>
              <a:t>memory efficiency because garbage collector removes the unreferenced objects from heap </a:t>
            </a:r>
            <a:r>
              <a:rPr lang="en-US" sz="1400" dirty="0" smtClean="0"/>
              <a:t>memory decreases </a:t>
            </a:r>
            <a:r>
              <a:rPr lang="en-US" sz="1400" dirty="0"/>
              <a:t>the chances of the memory </a:t>
            </a:r>
            <a:r>
              <a:rPr lang="en-US" sz="1400" dirty="0" smtClean="0"/>
              <a:t>leak.</a:t>
            </a:r>
          </a:p>
          <a:p>
            <a:pPr marL="285750" indent="-285750">
              <a:buFont typeface="Arial" panose="020B0604020202020204" pitchFamily="34" charset="0"/>
              <a:buChar char="•"/>
            </a:pPr>
            <a:r>
              <a:rPr lang="en-US" sz="1400" dirty="0" smtClean="0"/>
              <a:t>It </a:t>
            </a:r>
            <a:r>
              <a:rPr lang="en-US" sz="1400" dirty="0"/>
              <a:t>is done automatically by JVM so we don't need to make extra efforts.</a:t>
            </a:r>
          </a:p>
        </p:txBody>
      </p:sp>
    </p:spTree>
    <p:extLst>
      <p:ext uri="{BB962C8B-B14F-4D97-AF65-F5344CB8AC3E}">
        <p14:creationId xmlns:p14="http://schemas.microsoft.com/office/powerpoint/2010/main" val="37320897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520512"/>
            <a:ext cx="4572000" cy="1477328"/>
          </a:xfrm>
          <a:prstGeom prst="rect">
            <a:avLst/>
          </a:prstGeom>
          <a:solidFill>
            <a:srgbClr val="92D050"/>
          </a:solidFill>
        </p:spPr>
        <p:style>
          <a:lnRef idx="2">
            <a:schemeClr val="accent5"/>
          </a:lnRef>
          <a:fillRef idx="1">
            <a:schemeClr val="lt1"/>
          </a:fillRef>
          <a:effectRef idx="0">
            <a:schemeClr val="accent5"/>
          </a:effectRef>
          <a:fontRef idx="minor">
            <a:schemeClr val="dk1"/>
          </a:fontRef>
        </p:style>
        <p:txBody>
          <a:bodyPr>
            <a:spAutoFit/>
          </a:bodyPr>
          <a:lstStyle/>
          <a:p>
            <a:r>
              <a:rPr lang="en-US" dirty="0"/>
              <a:t>How can an object be unreferenced?</a:t>
            </a:r>
          </a:p>
          <a:p>
            <a:r>
              <a:rPr lang="en-US" dirty="0" smtClean="0"/>
              <a:t>There </a:t>
            </a:r>
            <a:r>
              <a:rPr lang="en-US" dirty="0"/>
              <a:t>are many ways:</a:t>
            </a:r>
          </a:p>
          <a:p>
            <a:pPr marL="285750" indent="-285750">
              <a:buFont typeface="Arial" panose="020B0604020202020204" pitchFamily="34" charset="0"/>
              <a:buChar char="•"/>
            </a:pPr>
            <a:r>
              <a:rPr lang="en-US" dirty="0" smtClean="0"/>
              <a:t>    </a:t>
            </a:r>
            <a:r>
              <a:rPr lang="en-US" dirty="0"/>
              <a:t>By nulling the reference</a:t>
            </a:r>
          </a:p>
          <a:p>
            <a:pPr marL="285750" indent="-285750">
              <a:buFont typeface="Arial" panose="020B0604020202020204" pitchFamily="34" charset="0"/>
              <a:buChar char="•"/>
            </a:pPr>
            <a:r>
              <a:rPr lang="en-US" dirty="0"/>
              <a:t>    By assigning a reference to another</a:t>
            </a:r>
          </a:p>
          <a:p>
            <a:pPr marL="285750" indent="-285750">
              <a:buFont typeface="Arial" panose="020B0604020202020204" pitchFamily="34" charset="0"/>
              <a:buChar char="•"/>
            </a:pPr>
            <a:r>
              <a:rPr lang="en-US" dirty="0"/>
              <a:t>    By anonymous object etc</a:t>
            </a:r>
            <a:r>
              <a:rPr lang="en-US" dirty="0" smtClean="0"/>
              <a:t>.    </a:t>
            </a:r>
            <a:endParaRPr lang="en-US" dirty="0"/>
          </a:p>
        </p:txBody>
      </p:sp>
      <p:sp>
        <p:nvSpPr>
          <p:cNvPr id="5" name="Rectangle 4"/>
          <p:cNvSpPr/>
          <p:nvPr/>
        </p:nvSpPr>
        <p:spPr>
          <a:xfrm>
            <a:off x="2286000" y="3105835"/>
            <a:ext cx="4572000" cy="646331"/>
          </a:xfrm>
          <a:prstGeom prst="rect">
            <a:avLst/>
          </a:prstGeom>
        </p:spPr>
        <p:style>
          <a:lnRef idx="3">
            <a:schemeClr val="lt1"/>
          </a:lnRef>
          <a:fillRef idx="1">
            <a:schemeClr val="accent5"/>
          </a:fillRef>
          <a:effectRef idx="1">
            <a:schemeClr val="accent5"/>
          </a:effectRef>
          <a:fontRef idx="minor">
            <a:schemeClr val="lt1"/>
          </a:fontRef>
        </p:style>
        <p:txBody>
          <a:bodyPr>
            <a:spAutoFit/>
          </a:bodyPr>
          <a:lstStyle/>
          <a:p>
            <a:r>
              <a:rPr lang="en-US" dirty="0"/>
              <a:t>Employee e=new Employee();  </a:t>
            </a:r>
          </a:p>
          <a:p>
            <a:r>
              <a:rPr lang="en-US" dirty="0"/>
              <a:t>e=null; </a:t>
            </a:r>
          </a:p>
        </p:txBody>
      </p:sp>
      <p:sp>
        <p:nvSpPr>
          <p:cNvPr id="6" name="Rectangle 5"/>
          <p:cNvSpPr/>
          <p:nvPr/>
        </p:nvSpPr>
        <p:spPr>
          <a:xfrm>
            <a:off x="2286000" y="4267200"/>
            <a:ext cx="4572000" cy="1200329"/>
          </a:xfrm>
          <a:prstGeom prst="rect">
            <a:avLst/>
          </a:prstGeom>
        </p:spPr>
        <p:style>
          <a:lnRef idx="3">
            <a:schemeClr val="lt1"/>
          </a:lnRef>
          <a:fillRef idx="1">
            <a:schemeClr val="accent5"/>
          </a:fillRef>
          <a:effectRef idx="1">
            <a:schemeClr val="accent5"/>
          </a:effectRef>
          <a:fontRef idx="minor">
            <a:schemeClr val="lt1"/>
          </a:fontRef>
        </p:style>
        <p:txBody>
          <a:bodyPr>
            <a:spAutoFit/>
          </a:bodyPr>
          <a:lstStyle/>
          <a:p>
            <a:r>
              <a:rPr lang="en-US" dirty="0"/>
              <a:t>Employee p1=new Employee();  </a:t>
            </a:r>
          </a:p>
          <a:p>
            <a:r>
              <a:rPr lang="en-US" dirty="0"/>
              <a:t>Employee p2=new Employee();  </a:t>
            </a:r>
          </a:p>
          <a:p>
            <a:r>
              <a:rPr lang="en-US" dirty="0"/>
              <a:t>p1=p2;//now the first object referred by p1 is available for garbage collection</a:t>
            </a:r>
          </a:p>
        </p:txBody>
      </p:sp>
      <p:sp>
        <p:nvSpPr>
          <p:cNvPr id="7" name="Rectangle 6"/>
          <p:cNvSpPr/>
          <p:nvPr/>
        </p:nvSpPr>
        <p:spPr>
          <a:xfrm>
            <a:off x="2286000" y="5943600"/>
            <a:ext cx="1819344" cy="369332"/>
          </a:xfrm>
          <a:prstGeom prst="rect">
            <a:avLst/>
          </a:prstGeom>
        </p:spPr>
        <p:style>
          <a:lnRef idx="3">
            <a:schemeClr val="lt1"/>
          </a:lnRef>
          <a:fillRef idx="1">
            <a:schemeClr val="accent5"/>
          </a:fillRef>
          <a:effectRef idx="1">
            <a:schemeClr val="accent5"/>
          </a:effectRef>
          <a:fontRef idx="minor">
            <a:schemeClr val="lt1"/>
          </a:fontRef>
        </p:style>
        <p:txBody>
          <a:bodyPr wrap="none">
            <a:spAutoFit/>
          </a:bodyPr>
          <a:lstStyle/>
          <a:p>
            <a:r>
              <a:rPr lang="en-US" dirty="0"/>
              <a:t>new Employee(); </a:t>
            </a:r>
          </a:p>
        </p:txBody>
      </p:sp>
    </p:spTree>
    <p:extLst>
      <p:ext uri="{BB962C8B-B14F-4D97-AF65-F5344CB8AC3E}">
        <p14:creationId xmlns:p14="http://schemas.microsoft.com/office/powerpoint/2010/main" val="157153542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264</TotalTime>
  <Words>165</Words>
  <Application>Microsoft Office PowerPoint</Application>
  <PresentationFormat>On-screen Show (4:3)</PresentationFormat>
  <Paragraphs>17</Paragraphs>
  <Slides>2</Slides>
  <Notes>0</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Intellion 2</dc:creator>
  <cp:lastModifiedBy>Intellion 2</cp:lastModifiedBy>
  <cp:revision>106</cp:revision>
  <dcterms:created xsi:type="dcterms:W3CDTF">2006-08-16T00:00:00Z</dcterms:created>
  <dcterms:modified xsi:type="dcterms:W3CDTF">2019-05-22T09:49:05Z</dcterms:modified>
</cp:coreProperties>
</file>