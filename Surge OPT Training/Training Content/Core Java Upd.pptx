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56" r:id="rId3"/>
    <p:sldId id="279" r:id="rId4"/>
    <p:sldId id="280" r:id="rId5"/>
    <p:sldId id="281" r:id="rId6"/>
    <p:sldId id="282" r:id="rId7"/>
    <p:sldId id="258" r:id="rId8"/>
    <p:sldId id="259" r:id="rId9"/>
    <p:sldId id="257" r:id="rId10"/>
    <p:sldId id="260" r:id="rId11"/>
    <p:sldId id="261" r:id="rId12"/>
    <p:sldId id="283" r:id="rId13"/>
    <p:sldId id="262" r:id="rId14"/>
    <p:sldId id="263" r:id="rId15"/>
    <p:sldId id="285" r:id="rId16"/>
    <p:sldId id="284" r:id="rId17"/>
    <p:sldId id="264" r:id="rId18"/>
    <p:sldId id="265" r:id="rId19"/>
    <p:sldId id="286" r:id="rId20"/>
    <p:sldId id="268" r:id="rId21"/>
    <p:sldId id="267" r:id="rId22"/>
    <p:sldId id="266" r:id="rId23"/>
    <p:sldId id="276" r:id="rId24"/>
    <p:sldId id="275" r:id="rId25"/>
    <p:sldId id="274" r:id="rId26"/>
    <p:sldId id="272" r:id="rId27"/>
    <p:sldId id="273" r:id="rId28"/>
    <p:sldId id="271" r:id="rId29"/>
    <p:sldId id="270" r:id="rId30"/>
    <p:sldId id="26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425" autoAdjust="0"/>
    <p:restoredTop sz="94660"/>
  </p:normalViewPr>
  <p:slideViewPr>
    <p:cSldViewPr>
      <p:cViewPr>
        <p:scale>
          <a:sx n="100" d="100"/>
          <a:sy n="100" d="100"/>
        </p:scale>
        <p:origin x="-594"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363686" y="2133600"/>
            <a:ext cx="2133600" cy="2143125"/>
          </a:xfrm>
          <a:prstGeom prst="rect">
            <a:avLst/>
          </a:prstGeom>
          <a:ln/>
          <a:effectLst>
            <a:glow rad="139700">
              <a:schemeClr val="accent2">
                <a:satMod val="175000"/>
                <a:alpha val="40000"/>
              </a:schemeClr>
            </a:glow>
            <a:outerShdw blurRad="40000" dist="20000" dir="5400000" rotWithShape="0">
              <a:srgbClr val="000000">
                <a:alpha val="38000"/>
              </a:srgbClr>
            </a:outerShdw>
          </a:effectLst>
        </p:spPr>
        <p:style>
          <a:lnRef idx="1">
            <a:schemeClr val="accent3"/>
          </a:lnRef>
          <a:fillRef idx="2">
            <a:schemeClr val="accent3"/>
          </a:fillRef>
          <a:effectRef idx="1">
            <a:schemeClr val="accent3"/>
          </a:effectRef>
          <a:fontRef idx="minor">
            <a:schemeClr val="dk1"/>
          </a:fontRef>
        </p:style>
      </p:pic>
    </p:spTree>
    <p:extLst>
      <p:ext uri="{BB962C8B-B14F-4D97-AF65-F5344CB8AC3E}">
        <p14:creationId xmlns:p14="http://schemas.microsoft.com/office/powerpoint/2010/main" xmlns="" val="37320897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2950" y="794657"/>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What is JAVA ?</a:t>
            </a:r>
            <a:endParaRPr lang="en-US" b="1" dirty="0"/>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143250" y="2119313"/>
            <a:ext cx="2857500" cy="26193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Rectangle 3"/>
          <p:cNvSpPr/>
          <p:nvPr/>
        </p:nvSpPr>
        <p:spPr>
          <a:xfrm>
            <a:off x="914400" y="3048000"/>
            <a:ext cx="14478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Class-based</a:t>
            </a:r>
            <a:r>
              <a:rPr lang="en-US" sz="1000" dirty="0"/>
              <a:t> and an </a:t>
            </a:r>
            <a:r>
              <a:rPr lang="en-US" sz="1000" b="1" dirty="0"/>
              <a:t>object-oriented</a:t>
            </a:r>
            <a:r>
              <a:rPr lang="en-US" sz="1000" dirty="0"/>
              <a:t> programming language.</a:t>
            </a:r>
          </a:p>
        </p:txBody>
      </p:sp>
      <p:sp>
        <p:nvSpPr>
          <p:cNvPr id="6" name="Rectangle 5"/>
          <p:cNvSpPr/>
          <p:nvPr/>
        </p:nvSpPr>
        <p:spPr>
          <a:xfrm>
            <a:off x="6858000" y="4686301"/>
            <a:ext cx="14478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Concurrent</a:t>
            </a:r>
            <a:r>
              <a:rPr lang="en-US" sz="1000" dirty="0"/>
              <a:t> where you can execute many statements</a:t>
            </a:r>
          </a:p>
        </p:txBody>
      </p:sp>
      <p:sp>
        <p:nvSpPr>
          <p:cNvPr id="7" name="Rectangle 6"/>
          <p:cNvSpPr/>
          <p:nvPr/>
        </p:nvSpPr>
        <p:spPr>
          <a:xfrm>
            <a:off x="6858000" y="1752600"/>
            <a:ext cx="14478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Independent</a:t>
            </a:r>
            <a:r>
              <a:rPr lang="en-US" sz="1000" dirty="0"/>
              <a:t> programming language that follows the logic of “</a:t>
            </a:r>
            <a:r>
              <a:rPr lang="en-US" sz="1000" b="1" dirty="0"/>
              <a:t>Write once, Run anywhere</a:t>
            </a:r>
            <a:r>
              <a:rPr lang="en-US" sz="1000" dirty="0"/>
              <a:t>”</a:t>
            </a:r>
          </a:p>
        </p:txBody>
      </p:sp>
    </p:spTree>
    <p:extLst>
      <p:ext uri="{BB962C8B-B14F-4D97-AF65-F5344CB8AC3E}">
        <p14:creationId xmlns:p14="http://schemas.microsoft.com/office/powerpoint/2010/main" xmlns="" val="17428032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2950" y="794657"/>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Components Of Java</a:t>
            </a:r>
            <a:endParaRPr lang="en-US" b="1" dirty="0"/>
          </a:p>
        </p:txBody>
      </p:sp>
      <p:sp>
        <p:nvSpPr>
          <p:cNvPr id="3" name="Rectangle 2"/>
          <p:cNvSpPr/>
          <p:nvPr/>
        </p:nvSpPr>
        <p:spPr>
          <a:xfrm>
            <a:off x="1177906" y="1600200"/>
            <a:ext cx="3543599" cy="923330"/>
          </a:xfrm>
          <a:prstGeom prst="rect">
            <a:avLst/>
          </a:prstGeom>
        </p:spPr>
        <p:txBody>
          <a:bodyPr wrap="none">
            <a:spAutoFit/>
          </a:bodyPr>
          <a:lstStyle/>
          <a:p>
            <a:pPr marL="285750" indent="-285750">
              <a:buFont typeface="Arial" panose="020B0604020202020204" pitchFamily="34" charset="0"/>
              <a:buChar char="•"/>
            </a:pPr>
            <a:r>
              <a:rPr lang="en-US" b="1" dirty="0"/>
              <a:t>JVM (Java Virtual </a:t>
            </a:r>
            <a:r>
              <a:rPr lang="en-US" b="1" dirty="0" smtClean="0"/>
              <a:t>Machine)</a:t>
            </a:r>
          </a:p>
          <a:p>
            <a:pPr marL="285750" indent="-285750">
              <a:buFont typeface="Arial" panose="020B0604020202020204" pitchFamily="34" charset="0"/>
              <a:buChar char="•"/>
            </a:pPr>
            <a:r>
              <a:rPr lang="en-US" b="1" dirty="0"/>
              <a:t>JRE (Java Runtime Environment</a:t>
            </a:r>
            <a:r>
              <a:rPr lang="en-US" b="1" dirty="0" smtClean="0"/>
              <a:t>)</a:t>
            </a:r>
          </a:p>
          <a:p>
            <a:pPr marL="285750" indent="-285750">
              <a:buFont typeface="Arial" panose="020B0604020202020204" pitchFamily="34" charset="0"/>
              <a:buChar char="•"/>
            </a:pPr>
            <a:r>
              <a:rPr lang="en-US" b="1" dirty="0"/>
              <a:t>JDK(Java Development Kit)</a:t>
            </a:r>
            <a:endParaRPr lang="en-US" dirty="0"/>
          </a:p>
        </p:txBody>
      </p:sp>
      <p:pic>
        <p:nvPicPr>
          <p:cNvPr id="2050" name="Picture 2" descr="Image result for jvm vs jre vs jdk"/>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981200" y="2657474"/>
            <a:ext cx="6000750" cy="40005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6077790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42950" y="1528763"/>
            <a:ext cx="7658100" cy="3800475"/>
          </a:xfrm>
          <a:prstGeom prst="rect">
            <a:avLst/>
          </a:prstGeom>
          <a:ln>
            <a:solidFill>
              <a:schemeClr val="bg2">
                <a:lumMod val="50000"/>
              </a:schemeClr>
            </a:solidFill>
          </a:ln>
          <a:effectLst>
            <a:innerShdw blurRad="63500" dist="50800" dir="13500000">
              <a:prstClr val="black">
                <a:alpha val="50000"/>
              </a:prstClr>
            </a:innerShdw>
          </a:effectLst>
        </p:spPr>
        <p:style>
          <a:lnRef idx="2">
            <a:schemeClr val="accent1"/>
          </a:lnRef>
          <a:fillRef idx="1">
            <a:schemeClr val="lt1"/>
          </a:fillRef>
          <a:effectRef idx="0">
            <a:schemeClr val="accent1"/>
          </a:effectRef>
          <a:fontRef idx="minor">
            <a:schemeClr val="dk1"/>
          </a:fontRef>
        </p:style>
      </p:pic>
      <p:sp>
        <p:nvSpPr>
          <p:cNvPr id="2" name="TextBox 1"/>
          <p:cNvSpPr txBox="1"/>
          <p:nvPr/>
        </p:nvSpPr>
        <p:spPr>
          <a:xfrm>
            <a:off x="742950" y="794657"/>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Java – Platform Independent</a:t>
            </a:r>
            <a:endParaRPr lang="en-US" b="1" dirty="0"/>
          </a:p>
        </p:txBody>
      </p:sp>
    </p:spTree>
    <p:extLst>
      <p:ext uri="{BB962C8B-B14F-4D97-AF65-F5344CB8AC3E}">
        <p14:creationId xmlns:p14="http://schemas.microsoft.com/office/powerpoint/2010/main" xmlns="" val="40881190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2950" y="794657"/>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Java – Data Types</a:t>
            </a:r>
            <a:endParaRPr lang="en-US"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43000" y="1752600"/>
            <a:ext cx="6009918" cy="475705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8500809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6800" y="7620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Java – My First HelloWorld Program</a:t>
            </a:r>
            <a:endParaRPr lang="en-US" b="1" dirty="0"/>
          </a:p>
        </p:txBody>
      </p:sp>
      <p:sp>
        <p:nvSpPr>
          <p:cNvPr id="3" name="Rectangle 2"/>
          <p:cNvSpPr/>
          <p:nvPr/>
        </p:nvSpPr>
        <p:spPr>
          <a:xfrm>
            <a:off x="2286000" y="2690336"/>
            <a:ext cx="4572000" cy="147732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r>
              <a:rPr lang="en-US" dirty="0"/>
              <a:t>public class </a:t>
            </a:r>
            <a:r>
              <a:rPr lang="en-US" dirty="0" smtClean="0"/>
              <a:t>HelloWorld{</a:t>
            </a:r>
            <a:endParaRPr lang="en-US" dirty="0"/>
          </a:p>
          <a:p>
            <a:r>
              <a:rPr lang="en-US" dirty="0"/>
              <a:t>    public static void main(String[] </a:t>
            </a:r>
            <a:r>
              <a:rPr lang="en-US" dirty="0" err="1"/>
              <a:t>args</a:t>
            </a:r>
            <a:r>
              <a:rPr lang="en-US" dirty="0"/>
              <a:t>) {</a:t>
            </a:r>
          </a:p>
          <a:p>
            <a:r>
              <a:rPr lang="en-US" dirty="0"/>
              <a:t>        System.out.println</a:t>
            </a:r>
            <a:r>
              <a:rPr lang="en-US" dirty="0" smtClean="0"/>
              <a:t>(“Hello Welcome");</a:t>
            </a:r>
            <a:endParaRPr lang="en-US" dirty="0"/>
          </a:p>
          <a:p>
            <a:r>
              <a:rPr lang="en-US" dirty="0"/>
              <a:t>    }</a:t>
            </a:r>
          </a:p>
          <a:p>
            <a:r>
              <a:rPr lang="en-US" dirty="0"/>
              <a:t>}</a:t>
            </a:r>
          </a:p>
        </p:txBody>
      </p:sp>
    </p:spTree>
    <p:extLst>
      <p:ext uri="{BB962C8B-B14F-4D97-AF65-F5344CB8AC3E}">
        <p14:creationId xmlns:p14="http://schemas.microsoft.com/office/powerpoint/2010/main" xmlns="" val="26344521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14400" y="1362075"/>
            <a:ext cx="6762750" cy="4962525"/>
          </a:xfrm>
          <a:prstGeom prst="rect">
            <a:avLst/>
          </a:prstGeom>
          <a:ln/>
        </p:spPr>
        <p:style>
          <a:lnRef idx="2">
            <a:schemeClr val="accent1"/>
          </a:lnRef>
          <a:fillRef idx="1">
            <a:schemeClr val="lt1"/>
          </a:fillRef>
          <a:effectRef idx="0">
            <a:schemeClr val="accent1"/>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Java – Class</a:t>
            </a:r>
            <a:endParaRPr lang="en-US" b="1" dirty="0"/>
          </a:p>
        </p:txBody>
      </p:sp>
    </p:spTree>
    <p:extLst>
      <p:ext uri="{BB962C8B-B14F-4D97-AF65-F5344CB8AC3E}">
        <p14:creationId xmlns:p14="http://schemas.microsoft.com/office/powerpoint/2010/main" xmlns="" val="39601381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95350" y="1357313"/>
            <a:ext cx="7353300" cy="4143375"/>
          </a:xfrm>
          <a:prstGeom prst="rect">
            <a:avLst/>
          </a:prstGeom>
          <a:ln/>
        </p:spPr>
        <p:style>
          <a:lnRef idx="2">
            <a:schemeClr val="accent1"/>
          </a:lnRef>
          <a:fillRef idx="1">
            <a:schemeClr val="lt1"/>
          </a:fillRef>
          <a:effectRef idx="0">
            <a:schemeClr val="accent1"/>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Java – Object</a:t>
            </a:r>
            <a:endParaRPr lang="en-US" b="1" dirty="0"/>
          </a:p>
        </p:txBody>
      </p:sp>
    </p:spTree>
    <p:extLst>
      <p:ext uri="{BB962C8B-B14F-4D97-AF65-F5344CB8AC3E}">
        <p14:creationId xmlns:p14="http://schemas.microsoft.com/office/powerpoint/2010/main" xmlns="" val="22117466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190750" y="1333500"/>
            <a:ext cx="4762500" cy="4762500"/>
          </a:xfrm>
          <a:prstGeom prst="roundRect">
            <a:avLst>
              <a:gd name="adj" fmla="val 8594"/>
            </a:avLst>
          </a:prstGeom>
          <a:solidFill>
            <a:srgbClr val="FFFFFF">
              <a:shade val="85000"/>
            </a:srgbClr>
          </a:solidFill>
          <a:ln>
            <a:solidFill>
              <a:schemeClr val="accent3"/>
            </a:solidFill>
          </a:ln>
          <a:effectLst>
            <a:reflection blurRad="12700" stA="38000" endPos="28000" dist="5000" dir="5400000" sy="-100000" algn="bl" rotWithShape="0"/>
          </a:effectLst>
        </p:spPr>
      </p:pic>
      <p:sp>
        <p:nvSpPr>
          <p:cNvPr id="3" name="TextBox 2"/>
          <p:cNvSpPr txBox="1"/>
          <p:nvPr/>
        </p:nvSpPr>
        <p:spPr>
          <a:xfrm>
            <a:off x="533400" y="4572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Java – OOPS Features</a:t>
            </a:r>
            <a:endParaRPr lang="en-US" b="1" dirty="0"/>
          </a:p>
        </p:txBody>
      </p:sp>
    </p:spTree>
    <p:extLst>
      <p:ext uri="{BB962C8B-B14F-4D97-AF65-F5344CB8AC3E}">
        <p14:creationId xmlns:p14="http://schemas.microsoft.com/office/powerpoint/2010/main" xmlns="" val="7504143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895600" y="1828800"/>
            <a:ext cx="2733675" cy="2795244"/>
          </a:xfrm>
          <a:prstGeom prst="rect">
            <a:avLst/>
          </a:prstGeom>
          <a:ln/>
          <a:effectLst>
            <a:glow rad="2286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pic>
      <p:sp>
        <p:nvSpPr>
          <p:cNvPr id="4" name="TextBox 3"/>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Java – Object</a:t>
            </a:r>
            <a:endParaRPr lang="en-US" b="1" dirty="0"/>
          </a:p>
        </p:txBody>
      </p:sp>
    </p:spTree>
    <p:extLst>
      <p:ext uri="{BB962C8B-B14F-4D97-AF65-F5344CB8AC3E}">
        <p14:creationId xmlns:p14="http://schemas.microsoft.com/office/powerpoint/2010/main" xmlns="" val="8777432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82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Encapsulation</a:t>
            </a:r>
            <a:endParaRPr lang="en-US" b="1" dirty="0"/>
          </a:p>
        </p:txBody>
      </p:sp>
      <p:sp>
        <p:nvSpPr>
          <p:cNvPr id="4" name="Rectangle 3"/>
          <p:cNvSpPr/>
          <p:nvPr/>
        </p:nvSpPr>
        <p:spPr>
          <a:xfrm>
            <a:off x="762000" y="1828800"/>
            <a:ext cx="6172200" cy="147732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b="1" dirty="0" smtClean="0"/>
              <a:t>What is encapsulation?</a:t>
            </a:r>
          </a:p>
          <a:p>
            <a:r>
              <a:rPr lang="en-US" dirty="0" smtClean="0"/>
              <a:t>The whole idea behind encapsulation is to hide the implementation details from users. If a data member is private it means it can only be accessed within the same class. No outside class can access private data member (variable) of other class.</a:t>
            </a:r>
            <a:endParaRPr lang="en-US" dirty="0"/>
          </a:p>
        </p:txBody>
      </p:sp>
      <p:sp>
        <p:nvSpPr>
          <p:cNvPr id="5" name="Rectangle 4"/>
          <p:cNvSpPr/>
          <p:nvPr/>
        </p:nvSpPr>
        <p:spPr>
          <a:xfrm>
            <a:off x="762000" y="3886200"/>
            <a:ext cx="6400800" cy="9233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b="1" dirty="0" smtClean="0"/>
              <a:t>Benefits of encapsulation</a:t>
            </a:r>
          </a:p>
          <a:p>
            <a:pPr>
              <a:buFont typeface="Arial" pitchFamily="34" charset="0"/>
              <a:buChar char="•"/>
            </a:pPr>
            <a:r>
              <a:rPr lang="en-US" dirty="0" smtClean="0"/>
              <a:t>Provides abstraction between an object and its clients.</a:t>
            </a:r>
          </a:p>
          <a:p>
            <a:pPr>
              <a:buFont typeface="Arial" pitchFamily="34" charset="0"/>
              <a:buChar char="•"/>
            </a:pPr>
            <a:r>
              <a:rPr lang="en-US" dirty="0" smtClean="0"/>
              <a:t>Protects an object from unwanted access by clients.</a:t>
            </a:r>
            <a:endParaRPr lang="en-US" dirty="0"/>
          </a:p>
        </p:txBody>
      </p:sp>
    </p:spTree>
    <p:extLst>
      <p:ext uri="{BB962C8B-B14F-4D97-AF65-F5344CB8AC3E}">
        <p14:creationId xmlns:p14="http://schemas.microsoft.com/office/powerpoint/2010/main" xmlns="" val="10503854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838200" y="1143000"/>
            <a:ext cx="7726167" cy="4876800"/>
          </a:xfrm>
          <a:prstGeom prst="rect">
            <a:avLst/>
          </a:prstGeom>
          <a:ln>
            <a:noFill/>
          </a:ln>
          <a:effectLst>
            <a:outerShdw blurRad="292100" dist="139700" dir="2700000" algn="tl" rotWithShape="0">
              <a:srgbClr val="333333">
                <a:alpha val="65000"/>
              </a:srgbClr>
            </a:outerShdw>
          </a:effectLst>
        </p:spPr>
      </p:pic>
      <p:sp>
        <p:nvSpPr>
          <p:cNvPr id="3" name="TextBox 2"/>
          <p:cNvSpPr txBox="1"/>
          <p:nvPr/>
        </p:nvSpPr>
        <p:spPr>
          <a:xfrm>
            <a:off x="8382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Encapsulation</a:t>
            </a:r>
            <a:endParaRPr lang="en-US" b="1" dirty="0"/>
          </a:p>
        </p:txBody>
      </p:sp>
    </p:spTree>
    <p:extLst>
      <p:ext uri="{BB962C8B-B14F-4D97-AF65-F5344CB8AC3E}">
        <p14:creationId xmlns:p14="http://schemas.microsoft.com/office/powerpoint/2010/main" xmlns="" val="10503854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81000" y="666750"/>
            <a:ext cx="8439150" cy="5715000"/>
            <a:chOff x="381000" y="152400"/>
            <a:chExt cx="8439150" cy="571500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81000" y="152400"/>
              <a:ext cx="4819650" cy="3371850"/>
            </a:xfrm>
            <a:prstGeom prst="rect">
              <a:avLst/>
            </a:prstGeom>
            <a:ln>
              <a:solidFill>
                <a:srgbClr val="92D050"/>
              </a:solidFill>
            </a:ln>
          </p:spPr>
          <p:style>
            <a:lnRef idx="0">
              <a:schemeClr val="accent5"/>
            </a:lnRef>
            <a:fillRef idx="3">
              <a:schemeClr val="accent5"/>
            </a:fillRef>
            <a:effectRef idx="3">
              <a:schemeClr val="accent5"/>
            </a:effectRef>
            <a:fontRef idx="minor">
              <a:schemeClr val="lt1"/>
            </a:fontRef>
          </p:style>
        </p:pic>
        <p:pic>
          <p:nvPicPr>
            <p:cNvPr id="717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096000" y="1143000"/>
              <a:ext cx="2724150" cy="2085975"/>
            </a:xfrm>
            <a:prstGeom prst="rect">
              <a:avLst/>
            </a:prstGeom>
            <a:ln>
              <a:solidFill>
                <a:srgbClr val="92D050"/>
              </a:solidFill>
            </a:ln>
          </p:spPr>
          <p:style>
            <a:lnRef idx="0">
              <a:schemeClr val="accent5"/>
            </a:lnRef>
            <a:fillRef idx="3">
              <a:schemeClr val="accent5"/>
            </a:fillRef>
            <a:effectRef idx="3">
              <a:schemeClr val="accent5"/>
            </a:effectRef>
            <a:fontRef idx="minor">
              <a:schemeClr val="lt1"/>
            </a:fontRef>
          </p:style>
        </p:pic>
        <p:pic>
          <p:nvPicPr>
            <p:cNvPr id="7172"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790825" y="4267200"/>
              <a:ext cx="3271746" cy="1600200"/>
            </a:xfrm>
            <a:prstGeom prst="rect">
              <a:avLst/>
            </a:prstGeom>
            <a:ln>
              <a:solidFill>
                <a:srgbClr val="92D050"/>
              </a:solidFill>
            </a:ln>
          </p:spPr>
          <p:style>
            <a:lnRef idx="0">
              <a:schemeClr val="accent5"/>
            </a:lnRef>
            <a:fillRef idx="3">
              <a:schemeClr val="accent5"/>
            </a:fillRef>
            <a:effectRef idx="3">
              <a:schemeClr val="accent5"/>
            </a:effectRef>
            <a:fontRef idx="minor">
              <a:schemeClr val="lt1"/>
            </a:fontRef>
          </p:style>
        </p:pic>
      </p:grpSp>
    </p:spTree>
    <p:extLst>
      <p:ext uri="{BB962C8B-B14F-4D97-AF65-F5344CB8AC3E}">
        <p14:creationId xmlns:p14="http://schemas.microsoft.com/office/powerpoint/2010/main" xmlns="" val="35894670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Inheritance</a:t>
            </a:r>
            <a:endParaRPr lang="en-US" b="1" dirty="0"/>
          </a:p>
        </p:txBody>
      </p:sp>
      <p:sp>
        <p:nvSpPr>
          <p:cNvPr id="4" name="Rectangle 3"/>
          <p:cNvSpPr/>
          <p:nvPr/>
        </p:nvSpPr>
        <p:spPr>
          <a:xfrm>
            <a:off x="3810000" y="1524000"/>
            <a:ext cx="4572000" cy="1785104"/>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r>
              <a:rPr lang="en-US" sz="1100" b="1" dirty="0" smtClean="0"/>
              <a:t>Important terminology:</a:t>
            </a:r>
            <a:br>
              <a:rPr lang="en-US" sz="1100" b="1" dirty="0" smtClean="0"/>
            </a:br>
            <a:r>
              <a:rPr lang="en-US" sz="1100" b="1" dirty="0" smtClean="0"/>
              <a:t>Super Class: </a:t>
            </a:r>
            <a:r>
              <a:rPr lang="en-US" sz="1100" dirty="0" smtClean="0"/>
              <a:t>The class whose features are inherited is known as super class(or a base class or a parent class).</a:t>
            </a:r>
          </a:p>
          <a:p>
            <a:r>
              <a:rPr lang="en-US" sz="1100" b="1" dirty="0" smtClean="0"/>
              <a:t>Sub Class:</a:t>
            </a:r>
            <a:r>
              <a:rPr lang="en-US" sz="1100" dirty="0" smtClean="0"/>
              <a:t> The class that inherits the other class is known as sub class(or a derived class, extended class, or child class). The subclass can add its own fields and methods in addition to the super class fields and methods.</a:t>
            </a:r>
          </a:p>
          <a:p>
            <a:r>
              <a:rPr lang="en-US" sz="1100" b="1" dirty="0" smtClean="0"/>
              <a:t>Reusability: </a:t>
            </a:r>
            <a:r>
              <a:rPr lang="en-US" sz="1100" dirty="0" smtClean="0"/>
              <a:t>Inheritance supports the concept of “reusability”, i.e. when we want to create a new class and there is already a class that includes some of the code that we want, we can derive our new class from the existing class. By doing this, we are reusing the fields and methods of the existing class.</a:t>
            </a:r>
            <a:endParaRPr lang="en-US" sz="1100" dirty="0"/>
          </a:p>
        </p:txBody>
      </p:sp>
      <p:pic>
        <p:nvPicPr>
          <p:cNvPr id="17410" name="Picture 2" descr="f"/>
          <p:cNvPicPr>
            <a:picLocks noChangeAspect="1" noChangeArrowheads="1"/>
          </p:cNvPicPr>
          <p:nvPr/>
        </p:nvPicPr>
        <p:blipFill>
          <a:blip r:embed="rId2"/>
          <a:srcRect/>
          <a:stretch>
            <a:fillRect/>
          </a:stretch>
        </p:blipFill>
        <p:spPr bwMode="auto">
          <a:xfrm>
            <a:off x="685800" y="4572000"/>
            <a:ext cx="3047999" cy="2014096"/>
          </a:xfrm>
          <a:prstGeom prst="rect">
            <a:avLst/>
          </a:prstGeom>
        </p:spPr>
        <p:style>
          <a:lnRef idx="2">
            <a:schemeClr val="accent6"/>
          </a:lnRef>
          <a:fillRef idx="1">
            <a:schemeClr val="lt1"/>
          </a:fillRef>
          <a:effectRef idx="0">
            <a:schemeClr val="accent6"/>
          </a:effectRef>
          <a:fontRef idx="minor">
            <a:schemeClr val="dk1"/>
          </a:fontRef>
        </p:style>
      </p:pic>
      <p:sp>
        <p:nvSpPr>
          <p:cNvPr id="2" name="AutoShape 2" descr="Image result for inheritance in c#"/>
          <p:cNvSpPr>
            <a:spLocks noChangeAspect="1" noChangeArrowheads="1"/>
          </p:cNvSpPr>
          <p:nvPr/>
        </p:nvSpPr>
        <p:spPr bwMode="auto">
          <a:xfrm>
            <a:off x="155575" y="-1614488"/>
            <a:ext cx="4819650" cy="337185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7412" name="Picture 4" descr="Image result for inheritance in c#"/>
          <p:cNvPicPr>
            <a:picLocks noChangeAspect="1" noChangeArrowheads="1"/>
          </p:cNvPicPr>
          <p:nvPr/>
        </p:nvPicPr>
        <p:blipFill>
          <a:blip r:embed="rId3"/>
          <a:srcRect/>
          <a:stretch>
            <a:fillRect/>
          </a:stretch>
        </p:blipFill>
        <p:spPr bwMode="auto">
          <a:xfrm>
            <a:off x="152400" y="1295400"/>
            <a:ext cx="3505819" cy="2452688"/>
          </a:xfrm>
          <a:prstGeom prst="rect">
            <a:avLst/>
          </a:prstGeom>
        </p:spPr>
        <p:style>
          <a:lnRef idx="2">
            <a:schemeClr val="accent2">
              <a:shade val="50000"/>
            </a:schemeClr>
          </a:lnRef>
          <a:fillRef idx="1">
            <a:schemeClr val="accent2"/>
          </a:fillRef>
          <a:effectRef idx="0">
            <a:schemeClr val="accent2"/>
          </a:effectRef>
          <a:fontRef idx="minor">
            <a:schemeClr val="lt1"/>
          </a:fontRef>
        </p:style>
      </p:pic>
    </p:spTree>
    <p:extLst>
      <p:ext uri="{BB962C8B-B14F-4D97-AF65-F5344CB8AC3E}">
        <p14:creationId xmlns:p14="http://schemas.microsoft.com/office/powerpoint/2010/main" xmlns="" val="8336705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Inheritance</a:t>
            </a:r>
            <a:endParaRPr lang="en-US" b="1" dirty="0"/>
          </a:p>
        </p:txBody>
      </p:sp>
      <p:sp>
        <p:nvSpPr>
          <p:cNvPr id="7" name="Rectangle 6"/>
          <p:cNvSpPr/>
          <p:nvPr/>
        </p:nvSpPr>
        <p:spPr>
          <a:xfrm>
            <a:off x="5791201" y="838200"/>
            <a:ext cx="1752600" cy="25391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050" b="1" dirty="0" smtClean="0"/>
              <a:t>Multiple Inheritance: </a:t>
            </a:r>
            <a:endParaRPr lang="en-US" sz="1050" dirty="0"/>
          </a:p>
        </p:txBody>
      </p:sp>
      <p:pic>
        <p:nvPicPr>
          <p:cNvPr id="1034" name="Picture 10" descr="Multilevel_Inheritance"/>
          <p:cNvPicPr>
            <a:picLocks noChangeAspect="1" noChangeArrowheads="1"/>
          </p:cNvPicPr>
          <p:nvPr/>
        </p:nvPicPr>
        <p:blipFill>
          <a:blip r:embed="rId2"/>
          <a:srcRect/>
          <a:stretch>
            <a:fillRect/>
          </a:stretch>
        </p:blipFill>
        <p:spPr bwMode="auto">
          <a:xfrm>
            <a:off x="3048000" y="1295400"/>
            <a:ext cx="1567542" cy="1828800"/>
          </a:xfrm>
          <a:prstGeom prst="rect">
            <a:avLst/>
          </a:prstGeom>
          <a:noFill/>
        </p:spPr>
      </p:pic>
      <p:pic>
        <p:nvPicPr>
          <p:cNvPr id="1036" name="Picture 12" descr="Single_Inheritance"/>
          <p:cNvPicPr>
            <a:picLocks noChangeAspect="1" noChangeArrowheads="1"/>
          </p:cNvPicPr>
          <p:nvPr/>
        </p:nvPicPr>
        <p:blipFill>
          <a:blip r:embed="rId3"/>
          <a:srcRect/>
          <a:stretch>
            <a:fillRect/>
          </a:stretch>
        </p:blipFill>
        <p:spPr bwMode="auto">
          <a:xfrm>
            <a:off x="533400" y="1219200"/>
            <a:ext cx="1905000" cy="1905000"/>
          </a:xfrm>
          <a:prstGeom prst="rect">
            <a:avLst/>
          </a:prstGeom>
          <a:noFill/>
        </p:spPr>
      </p:pic>
      <p:pic>
        <p:nvPicPr>
          <p:cNvPr id="1038" name="Picture 14" descr="hie"/>
          <p:cNvPicPr>
            <a:picLocks noChangeAspect="1" noChangeArrowheads="1"/>
          </p:cNvPicPr>
          <p:nvPr/>
        </p:nvPicPr>
        <p:blipFill>
          <a:blip r:embed="rId4"/>
          <a:srcRect/>
          <a:stretch>
            <a:fillRect/>
          </a:stretch>
        </p:blipFill>
        <p:spPr bwMode="auto">
          <a:xfrm>
            <a:off x="304800" y="3505200"/>
            <a:ext cx="2590800" cy="1921210"/>
          </a:xfrm>
          <a:prstGeom prst="rect">
            <a:avLst/>
          </a:prstGeom>
          <a:noFill/>
        </p:spPr>
      </p:pic>
      <p:pic>
        <p:nvPicPr>
          <p:cNvPr id="1040" name="Picture 16" descr="Multiple_Inheritance"/>
          <p:cNvPicPr>
            <a:picLocks noChangeAspect="1" noChangeArrowheads="1"/>
          </p:cNvPicPr>
          <p:nvPr/>
        </p:nvPicPr>
        <p:blipFill>
          <a:blip r:embed="rId5"/>
          <a:srcRect/>
          <a:stretch>
            <a:fillRect/>
          </a:stretch>
        </p:blipFill>
        <p:spPr bwMode="auto">
          <a:xfrm>
            <a:off x="5715000" y="1371600"/>
            <a:ext cx="2438400" cy="1752600"/>
          </a:xfrm>
          <a:prstGeom prst="rect">
            <a:avLst/>
          </a:prstGeom>
          <a:noFill/>
        </p:spPr>
      </p:pic>
      <p:pic>
        <p:nvPicPr>
          <p:cNvPr id="1042" name="Picture 18" descr="hybrid"/>
          <p:cNvPicPr>
            <a:picLocks noChangeAspect="1" noChangeArrowheads="1"/>
          </p:cNvPicPr>
          <p:nvPr/>
        </p:nvPicPr>
        <p:blipFill>
          <a:blip r:embed="rId6"/>
          <a:srcRect/>
          <a:stretch>
            <a:fillRect/>
          </a:stretch>
        </p:blipFill>
        <p:spPr bwMode="auto">
          <a:xfrm>
            <a:off x="3352800" y="3505200"/>
            <a:ext cx="2190296" cy="1676400"/>
          </a:xfrm>
          <a:prstGeom prst="rect">
            <a:avLst/>
          </a:prstGeom>
          <a:noFill/>
        </p:spPr>
      </p:pic>
    </p:spTree>
    <p:extLst>
      <p:ext uri="{BB962C8B-B14F-4D97-AF65-F5344CB8AC3E}">
        <p14:creationId xmlns:p14="http://schemas.microsoft.com/office/powerpoint/2010/main" xmlns="" val="8336705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52400" y="1905000"/>
            <a:ext cx="5248275" cy="3705225"/>
          </a:xfrm>
          <a:prstGeom prst="rect">
            <a:avLst/>
          </a:prstGeom>
          <a:ln/>
        </p:spPr>
        <p:style>
          <a:lnRef idx="2">
            <a:schemeClr val="accent1"/>
          </a:lnRef>
          <a:fillRef idx="1">
            <a:schemeClr val="lt1"/>
          </a:fillRef>
          <a:effectRef idx="0">
            <a:schemeClr val="accent1"/>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Inheritance</a:t>
            </a:r>
            <a:endParaRPr lang="en-US" b="1" dirty="0"/>
          </a:p>
        </p:txBody>
      </p:sp>
      <p:sp>
        <p:nvSpPr>
          <p:cNvPr id="15362" name="AutoShape 2" descr="Image result for inheritance in c#"/>
          <p:cNvSpPr>
            <a:spLocks noChangeAspect="1" noChangeArrowheads="1"/>
          </p:cNvSpPr>
          <p:nvPr/>
        </p:nvSpPr>
        <p:spPr bwMode="auto">
          <a:xfrm>
            <a:off x="155575" y="-1660525"/>
            <a:ext cx="4152900" cy="34671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4" name="AutoShape 4" descr="Image result for inheritance in c#"/>
          <p:cNvSpPr>
            <a:spLocks noChangeAspect="1" noChangeArrowheads="1"/>
          </p:cNvSpPr>
          <p:nvPr/>
        </p:nvSpPr>
        <p:spPr bwMode="auto">
          <a:xfrm>
            <a:off x="155575" y="-1660525"/>
            <a:ext cx="4152900" cy="34671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366" name="Picture 6" descr="http://www.dotnet-guide.com/images/inheritance-c-sharp.jpg"/>
          <p:cNvPicPr>
            <a:picLocks noChangeAspect="1" noChangeArrowheads="1"/>
          </p:cNvPicPr>
          <p:nvPr/>
        </p:nvPicPr>
        <p:blipFill>
          <a:blip r:embed="rId3"/>
          <a:srcRect/>
          <a:stretch>
            <a:fillRect/>
          </a:stretch>
        </p:blipFill>
        <p:spPr bwMode="auto">
          <a:xfrm>
            <a:off x="155575" y="-1660525"/>
            <a:ext cx="4152900" cy="3467100"/>
          </a:xfrm>
          <a:prstGeom prst="rect">
            <a:avLst/>
          </a:prstGeom>
          <a:noFill/>
        </p:spPr>
      </p:pic>
    </p:spTree>
    <p:extLst>
      <p:ext uri="{BB962C8B-B14F-4D97-AF65-F5344CB8AC3E}">
        <p14:creationId xmlns:p14="http://schemas.microsoft.com/office/powerpoint/2010/main" xmlns="" val="8336705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921094" y="1245814"/>
            <a:ext cx="7003706" cy="4850185"/>
          </a:xfrm>
          <a:prstGeom prst="rect">
            <a:avLst/>
          </a:prstGeom>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Inheritance</a:t>
            </a:r>
            <a:endParaRPr lang="en-US" b="1" dirty="0"/>
          </a:p>
        </p:txBody>
      </p:sp>
    </p:spTree>
    <p:extLst>
      <p:ext uri="{BB962C8B-B14F-4D97-AF65-F5344CB8AC3E}">
        <p14:creationId xmlns:p14="http://schemas.microsoft.com/office/powerpoint/2010/main" xmlns="" val="3185004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Access Modifier</a:t>
            </a:r>
            <a:endParaRPr lang="en-US" b="1" dirty="0"/>
          </a:p>
        </p:txBody>
      </p:sp>
      <p:pic>
        <p:nvPicPr>
          <p:cNvPr id="13314" name="Picture 2" descr="Image result for access modifiers in java"/>
          <p:cNvPicPr>
            <a:picLocks noChangeAspect="1" noChangeArrowheads="1"/>
          </p:cNvPicPr>
          <p:nvPr/>
        </p:nvPicPr>
        <p:blipFill>
          <a:blip r:embed="rId2"/>
          <a:srcRect/>
          <a:stretch>
            <a:fillRect/>
          </a:stretch>
        </p:blipFill>
        <p:spPr bwMode="auto">
          <a:xfrm>
            <a:off x="4572000" y="1828800"/>
            <a:ext cx="3829050" cy="3514726"/>
          </a:xfrm>
          <a:prstGeom prst="rect">
            <a:avLst/>
          </a:prstGeom>
        </p:spPr>
        <p:style>
          <a:lnRef idx="2">
            <a:schemeClr val="accent2"/>
          </a:lnRef>
          <a:fillRef idx="1">
            <a:schemeClr val="lt1"/>
          </a:fillRef>
          <a:effectRef idx="0">
            <a:schemeClr val="accent2"/>
          </a:effectRef>
          <a:fontRef idx="minor">
            <a:schemeClr val="dk1"/>
          </a:fontRef>
        </p:style>
      </p:pic>
      <p:pic>
        <p:nvPicPr>
          <p:cNvPr id="13316" name="Picture 4" descr="Image result for access modifiers in java"/>
          <p:cNvPicPr>
            <a:picLocks noChangeAspect="1" noChangeArrowheads="1"/>
          </p:cNvPicPr>
          <p:nvPr/>
        </p:nvPicPr>
        <p:blipFill>
          <a:blip r:embed="rId3"/>
          <a:srcRect/>
          <a:stretch>
            <a:fillRect/>
          </a:stretch>
        </p:blipFill>
        <p:spPr bwMode="auto">
          <a:xfrm>
            <a:off x="457200" y="1828800"/>
            <a:ext cx="3438525" cy="1333501"/>
          </a:xfrm>
          <a:prstGeom prst="rect">
            <a:avLst/>
          </a:prstGeom>
        </p:spPr>
        <p:style>
          <a:lnRef idx="2">
            <a:schemeClr val="accent3"/>
          </a:lnRef>
          <a:fillRef idx="1">
            <a:schemeClr val="lt1"/>
          </a:fillRef>
          <a:effectRef idx="0">
            <a:schemeClr val="accent3"/>
          </a:effectRef>
          <a:fontRef idx="minor">
            <a:schemeClr val="dk1"/>
          </a:fontRef>
        </p:style>
      </p:pic>
      <p:pic>
        <p:nvPicPr>
          <p:cNvPr id="13318" name="Picture 6" descr="Image result for access modifiers in java"/>
          <p:cNvPicPr>
            <a:picLocks noChangeAspect="1" noChangeArrowheads="1"/>
          </p:cNvPicPr>
          <p:nvPr/>
        </p:nvPicPr>
        <p:blipFill>
          <a:blip r:embed="rId4"/>
          <a:srcRect/>
          <a:stretch>
            <a:fillRect/>
          </a:stretch>
        </p:blipFill>
        <p:spPr bwMode="auto">
          <a:xfrm>
            <a:off x="228600" y="3429000"/>
            <a:ext cx="3886200" cy="1181101"/>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xmlns="" val="14482126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25286" y="1143000"/>
            <a:ext cx="6477000" cy="5334000"/>
          </a:xfrm>
          <a:prstGeom prst="rect">
            <a:avLst/>
          </a:prstGeom>
          <a:ln/>
        </p:spPr>
        <p:style>
          <a:lnRef idx="2">
            <a:schemeClr val="accent1"/>
          </a:lnRef>
          <a:fillRef idx="1">
            <a:schemeClr val="lt1"/>
          </a:fillRef>
          <a:effectRef idx="0">
            <a:schemeClr val="accent1"/>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Abstraction</a:t>
            </a:r>
            <a:endParaRPr lang="en-US" b="1" dirty="0"/>
          </a:p>
        </p:txBody>
      </p:sp>
    </p:spTree>
    <p:extLst>
      <p:ext uri="{BB962C8B-B14F-4D97-AF65-F5344CB8AC3E}">
        <p14:creationId xmlns:p14="http://schemas.microsoft.com/office/powerpoint/2010/main" xmlns="" val="14482126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33450" y="1371600"/>
            <a:ext cx="6076950" cy="4562475"/>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Abstraction</a:t>
            </a:r>
            <a:endParaRPr lang="en-US" b="1" dirty="0"/>
          </a:p>
        </p:txBody>
      </p:sp>
    </p:spTree>
    <p:extLst>
      <p:ext uri="{BB962C8B-B14F-4D97-AF65-F5344CB8AC3E}">
        <p14:creationId xmlns:p14="http://schemas.microsoft.com/office/powerpoint/2010/main" xmlns="" val="30903148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914400" y="1447800"/>
            <a:ext cx="7416800" cy="4171950"/>
          </a:xfrm>
          <a:prstGeom prst="rect">
            <a:avLst/>
          </a:prstGeom>
          <a:solidFill>
            <a:srgbClr val="FFFFFF">
              <a:shade val="85000"/>
            </a:srgbClr>
          </a:solidFill>
          <a:ln w="190500" cap="rnd">
            <a:solidFill>
              <a:schemeClr val="accent3"/>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TextBox 2"/>
          <p:cNvSpPr txBox="1"/>
          <p:nvPr/>
        </p:nvSpPr>
        <p:spPr>
          <a:xfrm>
            <a:off x="838200" y="495300"/>
            <a:ext cx="3657600" cy="38100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OOPS – Abstract Vs Interface</a:t>
            </a:r>
            <a:endParaRPr lang="en-US" b="1" dirty="0"/>
          </a:p>
        </p:txBody>
      </p:sp>
    </p:spTree>
    <p:extLst>
      <p:ext uri="{BB962C8B-B14F-4D97-AF65-F5344CB8AC3E}">
        <p14:creationId xmlns:p14="http://schemas.microsoft.com/office/powerpoint/2010/main" xmlns="" val="9490107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23407" y="2445204"/>
            <a:ext cx="4762500" cy="1924050"/>
          </a:xfrm>
          <a:prstGeom prst="rect">
            <a:avLst/>
          </a:prstGeom>
          <a:ln/>
        </p:spPr>
        <p:style>
          <a:lnRef idx="2">
            <a:schemeClr val="accent1">
              <a:shade val="50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xmlns="" val="2335413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14400" y="1219200"/>
            <a:ext cx="6934200" cy="5200650"/>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xmlns="" val="13903039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14400" y="1371600"/>
            <a:ext cx="6048375" cy="5210175"/>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xmlns="" val="30668887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38200" y="1219200"/>
            <a:ext cx="6972300" cy="5153025"/>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8382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xmlns="" val="9610374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24543" y="1447800"/>
            <a:ext cx="7696200" cy="4914900"/>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424543" y="609600"/>
            <a:ext cx="36576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xmlns="" val="39379471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143125" y="2514600"/>
            <a:ext cx="4895850" cy="2381250"/>
          </a:xfrm>
          <a:prstGeom prst="rect">
            <a:avLst/>
          </a:prstGeom>
          <a:ln/>
        </p:spPr>
        <p:style>
          <a:lnRef idx="2">
            <a:schemeClr val="accent3"/>
          </a:lnRef>
          <a:fillRef idx="1">
            <a:schemeClr val="lt1"/>
          </a:fillRef>
          <a:effectRef idx="0">
            <a:schemeClr val="accent3"/>
          </a:effectRef>
          <a:fontRef idx="minor">
            <a:schemeClr val="dk1"/>
          </a:fontRef>
        </p:style>
      </p:pic>
      <p:sp>
        <p:nvSpPr>
          <p:cNvPr id="3" name="TextBox 2"/>
          <p:cNvSpPr txBox="1"/>
          <p:nvPr/>
        </p:nvSpPr>
        <p:spPr>
          <a:xfrm>
            <a:off x="904875" y="762000"/>
            <a:ext cx="3657600" cy="38100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US" b="1" dirty="0" smtClean="0"/>
              <a:t>OOPS – Polymorphism</a:t>
            </a:r>
            <a:endParaRPr lang="en-US" b="1" dirty="0"/>
          </a:p>
        </p:txBody>
      </p:sp>
    </p:spTree>
    <p:extLst>
      <p:ext uri="{BB962C8B-B14F-4D97-AF65-F5344CB8AC3E}">
        <p14:creationId xmlns:p14="http://schemas.microsoft.com/office/powerpoint/2010/main" xmlns="" val="2408419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62000" y="1514475"/>
            <a:ext cx="6400800" cy="4800600"/>
          </a:xfrm>
          <a:prstGeom prst="rect">
            <a:avLst/>
          </a:prstGeom>
          <a:ln/>
        </p:spPr>
        <p:style>
          <a:lnRef idx="0">
            <a:schemeClr val="accent5"/>
          </a:lnRef>
          <a:fillRef idx="3">
            <a:schemeClr val="accent5"/>
          </a:fillRef>
          <a:effectRef idx="3">
            <a:schemeClr val="accent5"/>
          </a:effectRef>
          <a:fontRef idx="minor">
            <a:schemeClr val="lt1"/>
          </a:fontRef>
        </p:style>
      </p:pic>
      <p:sp>
        <p:nvSpPr>
          <p:cNvPr id="3" name="TextBox 2"/>
          <p:cNvSpPr txBox="1"/>
          <p:nvPr/>
        </p:nvSpPr>
        <p:spPr>
          <a:xfrm>
            <a:off x="762000" y="609600"/>
            <a:ext cx="3657600" cy="38100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b="1" dirty="0" smtClean="0"/>
              <a:t>OOPS – Polymorphism - </a:t>
            </a:r>
            <a:r>
              <a:rPr lang="en-US" b="1" dirty="0" err="1" smtClean="0"/>
              <a:t>Overridding</a:t>
            </a:r>
            <a:endParaRPr lang="en-US" b="1" dirty="0"/>
          </a:p>
        </p:txBody>
      </p:sp>
    </p:spTree>
    <p:extLst>
      <p:ext uri="{BB962C8B-B14F-4D97-AF65-F5344CB8AC3E}">
        <p14:creationId xmlns:p14="http://schemas.microsoft.com/office/powerpoint/2010/main" xmlns="" val="32873386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14400" y="1828800"/>
            <a:ext cx="5324475" cy="3781425"/>
          </a:xfrm>
          <a:prstGeom prst="rect">
            <a:avLst/>
          </a:prstGeom>
          <a:ln/>
        </p:spPr>
        <p:style>
          <a:lnRef idx="2">
            <a:schemeClr val="accent5"/>
          </a:lnRef>
          <a:fillRef idx="1">
            <a:schemeClr val="lt1"/>
          </a:fillRef>
          <a:effectRef idx="0">
            <a:schemeClr val="accent5"/>
          </a:effectRef>
          <a:fontRef idx="minor">
            <a:schemeClr val="dk1"/>
          </a:fontRef>
        </p:style>
      </p:pic>
      <p:sp>
        <p:nvSpPr>
          <p:cNvPr id="3" name="TextBox 2"/>
          <p:cNvSpPr txBox="1"/>
          <p:nvPr/>
        </p:nvSpPr>
        <p:spPr>
          <a:xfrm>
            <a:off x="9144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OOPS – Polymorphism - Overloading</a:t>
            </a:r>
            <a:endParaRPr lang="en-US" b="1" dirty="0"/>
          </a:p>
        </p:txBody>
      </p:sp>
    </p:spTree>
    <p:extLst>
      <p:ext uri="{BB962C8B-B14F-4D97-AF65-F5344CB8AC3E}">
        <p14:creationId xmlns:p14="http://schemas.microsoft.com/office/powerpoint/2010/main" xmlns="" val="20057081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352800" y="2133600"/>
            <a:ext cx="2143125" cy="2143125"/>
          </a:xfrm>
          <a:prstGeom prst="rect">
            <a:avLst/>
          </a:prstGeom>
          <a:ln>
            <a:noFill/>
          </a:ln>
          <a:effectLst>
            <a:innerShdw blurRad="63500" dist="50800" dir="16200000">
              <a:prstClr val="black">
                <a:alpha val="50000"/>
              </a:prstClr>
            </a:innerShdw>
          </a:effectLst>
          <a:scene3d>
            <a:camera prst="orthographicFront"/>
            <a:lightRig rig="flood" dir="t">
              <a:rot lat="0" lon="0" rev="13800000"/>
            </a:lightRig>
          </a:scene3d>
          <a:sp3d extrusionH="107950" prstMaterial="plastic">
            <a:bevelT w="82550" h="63500" prst="divot"/>
            <a:bevelB/>
          </a:sp3d>
        </p:spPr>
        <p:style>
          <a:lnRef idx="2">
            <a:schemeClr val="accent2"/>
          </a:lnRef>
          <a:fillRef idx="1003">
            <a:schemeClr val="dk1"/>
          </a:fillRef>
          <a:effectRef idx="0">
            <a:schemeClr val="accent2"/>
          </a:effectRef>
          <a:fontRef idx="minor">
            <a:schemeClr val="dk1"/>
          </a:fontRef>
        </p:style>
      </p:pic>
    </p:spTree>
    <p:extLst>
      <p:ext uri="{BB962C8B-B14F-4D97-AF65-F5344CB8AC3E}">
        <p14:creationId xmlns:p14="http://schemas.microsoft.com/office/powerpoint/2010/main" xmlns="" val="34148479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897</TotalTime>
  <Words>234</Words>
  <Application>Microsoft Office PowerPoint</Application>
  <PresentationFormat>On-screen Show (4:3)</PresentationFormat>
  <Paragraphs>46</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Muralibabu</cp:lastModifiedBy>
  <cp:revision>89</cp:revision>
  <dcterms:created xsi:type="dcterms:W3CDTF">2006-08-16T00:00:00Z</dcterms:created>
  <dcterms:modified xsi:type="dcterms:W3CDTF">2019-06-04T15:35:54Z</dcterms:modified>
</cp:coreProperties>
</file>