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7" r:id="rId3"/>
    <p:sldId id="269" r:id="rId4"/>
    <p:sldId id="291" r:id="rId5"/>
    <p:sldId id="270" r:id="rId6"/>
    <p:sldId id="282" r:id="rId7"/>
    <p:sldId id="271" r:id="rId8"/>
    <p:sldId id="283" r:id="rId9"/>
    <p:sldId id="284" r:id="rId10"/>
    <p:sldId id="285" r:id="rId11"/>
    <p:sldId id="286" r:id="rId12"/>
    <p:sldId id="274" r:id="rId13"/>
    <p:sldId id="275" r:id="rId14"/>
    <p:sldId id="280" r:id="rId15"/>
    <p:sldId id="279" r:id="rId16"/>
    <p:sldId id="278" r:id="rId17"/>
    <p:sldId id="287" r:id="rId18"/>
    <p:sldId id="288" r:id="rId19"/>
    <p:sldId id="289" r:id="rId20"/>
    <p:sldId id="290"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hinethra Pujari" initials="AP" lastIdx="1" clrIdx="0">
    <p:extLst>
      <p:ext uri="{19B8F6BF-5375-455C-9EA6-DF929625EA0E}">
        <p15:presenceInfo xmlns:p15="http://schemas.microsoft.com/office/powerpoint/2012/main" userId="S::PujariA@wedbush.com::ec783a5a-7d70-4bad-b1e3-3140a2e738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16" autoAdjust="0"/>
    <p:restoredTop sz="94660"/>
  </p:normalViewPr>
  <p:slideViewPr>
    <p:cSldViewPr snapToGrid="0">
      <p:cViewPr varScale="1">
        <p:scale>
          <a:sx n="68" d="100"/>
          <a:sy n="68" d="100"/>
        </p:scale>
        <p:origin x="84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28F62-59F5-4555-B3E6-5A34A24496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16A298-9D2A-4AF0-BEC2-0DC057821C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778D1C-0F4B-4A3F-85D5-3C57F39B30FD}"/>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5" name="Footer Placeholder 4">
            <a:extLst>
              <a:ext uri="{FF2B5EF4-FFF2-40B4-BE49-F238E27FC236}">
                <a16:creationId xmlns:a16="http://schemas.microsoft.com/office/drawing/2014/main" id="{5A273A02-B3AB-49B1-A566-BB7E8FAE73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436C6-8E72-4D8D-84E4-6A47B9C679B5}"/>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4201008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C7386-1BEB-40A5-97FA-1E4DCFEF29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27BB5E-A792-402F-B43A-89B5D0AAE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AEBA9-8E66-4923-BE19-0AEE5FC78594}"/>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5" name="Footer Placeholder 4">
            <a:extLst>
              <a:ext uri="{FF2B5EF4-FFF2-40B4-BE49-F238E27FC236}">
                <a16:creationId xmlns:a16="http://schemas.microsoft.com/office/drawing/2014/main" id="{ABB09E8D-0DDA-4D7D-B4CD-E57DB690C2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52325-C5CB-4E4F-BA3F-325DAF39621E}"/>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139608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B28B3-B1CA-43BB-B183-DF3A2FEACE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134D4A-87C5-4690-978D-13B6289A02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35A994-A950-4E13-B0C9-C5E5EDAEFBC0}"/>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5" name="Footer Placeholder 4">
            <a:extLst>
              <a:ext uri="{FF2B5EF4-FFF2-40B4-BE49-F238E27FC236}">
                <a16:creationId xmlns:a16="http://schemas.microsoft.com/office/drawing/2014/main" id="{560EF3D0-49EC-496E-A515-679F01EF1C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BFC804-76D9-426D-AA1B-4ECD83FA1EF8}"/>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2497721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37FE7-B89D-4467-854F-9A74085022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20E288-2C3E-4290-B37D-8814858AAA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1F69EF-6498-456A-913E-78FE42E98A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5272B9-78FF-42B6-9702-8D561A5C25A7}"/>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6" name="Footer Placeholder 5">
            <a:extLst>
              <a:ext uri="{FF2B5EF4-FFF2-40B4-BE49-F238E27FC236}">
                <a16:creationId xmlns:a16="http://schemas.microsoft.com/office/drawing/2014/main" id="{D3D751C4-A828-4B43-B1F0-C4ED5E692D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864314-D710-4C83-98F7-F718B7760518}"/>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2315884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E305-9B96-42EB-A7BF-CC4FE91158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A24F0C-AC67-4798-9C0E-9930AF70F4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0602A1-CD69-4F3A-946A-38A5459352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1BCF80-6721-421B-A69D-9915457A26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B00BA4-7611-42EA-890B-B2F24E86B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F3A4B1-507D-4561-AB53-C4989D40B005}"/>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8" name="Footer Placeholder 7">
            <a:extLst>
              <a:ext uri="{FF2B5EF4-FFF2-40B4-BE49-F238E27FC236}">
                <a16:creationId xmlns:a16="http://schemas.microsoft.com/office/drawing/2014/main" id="{BFFECF09-DF40-4485-98F1-6AF0770BF6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7B9291-DE1B-449E-9D8A-21195E435E9D}"/>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847717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1DD5-EC74-4174-96AF-783AA522A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576B05-A57A-4BB4-9F5A-48D4F5282129}"/>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4" name="Footer Placeholder 3">
            <a:extLst>
              <a:ext uri="{FF2B5EF4-FFF2-40B4-BE49-F238E27FC236}">
                <a16:creationId xmlns:a16="http://schemas.microsoft.com/office/drawing/2014/main" id="{A437CCBA-E7A0-4130-B2BE-83C2DC37E0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D48DA4-DF87-4BFE-A988-80A428AD160F}"/>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1076237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925CF-4443-4276-9B8A-C7A7D1F34B4F}"/>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3" name="Footer Placeholder 2">
            <a:extLst>
              <a:ext uri="{FF2B5EF4-FFF2-40B4-BE49-F238E27FC236}">
                <a16:creationId xmlns:a16="http://schemas.microsoft.com/office/drawing/2014/main" id="{2B2BC947-FD4E-4A5A-85F1-5B11A6178B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0805A0-0CDE-4D8C-BF20-58FD07C17B0A}"/>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2592120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95BD-5378-4131-B9A2-2C0B9FADFB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EA72E8-3ADC-4925-A434-88B9FDDD78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0D2463-A0B7-45F5-9193-269D110B62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2B5F71-64A7-4072-8A7A-CF7C6AF54C60}"/>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6" name="Footer Placeholder 5">
            <a:extLst>
              <a:ext uri="{FF2B5EF4-FFF2-40B4-BE49-F238E27FC236}">
                <a16:creationId xmlns:a16="http://schemas.microsoft.com/office/drawing/2014/main" id="{B821A11B-B557-4983-BFE9-349D43B2AF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EEFBE2-3227-498C-8867-5AC1AE778375}"/>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2266723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8A395-4599-42FD-A96D-99C8780AA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EDE6D-33E9-4564-9A96-705F117497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CE58FA-BDC5-4507-A573-7161460C9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ECEB6-3360-4E28-B9B2-ABA40A8878FE}"/>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6" name="Footer Placeholder 5">
            <a:extLst>
              <a:ext uri="{FF2B5EF4-FFF2-40B4-BE49-F238E27FC236}">
                <a16:creationId xmlns:a16="http://schemas.microsoft.com/office/drawing/2014/main" id="{82632D8B-0010-4AC4-A73C-3D6B248B25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659110-AE85-476B-98DC-8047350ADE69}"/>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1106833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9643E-5980-442C-819E-EC7AED369F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FE3AE5-088F-441B-856B-9BDA1B5C9E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368824-2513-499F-A417-7BD20AFD73D9}"/>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5" name="Footer Placeholder 4">
            <a:extLst>
              <a:ext uri="{FF2B5EF4-FFF2-40B4-BE49-F238E27FC236}">
                <a16:creationId xmlns:a16="http://schemas.microsoft.com/office/drawing/2014/main" id="{23354F4D-1D5A-427C-B0DB-D687B4E91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C1313E-FA4B-4D49-B81C-77EC1E8603B2}"/>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1727038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28EA0F-4241-47AA-880B-A49B6757D1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B42BE6-E912-492D-BF1C-0CEDF19852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A1934-46C9-4D9F-BCDA-6C18C9C14FD5}"/>
              </a:ext>
            </a:extLst>
          </p:cNvPr>
          <p:cNvSpPr>
            <a:spLocks noGrp="1"/>
          </p:cNvSpPr>
          <p:nvPr>
            <p:ph type="dt" sz="half" idx="10"/>
          </p:nvPr>
        </p:nvSpPr>
        <p:spPr/>
        <p:txBody>
          <a:bodyPr/>
          <a:lstStyle/>
          <a:p>
            <a:fld id="{0A261CC2-BA8B-49CB-BE69-D8FED485E66A}" type="datetimeFigureOut">
              <a:rPr lang="en-US" smtClean="0"/>
              <a:t>5/27/2022</a:t>
            </a:fld>
            <a:endParaRPr lang="en-US"/>
          </a:p>
        </p:txBody>
      </p:sp>
      <p:sp>
        <p:nvSpPr>
          <p:cNvPr id="5" name="Footer Placeholder 4">
            <a:extLst>
              <a:ext uri="{FF2B5EF4-FFF2-40B4-BE49-F238E27FC236}">
                <a16:creationId xmlns:a16="http://schemas.microsoft.com/office/drawing/2014/main" id="{7534915B-9C24-467B-8799-00A62C9A06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DD2AF-573E-4040-9B60-5B6DA392EB2C}"/>
              </a:ext>
            </a:extLst>
          </p:cNvPr>
          <p:cNvSpPr>
            <a:spLocks noGrp="1"/>
          </p:cNvSpPr>
          <p:nvPr>
            <p:ph type="sldNum" sz="quarter" idx="12"/>
          </p:nvPr>
        </p:nvSpPr>
        <p:spPr/>
        <p:txBody>
          <a:bodyPr/>
          <a:lstStyle/>
          <a:p>
            <a:fld id="{F46247FE-6B78-4A0D-9A51-33F16E36899A}" type="slidenum">
              <a:rPr lang="en-US" smtClean="0"/>
              <a:t>‹#›</a:t>
            </a:fld>
            <a:endParaRPr lang="en-US"/>
          </a:p>
        </p:txBody>
      </p:sp>
    </p:spTree>
    <p:extLst>
      <p:ext uri="{BB962C8B-B14F-4D97-AF65-F5344CB8AC3E}">
        <p14:creationId xmlns:p14="http://schemas.microsoft.com/office/powerpoint/2010/main" val="3352028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058A96-CC48-4927-A5B1-5E451C966F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8957EE-A84B-4406-B48F-3480EF0C9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F36780-F75D-4BFA-BC12-DF5C9DD7E6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261CC2-BA8B-49CB-BE69-D8FED485E66A}" type="datetimeFigureOut">
              <a:rPr lang="en-US" smtClean="0"/>
              <a:t>5/27/2022</a:t>
            </a:fld>
            <a:endParaRPr lang="en-US"/>
          </a:p>
        </p:txBody>
      </p:sp>
      <p:sp>
        <p:nvSpPr>
          <p:cNvPr id="5" name="Footer Placeholder 4">
            <a:extLst>
              <a:ext uri="{FF2B5EF4-FFF2-40B4-BE49-F238E27FC236}">
                <a16:creationId xmlns:a16="http://schemas.microsoft.com/office/drawing/2014/main" id="{B7F94988-A8EB-44B2-8E0B-FF20E1676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2F654F-D141-4C56-A184-F898E6E71C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247FE-6B78-4A0D-9A51-33F16E36899A}" type="slidenum">
              <a:rPr lang="en-US" smtClean="0"/>
              <a:t>‹#›</a:t>
            </a:fld>
            <a:endParaRPr lang="en-US"/>
          </a:p>
        </p:txBody>
      </p:sp>
    </p:spTree>
    <p:extLst>
      <p:ext uri="{BB962C8B-B14F-4D97-AF65-F5344CB8AC3E}">
        <p14:creationId xmlns:p14="http://schemas.microsoft.com/office/powerpoint/2010/main" val="1243338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Brand - Camunda">
            <a:extLst>
              <a:ext uri="{FF2B5EF4-FFF2-40B4-BE49-F238E27FC236}">
                <a16:creationId xmlns:a16="http://schemas.microsoft.com/office/drawing/2014/main" id="{9F68836A-DB5E-42BD-A504-B61B15950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9824" y="2005013"/>
            <a:ext cx="5051073" cy="26558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52388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7B37E-55C4-4EF7-8FEA-04A65A592F8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E954DAF-EDF1-4D37-89EB-DA407B27ACA4}"/>
              </a:ext>
            </a:extLst>
          </p:cNvPr>
          <p:cNvSpPr>
            <a:spLocks noGrp="1"/>
          </p:cNvSpPr>
          <p:nvPr>
            <p:ph idx="1"/>
          </p:nvPr>
        </p:nvSpPr>
        <p:spPr>
          <a:xfrm>
            <a:off x="838200" y="2106611"/>
            <a:ext cx="10515600" cy="4351338"/>
          </a:xfrm>
        </p:spPr>
        <p:txBody>
          <a:bodyPr>
            <a:normAutofit fontScale="92500" lnSpcReduction="20000"/>
          </a:bodyPr>
          <a:lstStyle/>
          <a:p>
            <a:pPr>
              <a:buFont typeface="Wingdings" panose="05000000000000000000" pitchFamily="2" charset="2"/>
              <a:buChar char="v"/>
            </a:pPr>
            <a:r>
              <a:rPr lang="en-US" sz="3400" dirty="0"/>
              <a:t>What is Camunda</a:t>
            </a:r>
          </a:p>
          <a:p>
            <a:pPr>
              <a:buFont typeface="Wingdings" panose="05000000000000000000" pitchFamily="2" charset="2"/>
              <a:buChar char="v"/>
            </a:pPr>
            <a:r>
              <a:rPr lang="en-US" sz="3400" dirty="0"/>
              <a:t>About Camunda</a:t>
            </a:r>
          </a:p>
          <a:p>
            <a:pPr>
              <a:buFont typeface="Wingdings" panose="05000000000000000000" pitchFamily="2" charset="2"/>
              <a:buChar char="v"/>
            </a:pPr>
            <a:r>
              <a:rPr lang="en-US" sz="3400" dirty="0"/>
              <a:t>What is Camunda Platform 8</a:t>
            </a:r>
          </a:p>
          <a:p>
            <a:pPr>
              <a:buFont typeface="Wingdings" panose="05000000000000000000" pitchFamily="2" charset="2"/>
              <a:buChar char="v"/>
            </a:pPr>
            <a:r>
              <a:rPr lang="en-US" sz="3400" dirty="0" err="1"/>
              <a:t>Zeebe</a:t>
            </a:r>
            <a:r>
              <a:rPr lang="en-US" sz="3400" dirty="0"/>
              <a:t> Architecture</a:t>
            </a:r>
          </a:p>
          <a:p>
            <a:pPr>
              <a:buFont typeface="Wingdings" panose="05000000000000000000" pitchFamily="2" charset="2"/>
              <a:buChar char="v"/>
            </a:pPr>
            <a:r>
              <a:rPr lang="en-US" sz="3400" dirty="0" err="1"/>
              <a:t>Zeebe</a:t>
            </a:r>
            <a:r>
              <a:rPr lang="en-US" sz="3400" dirty="0"/>
              <a:t> Client / Server</a:t>
            </a:r>
          </a:p>
          <a:p>
            <a:pPr>
              <a:buFont typeface="Wingdings" panose="05000000000000000000" pitchFamily="2" charset="2"/>
              <a:buChar char="v"/>
            </a:pPr>
            <a:r>
              <a:rPr lang="en-US" sz="3400" b="1" dirty="0">
                <a:latin typeface="+mj-lt"/>
              </a:rPr>
              <a:t>Data Replication – Fault Tolerance</a:t>
            </a:r>
          </a:p>
          <a:p>
            <a:pPr>
              <a:buFont typeface="Wingdings" panose="05000000000000000000" pitchFamily="2" charset="2"/>
              <a:buChar char="v"/>
            </a:pPr>
            <a:r>
              <a:rPr lang="en-US" sz="3400" dirty="0" err="1"/>
              <a:t>Zeebe</a:t>
            </a:r>
            <a:r>
              <a:rPr lang="en-US" sz="3400" dirty="0"/>
              <a:t> in Microservice Orchestration </a:t>
            </a:r>
            <a:endParaRPr lang="en-US" sz="3400" b="1" dirty="0">
              <a:latin typeface="+mj-lt"/>
            </a:endParaRPr>
          </a:p>
          <a:p>
            <a:pPr>
              <a:buFont typeface="Wingdings" panose="05000000000000000000" pitchFamily="2" charset="2"/>
              <a:buChar char="v"/>
            </a:pPr>
            <a:r>
              <a:rPr lang="en-US" sz="3400" dirty="0"/>
              <a:t>Event based service Orchestration</a:t>
            </a:r>
          </a:p>
          <a:p>
            <a:pPr>
              <a:buFont typeface="Wingdings" panose="05000000000000000000" pitchFamily="2" charset="2"/>
              <a:buChar char="v"/>
            </a:pPr>
            <a:r>
              <a:rPr lang="en-US" sz="3400" b="1" dirty="0" err="1">
                <a:latin typeface="+mj-lt"/>
              </a:rPr>
              <a:t>Zeebe</a:t>
            </a:r>
            <a:r>
              <a:rPr lang="en-US" sz="3400" b="1" dirty="0">
                <a:latin typeface="+mj-lt"/>
              </a:rPr>
              <a:t> Kafka Integration</a:t>
            </a:r>
            <a:endParaRPr lang="en-US" sz="3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a:p>
            <a:pPr>
              <a:buFont typeface="Wingdings" panose="05000000000000000000" pitchFamily="2" charset="2"/>
              <a:buChar char="v"/>
            </a:pPr>
            <a:endParaRPr lang="en-US" sz="2400" dirty="0"/>
          </a:p>
        </p:txBody>
      </p:sp>
      <p:cxnSp>
        <p:nvCxnSpPr>
          <p:cNvPr id="6" name="Straight Connector 5">
            <a:extLst>
              <a:ext uri="{FF2B5EF4-FFF2-40B4-BE49-F238E27FC236}">
                <a16:creationId xmlns:a16="http://schemas.microsoft.com/office/drawing/2014/main" id="{DC38B100-5CEE-4AC5-B912-4005073C5086}"/>
              </a:ext>
            </a:extLst>
          </p:cNvPr>
          <p:cNvCxnSpPr/>
          <p:nvPr/>
        </p:nvCxnSpPr>
        <p:spPr>
          <a:xfrm>
            <a:off x="0" y="1690688"/>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03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8B48-F089-403C-8E0F-323E8B9A873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001D74A-FCF3-4745-99BC-0B8A5DC1CD5C}"/>
              </a:ext>
            </a:extLst>
          </p:cNvPr>
          <p:cNvSpPr>
            <a:spLocks noGrp="1"/>
          </p:cNvSpPr>
          <p:nvPr>
            <p:ph idx="1"/>
          </p:nvPr>
        </p:nvSpPr>
        <p:spPr/>
        <p:txBody>
          <a:bodyPr/>
          <a:lstStyle/>
          <a:p>
            <a:pPr marL="0" indent="0">
              <a:buNone/>
            </a:pPr>
            <a:r>
              <a:rPr lang="en-US" dirty="0"/>
              <a:t> </a:t>
            </a:r>
          </a:p>
        </p:txBody>
      </p:sp>
      <p:sp>
        <p:nvSpPr>
          <p:cNvPr id="12" name="Title 1">
            <a:extLst>
              <a:ext uri="{FF2B5EF4-FFF2-40B4-BE49-F238E27FC236}">
                <a16:creationId xmlns:a16="http://schemas.microsoft.com/office/drawing/2014/main" id="{8C5944B8-B5C5-4C3C-A45A-A9514F28D0B9}"/>
              </a:ext>
            </a:extLst>
          </p:cNvPr>
          <p:cNvSpPr txBox="1">
            <a:spLocks/>
          </p:cNvSpPr>
          <p:nvPr/>
        </p:nvSpPr>
        <p:spPr>
          <a:xfrm>
            <a:off x="1524000" y="1122363"/>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 </a:t>
            </a:r>
            <a:endParaRPr lang="en-IN" dirty="0"/>
          </a:p>
        </p:txBody>
      </p:sp>
      <p:sp>
        <p:nvSpPr>
          <p:cNvPr id="13" name="Subtitle 2">
            <a:extLst>
              <a:ext uri="{FF2B5EF4-FFF2-40B4-BE49-F238E27FC236}">
                <a16:creationId xmlns:a16="http://schemas.microsoft.com/office/drawing/2014/main" id="{61E13982-7A1F-4311-A8F2-07A584090C9F}"/>
              </a:ext>
            </a:extLst>
          </p:cNvPr>
          <p:cNvSpPr txBox="1">
            <a:spLocks/>
          </p:cNvSpPr>
          <p:nvPr/>
        </p:nvSpPr>
        <p:spPr>
          <a:xfrm>
            <a:off x="1524000" y="3602038"/>
            <a:ext cx="9144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p:txBody>
      </p:sp>
      <p:sp>
        <p:nvSpPr>
          <p:cNvPr id="14" name="Title 1">
            <a:extLst>
              <a:ext uri="{FF2B5EF4-FFF2-40B4-BE49-F238E27FC236}">
                <a16:creationId xmlns:a16="http://schemas.microsoft.com/office/drawing/2014/main" id="{706D48AD-B1A9-4132-ACC1-8EB948327745}"/>
              </a:ext>
            </a:extLst>
          </p:cNvPr>
          <p:cNvSpPr txBox="1">
            <a:spLocks/>
          </p:cNvSpPr>
          <p:nvPr/>
        </p:nvSpPr>
        <p:spPr>
          <a:xfrm>
            <a:off x="1053353" y="802704"/>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a:solidFill>
                  <a:srgbClr val="202124"/>
                </a:solidFill>
                <a:latin typeface="arial" panose="020B0604020202020204" pitchFamily="34" charset="0"/>
              </a:rPr>
            </a:br>
            <a:endParaRPr lang="en-IN" dirty="0"/>
          </a:p>
        </p:txBody>
      </p:sp>
      <p:sp>
        <p:nvSpPr>
          <p:cNvPr id="15" name="Subtitle 2">
            <a:extLst>
              <a:ext uri="{FF2B5EF4-FFF2-40B4-BE49-F238E27FC236}">
                <a16:creationId xmlns:a16="http://schemas.microsoft.com/office/drawing/2014/main" id="{A05C9FD9-1943-4F97-A045-AD82C13B56D9}"/>
              </a:ext>
            </a:extLst>
          </p:cNvPr>
          <p:cNvSpPr txBox="1">
            <a:spLocks/>
          </p:cNvSpPr>
          <p:nvPr/>
        </p:nvSpPr>
        <p:spPr>
          <a:xfrm>
            <a:off x="843604" y="1703338"/>
            <a:ext cx="10299732" cy="4829538"/>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3500" dirty="0">
              <a:solidFill>
                <a:srgbClr val="202124"/>
              </a:solidFill>
              <a:latin typeface="arial" panose="020B0604020202020204" pitchFamily="34" charset="0"/>
            </a:endParaRPr>
          </a:p>
          <a:p>
            <a:pPr marL="342900" indent="-342900" algn="l">
              <a:buFont typeface="Arial" panose="020B0604020202020204" pitchFamily="34" charset="0"/>
              <a:buChar char="•"/>
            </a:pPr>
            <a:r>
              <a:rPr lang="en-US" sz="2000" dirty="0">
                <a:solidFill>
                  <a:srgbClr val="4D5156"/>
                </a:solidFill>
                <a:latin typeface="arial" panose="020B0604020202020204" pitchFamily="34" charset="0"/>
              </a:rPr>
              <a:t>Camunda business process management is an open-source platform that allows users to create and deploy workflows and automate decisions.</a:t>
            </a:r>
          </a:p>
          <a:p>
            <a:pPr marL="342900" indent="-342900" algn="l">
              <a:buFont typeface="Arial" panose="020B0604020202020204" pitchFamily="34" charset="0"/>
              <a:buChar char="•"/>
            </a:pPr>
            <a:r>
              <a:rPr lang="en-US" sz="2000" dirty="0">
                <a:solidFill>
                  <a:srgbClr val="4D5156"/>
                </a:solidFill>
                <a:latin typeface="arial" panose="020B0604020202020204" pitchFamily="34" charset="0"/>
              </a:rPr>
              <a:t>Camunda comes with several user-friendly interfaces to develop workflows and deploy those.</a:t>
            </a:r>
          </a:p>
          <a:p>
            <a:pPr marL="342900" indent="-342900" algn="l">
              <a:buFont typeface="Arial" panose="020B0604020202020204" pitchFamily="34" charset="0"/>
              <a:buChar char="•"/>
            </a:pPr>
            <a:r>
              <a:rPr lang="en-US" sz="2000" dirty="0">
                <a:solidFill>
                  <a:srgbClr val="4D5156"/>
                </a:solidFill>
                <a:latin typeface="arial" panose="020B0604020202020204" pitchFamily="34" charset="0"/>
              </a:rPr>
              <a:t>Camunda is a developer-friendly workflow automation engine for business processes. </a:t>
            </a:r>
          </a:p>
          <a:p>
            <a:pPr marL="342900" indent="-342900" algn="l">
              <a:buFont typeface="Arial" panose="020B0604020202020204" pitchFamily="34" charset="0"/>
              <a:buChar char="•"/>
            </a:pPr>
            <a:r>
              <a:rPr lang="en-US" sz="2000" dirty="0">
                <a:solidFill>
                  <a:srgbClr val="4D5156"/>
                </a:solidFill>
                <a:latin typeface="arial" panose="020B0604020202020204" pitchFamily="34" charset="0"/>
              </a:rPr>
              <a:t>Camunda Platform ships with tools for creating </a:t>
            </a:r>
          </a:p>
          <a:p>
            <a:pPr marL="800100" lvl="1" indent="-342900" algn="l">
              <a:buFont typeface="Arial" panose="020B0604020202020204" pitchFamily="34" charset="0"/>
              <a:buChar char="•"/>
            </a:pPr>
            <a:r>
              <a:rPr lang="en-US" dirty="0">
                <a:solidFill>
                  <a:srgbClr val="4D5156"/>
                </a:solidFill>
                <a:latin typeface="arial" panose="020B0604020202020204" pitchFamily="34" charset="0"/>
              </a:rPr>
              <a:t>Business Process workflow (Camunda Modeler)</a:t>
            </a:r>
          </a:p>
          <a:p>
            <a:pPr marL="800100" lvl="1" indent="-342900" algn="l">
              <a:buFont typeface="Arial" panose="020B0604020202020204" pitchFamily="34" charset="0"/>
              <a:buChar char="•"/>
            </a:pPr>
            <a:r>
              <a:rPr lang="en-US" dirty="0">
                <a:solidFill>
                  <a:srgbClr val="4D5156"/>
                </a:solidFill>
                <a:latin typeface="arial" panose="020B0604020202020204" pitchFamily="34" charset="0"/>
              </a:rPr>
              <a:t>Camunda Cockpit</a:t>
            </a:r>
          </a:p>
          <a:p>
            <a:pPr marL="800100" lvl="1" indent="-342900" algn="l">
              <a:buFont typeface="Arial" panose="020B0604020202020204" pitchFamily="34" charset="0"/>
              <a:buChar char="•"/>
            </a:pPr>
            <a:r>
              <a:rPr lang="en-US" dirty="0">
                <a:solidFill>
                  <a:srgbClr val="4D5156"/>
                </a:solidFill>
                <a:latin typeface="arial" panose="020B0604020202020204" pitchFamily="34" charset="0"/>
              </a:rPr>
              <a:t>Camunda Tasklist</a:t>
            </a:r>
          </a:p>
        </p:txBody>
      </p:sp>
      <p:cxnSp>
        <p:nvCxnSpPr>
          <p:cNvPr id="17" name="Straight Connector 16">
            <a:extLst>
              <a:ext uri="{FF2B5EF4-FFF2-40B4-BE49-F238E27FC236}">
                <a16:creationId xmlns:a16="http://schemas.microsoft.com/office/drawing/2014/main" id="{D1E641E5-B2DB-4B63-9F5D-C27D990CDCF6}"/>
              </a:ext>
            </a:extLst>
          </p:cNvPr>
          <p:cNvCxnSpPr/>
          <p:nvPr/>
        </p:nvCxnSpPr>
        <p:spPr>
          <a:xfrm>
            <a:off x="0" y="1336110"/>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4310D09-2E82-4ECF-8583-382C35195840}"/>
              </a:ext>
            </a:extLst>
          </p:cNvPr>
          <p:cNvSpPr txBox="1"/>
          <p:nvPr/>
        </p:nvSpPr>
        <p:spPr>
          <a:xfrm>
            <a:off x="1552992" y="341523"/>
            <a:ext cx="6506136" cy="646331"/>
          </a:xfrm>
          <a:prstGeom prst="rect">
            <a:avLst/>
          </a:prstGeom>
          <a:noFill/>
        </p:spPr>
        <p:txBody>
          <a:bodyPr wrap="square">
            <a:spAutoFit/>
          </a:bodyPr>
          <a:lstStyle/>
          <a:p>
            <a:r>
              <a:rPr lang="en-US" sz="3600" dirty="0">
                <a:solidFill>
                  <a:srgbClr val="202124"/>
                </a:solidFill>
                <a:latin typeface="arial" panose="020B0604020202020204" pitchFamily="34" charset="0"/>
              </a:rPr>
              <a:t>What is C</a:t>
            </a:r>
            <a:r>
              <a:rPr lang="en-US" sz="3600" b="0" i="0" dirty="0">
                <a:solidFill>
                  <a:srgbClr val="202124"/>
                </a:solidFill>
                <a:effectLst/>
                <a:latin typeface="arial" panose="020B0604020202020204" pitchFamily="34" charset="0"/>
              </a:rPr>
              <a:t>amunda</a:t>
            </a:r>
            <a:endParaRPr lang="en-IN" sz="3600" dirty="0"/>
          </a:p>
        </p:txBody>
      </p:sp>
      <p:pic>
        <p:nvPicPr>
          <p:cNvPr id="14338" name="Picture 2" descr="Camunda Modeler 4.0.0 Released - Camunda">
            <a:extLst>
              <a:ext uri="{FF2B5EF4-FFF2-40B4-BE49-F238E27FC236}">
                <a16:creationId xmlns:a16="http://schemas.microsoft.com/office/drawing/2014/main" id="{609C0C8C-BEAF-4D66-9E53-F67E87746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90" y="156441"/>
            <a:ext cx="960880" cy="96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827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8B48-F089-403C-8E0F-323E8B9A873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001D74A-FCF3-4745-99BC-0B8A5DC1CD5C}"/>
              </a:ext>
            </a:extLst>
          </p:cNvPr>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marL="0" indent="0">
              <a:buNone/>
            </a:pPr>
            <a:r>
              <a:rPr lang="en-US" dirty="0"/>
              <a:t> </a:t>
            </a:r>
          </a:p>
        </p:txBody>
      </p:sp>
      <p:sp>
        <p:nvSpPr>
          <p:cNvPr id="13" name="Subtitle 2">
            <a:extLst>
              <a:ext uri="{FF2B5EF4-FFF2-40B4-BE49-F238E27FC236}">
                <a16:creationId xmlns:a16="http://schemas.microsoft.com/office/drawing/2014/main" id="{61E13982-7A1F-4311-A8F2-07A584090C9F}"/>
              </a:ext>
            </a:extLst>
          </p:cNvPr>
          <p:cNvSpPr txBox="1">
            <a:spLocks/>
          </p:cNvSpPr>
          <p:nvPr/>
        </p:nvSpPr>
        <p:spPr>
          <a:xfrm>
            <a:off x="1524000" y="3602038"/>
            <a:ext cx="9144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p:txBody>
      </p:sp>
      <p:cxnSp>
        <p:nvCxnSpPr>
          <p:cNvPr id="17" name="Straight Connector 16">
            <a:extLst>
              <a:ext uri="{FF2B5EF4-FFF2-40B4-BE49-F238E27FC236}">
                <a16:creationId xmlns:a16="http://schemas.microsoft.com/office/drawing/2014/main" id="{D1E641E5-B2DB-4B63-9F5D-C27D990CDCF6}"/>
              </a:ext>
            </a:extLst>
          </p:cNvPr>
          <p:cNvCxnSpPr/>
          <p:nvPr/>
        </p:nvCxnSpPr>
        <p:spPr>
          <a:xfrm>
            <a:off x="0" y="1336110"/>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4310D09-2E82-4ECF-8583-382C35195840}"/>
              </a:ext>
            </a:extLst>
          </p:cNvPr>
          <p:cNvSpPr txBox="1"/>
          <p:nvPr/>
        </p:nvSpPr>
        <p:spPr>
          <a:xfrm>
            <a:off x="1552992" y="341523"/>
            <a:ext cx="6506136" cy="646331"/>
          </a:xfrm>
          <a:prstGeom prst="rect">
            <a:avLst/>
          </a:prstGeom>
          <a:noFill/>
        </p:spPr>
        <p:txBody>
          <a:bodyPr wrap="square">
            <a:spAutoFit/>
          </a:bodyPr>
          <a:lstStyle/>
          <a:p>
            <a:r>
              <a:rPr lang="en-US" sz="3600" dirty="0">
                <a:solidFill>
                  <a:srgbClr val="202124"/>
                </a:solidFill>
                <a:latin typeface="arial" panose="020B0604020202020204" pitchFamily="34" charset="0"/>
              </a:rPr>
              <a:t>C</a:t>
            </a:r>
            <a:r>
              <a:rPr lang="en-US" sz="3600" b="0" i="0" dirty="0">
                <a:solidFill>
                  <a:srgbClr val="202124"/>
                </a:solidFill>
                <a:effectLst/>
                <a:latin typeface="arial" panose="020B0604020202020204" pitchFamily="34" charset="0"/>
              </a:rPr>
              <a:t>amunda Simple Workflow</a:t>
            </a:r>
            <a:endParaRPr lang="en-IN" sz="3600" dirty="0"/>
          </a:p>
        </p:txBody>
      </p:sp>
      <p:pic>
        <p:nvPicPr>
          <p:cNvPr id="14338" name="Picture 2" descr="Camunda Modeler 4.0.0 Released - Camunda">
            <a:extLst>
              <a:ext uri="{FF2B5EF4-FFF2-40B4-BE49-F238E27FC236}">
                <a16:creationId xmlns:a16="http://schemas.microsoft.com/office/drawing/2014/main" id="{609C0C8C-BEAF-4D66-9E53-F67E87746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90" y="156441"/>
            <a:ext cx="960880" cy="9608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D7AA901-4272-492C-B4CF-EE1C8350A029}"/>
              </a:ext>
            </a:extLst>
          </p:cNvPr>
          <p:cNvPicPr>
            <a:picLocks noChangeAspect="1"/>
          </p:cNvPicPr>
          <p:nvPr/>
        </p:nvPicPr>
        <p:blipFill>
          <a:blip r:embed="rId3"/>
          <a:stretch>
            <a:fillRect/>
          </a:stretch>
        </p:blipFill>
        <p:spPr>
          <a:xfrm>
            <a:off x="1501670" y="2148236"/>
            <a:ext cx="9537866" cy="3606880"/>
          </a:xfrm>
          <a:prstGeom prst="rect">
            <a:avLst/>
          </a:prstGeom>
          <a:ln>
            <a:noFill/>
          </a:ln>
          <a:effectLst>
            <a:outerShdw blurRad="292100" dist="139700" dir="2700000" algn="tl" rotWithShape="0">
              <a:srgbClr val="333333">
                <a:alpha val="65000"/>
              </a:srgbClr>
            </a:outerShdw>
          </a:effectLst>
        </p:spPr>
        <p:style>
          <a:lnRef idx="2">
            <a:schemeClr val="accent2">
              <a:shade val="50000"/>
            </a:schemeClr>
          </a:lnRef>
          <a:fillRef idx="1">
            <a:schemeClr val="accent2"/>
          </a:fillRef>
          <a:effectRef idx="0">
            <a:schemeClr val="accent2"/>
          </a:effectRef>
          <a:fontRef idx="minor">
            <a:schemeClr val="lt1"/>
          </a:fontRef>
        </p:style>
      </p:pic>
    </p:spTree>
    <p:extLst>
      <p:ext uri="{BB962C8B-B14F-4D97-AF65-F5344CB8AC3E}">
        <p14:creationId xmlns:p14="http://schemas.microsoft.com/office/powerpoint/2010/main" val="346255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4E0C-5754-45DE-9426-B7EF02452CE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85E1116-747D-4AC1-9FCE-FCF02233A9E3}"/>
              </a:ext>
            </a:extLst>
          </p:cNvPr>
          <p:cNvSpPr>
            <a:spLocks noGrp="1"/>
          </p:cNvSpPr>
          <p:nvPr>
            <p:ph idx="1"/>
          </p:nvPr>
        </p:nvSpPr>
        <p:spPr/>
        <p:txBody>
          <a:bodyPr/>
          <a:lstStyle/>
          <a:p>
            <a:pPr marL="0" indent="0">
              <a:buNone/>
            </a:pPr>
            <a:r>
              <a:rPr lang="en-US" dirty="0"/>
              <a:t> </a:t>
            </a:r>
          </a:p>
        </p:txBody>
      </p:sp>
      <p:sp>
        <p:nvSpPr>
          <p:cNvPr id="4" name="Title 1">
            <a:extLst>
              <a:ext uri="{FF2B5EF4-FFF2-40B4-BE49-F238E27FC236}">
                <a16:creationId xmlns:a16="http://schemas.microsoft.com/office/drawing/2014/main" id="{19BCF203-C9ED-4DC9-AA5D-A1B87DCB71F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 </a:t>
            </a:r>
            <a:endParaRPr lang="en-IN" dirty="0"/>
          </a:p>
        </p:txBody>
      </p:sp>
      <p:sp>
        <p:nvSpPr>
          <p:cNvPr id="5" name="Content Placeholder 2">
            <a:extLst>
              <a:ext uri="{FF2B5EF4-FFF2-40B4-BE49-F238E27FC236}">
                <a16:creationId xmlns:a16="http://schemas.microsoft.com/office/drawing/2014/main" id="{BF341395-7FCA-406A-8E9B-ED752FEAEE3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endParaRPr lang="en-IN" dirty="0"/>
          </a:p>
        </p:txBody>
      </p:sp>
      <p:sp>
        <p:nvSpPr>
          <p:cNvPr id="6" name="Title 1">
            <a:extLst>
              <a:ext uri="{FF2B5EF4-FFF2-40B4-BE49-F238E27FC236}">
                <a16:creationId xmlns:a16="http://schemas.microsoft.com/office/drawing/2014/main" id="{C96B226A-4DC0-461A-AA50-622445A6E6E6}"/>
              </a:ext>
            </a:extLst>
          </p:cNvPr>
          <p:cNvSpPr txBox="1">
            <a:spLocks/>
          </p:cNvSpPr>
          <p:nvPr/>
        </p:nvSpPr>
        <p:spPr>
          <a:xfrm>
            <a:off x="1552992" y="11474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About Camunda</a:t>
            </a:r>
            <a:endParaRPr lang="en-IN" sz="3600" dirty="0"/>
          </a:p>
        </p:txBody>
      </p:sp>
      <p:sp>
        <p:nvSpPr>
          <p:cNvPr id="7" name="Content Placeholder 2">
            <a:extLst>
              <a:ext uri="{FF2B5EF4-FFF2-40B4-BE49-F238E27FC236}">
                <a16:creationId xmlns:a16="http://schemas.microsoft.com/office/drawing/2014/main" id="{392FCA11-B08E-4DEC-B305-38DB0100D288}"/>
              </a:ext>
            </a:extLst>
          </p:cNvPr>
          <p:cNvSpPr txBox="1">
            <a:spLocks/>
          </p:cNvSpPr>
          <p:nvPr/>
        </p:nvSpPr>
        <p:spPr>
          <a:xfrm>
            <a:off x="838200" y="131198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Camunda is </a:t>
            </a:r>
            <a:r>
              <a:rPr lang="en-US" sz="2400" dirty="0">
                <a:solidFill>
                  <a:srgbClr val="202124"/>
                </a:solidFill>
                <a:latin typeface="arial" panose="020B0604020202020204" pitchFamily="34" charset="0"/>
              </a:rPr>
              <a:t>open-source and L</a:t>
            </a:r>
            <a:r>
              <a:rPr lang="en-US" sz="2400" dirty="0"/>
              <a:t>ight Weighted</a:t>
            </a:r>
            <a:r>
              <a:rPr lang="en-US" sz="2400" dirty="0">
                <a:solidFill>
                  <a:srgbClr val="202124"/>
                </a:solidFill>
                <a:latin typeface="arial" panose="020B0604020202020204" pitchFamily="34" charset="0"/>
              </a:rPr>
              <a:t>, </a:t>
            </a:r>
          </a:p>
          <a:p>
            <a:r>
              <a:rPr lang="en-US" sz="2400" dirty="0">
                <a:solidFill>
                  <a:srgbClr val="202124"/>
                </a:solidFill>
                <a:latin typeface="arial" panose="020B0604020202020204" pitchFamily="34" charset="0"/>
              </a:rPr>
              <a:t>Supports micro-service architectures and ships with an extensive REST API.</a:t>
            </a:r>
            <a:endParaRPr lang="en-IN" sz="2400" dirty="0"/>
          </a:p>
        </p:txBody>
      </p:sp>
      <p:sp>
        <p:nvSpPr>
          <p:cNvPr id="8" name="TextBox 7">
            <a:extLst>
              <a:ext uri="{FF2B5EF4-FFF2-40B4-BE49-F238E27FC236}">
                <a16:creationId xmlns:a16="http://schemas.microsoft.com/office/drawing/2014/main" id="{30A3F5FC-982D-4330-8A2D-58BC40574978}"/>
              </a:ext>
            </a:extLst>
          </p:cNvPr>
          <p:cNvSpPr txBox="1"/>
          <p:nvPr/>
        </p:nvSpPr>
        <p:spPr>
          <a:xfrm>
            <a:off x="4056434" y="5739319"/>
            <a:ext cx="3350148" cy="369332"/>
          </a:xfrm>
          <a:prstGeom prst="rect">
            <a:avLst/>
          </a:prstGeom>
          <a:noFill/>
        </p:spPr>
        <p:txBody>
          <a:bodyPr wrap="none" rtlCol="0">
            <a:spAutoFit/>
          </a:bodyPr>
          <a:lstStyle/>
          <a:p>
            <a:r>
              <a:rPr lang="en-US" dirty="0"/>
              <a:t>Automate Any Process, Anywhere</a:t>
            </a:r>
            <a:endParaRPr lang="en-IN" dirty="0"/>
          </a:p>
        </p:txBody>
      </p:sp>
      <p:cxnSp>
        <p:nvCxnSpPr>
          <p:cNvPr id="10" name="Straight Connector 9">
            <a:extLst>
              <a:ext uri="{FF2B5EF4-FFF2-40B4-BE49-F238E27FC236}">
                <a16:creationId xmlns:a16="http://schemas.microsoft.com/office/drawing/2014/main" id="{EC832FBC-FCB2-4B58-B2B6-A8BF7E23B009}"/>
              </a:ext>
            </a:extLst>
          </p:cNvPr>
          <p:cNvCxnSpPr/>
          <p:nvPr/>
        </p:nvCxnSpPr>
        <p:spPr>
          <a:xfrm>
            <a:off x="0" y="1295232"/>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274D1937-7547-4696-9B1A-DC4E95AED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3139" y="2352590"/>
            <a:ext cx="7428571" cy="4238095"/>
          </a:xfrm>
          <a:prstGeom prst="rect">
            <a:avLst/>
          </a:prstGeom>
        </p:spPr>
      </p:pic>
      <p:pic>
        <p:nvPicPr>
          <p:cNvPr id="13" name="Picture 2" descr="Camunda Modeler 4.0.0 Released - Camunda">
            <a:extLst>
              <a:ext uri="{FF2B5EF4-FFF2-40B4-BE49-F238E27FC236}">
                <a16:creationId xmlns:a16="http://schemas.microsoft.com/office/drawing/2014/main" id="{76977F4F-BC9B-487F-8C10-91E30E462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308363"/>
            <a:ext cx="841792" cy="841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620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8B48-F089-403C-8E0F-323E8B9A8736}"/>
              </a:ext>
            </a:extLst>
          </p:cNvPr>
          <p:cNvSpPr>
            <a:spLocks noGrp="1"/>
          </p:cNvSpPr>
          <p:nvPr>
            <p:ph type="title"/>
          </p:nvPr>
        </p:nvSpPr>
        <p:spPr/>
        <p:txBody>
          <a:bodyPr/>
          <a:lstStyle/>
          <a:p>
            <a:r>
              <a:rPr lang="en-US" dirty="0"/>
              <a:t> </a:t>
            </a:r>
          </a:p>
        </p:txBody>
      </p:sp>
      <p:sp>
        <p:nvSpPr>
          <p:cNvPr id="12" name="Title 1">
            <a:extLst>
              <a:ext uri="{FF2B5EF4-FFF2-40B4-BE49-F238E27FC236}">
                <a16:creationId xmlns:a16="http://schemas.microsoft.com/office/drawing/2014/main" id="{8C5944B8-B5C5-4C3C-A45A-A9514F28D0B9}"/>
              </a:ext>
            </a:extLst>
          </p:cNvPr>
          <p:cNvSpPr txBox="1">
            <a:spLocks/>
          </p:cNvSpPr>
          <p:nvPr/>
        </p:nvSpPr>
        <p:spPr>
          <a:xfrm>
            <a:off x="1524000" y="1122363"/>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 </a:t>
            </a:r>
            <a:endParaRPr lang="en-IN" dirty="0"/>
          </a:p>
        </p:txBody>
      </p:sp>
      <p:sp>
        <p:nvSpPr>
          <p:cNvPr id="14" name="Title 1">
            <a:extLst>
              <a:ext uri="{FF2B5EF4-FFF2-40B4-BE49-F238E27FC236}">
                <a16:creationId xmlns:a16="http://schemas.microsoft.com/office/drawing/2014/main" id="{706D48AD-B1A9-4132-ACC1-8EB948327745}"/>
              </a:ext>
            </a:extLst>
          </p:cNvPr>
          <p:cNvSpPr txBox="1">
            <a:spLocks/>
          </p:cNvSpPr>
          <p:nvPr/>
        </p:nvSpPr>
        <p:spPr>
          <a:xfrm>
            <a:off x="1053353" y="802704"/>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a:solidFill>
                  <a:srgbClr val="202124"/>
                </a:solidFill>
                <a:latin typeface="arial" panose="020B0604020202020204" pitchFamily="34" charset="0"/>
              </a:rPr>
            </a:br>
            <a:endParaRPr lang="en-IN" dirty="0"/>
          </a:p>
        </p:txBody>
      </p:sp>
      <p:sp>
        <p:nvSpPr>
          <p:cNvPr id="15" name="Subtitle 2">
            <a:extLst>
              <a:ext uri="{FF2B5EF4-FFF2-40B4-BE49-F238E27FC236}">
                <a16:creationId xmlns:a16="http://schemas.microsoft.com/office/drawing/2014/main" id="{A05C9FD9-1943-4F97-A045-AD82C13B56D9}"/>
              </a:ext>
            </a:extLst>
          </p:cNvPr>
          <p:cNvSpPr txBox="1">
            <a:spLocks/>
          </p:cNvSpPr>
          <p:nvPr/>
        </p:nvSpPr>
        <p:spPr>
          <a:xfrm>
            <a:off x="838200" y="1814691"/>
            <a:ext cx="10299732" cy="3432558"/>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b="0" i="0" dirty="0">
              <a:solidFill>
                <a:srgbClr val="1C1E21"/>
              </a:solidFill>
              <a:effectLst/>
              <a:latin typeface="IBM Plex Sans" panose="020B0503050203000203" pitchFamily="34" charset="0"/>
            </a:endParaRPr>
          </a:p>
          <a:p>
            <a:pPr algn="l"/>
            <a:r>
              <a:rPr lang="en-US" sz="2800" b="0" i="0" dirty="0">
                <a:solidFill>
                  <a:srgbClr val="1C1E21"/>
                </a:solidFill>
                <a:effectLst/>
                <a:latin typeface="IBM Plex Sans" panose="020B0503050203000203" pitchFamily="34" charset="0"/>
              </a:rPr>
              <a:t>Camunda Platform 8 is comprised  of below components:</a:t>
            </a:r>
          </a:p>
          <a:p>
            <a:pPr algn="l"/>
            <a:endParaRPr lang="en-US" sz="2800" b="0" i="0" dirty="0">
              <a:solidFill>
                <a:srgbClr val="1C1E21"/>
              </a:solidFill>
              <a:effectLst/>
              <a:latin typeface="IBM Plex Sans" panose="020B0503050203000203" pitchFamily="34" charset="0"/>
            </a:endParaRPr>
          </a:p>
          <a:p>
            <a:pPr marL="457200" indent="-457200" algn="l">
              <a:buFont typeface="Wingdings" panose="05000000000000000000" pitchFamily="2" charset="2"/>
              <a:buChar char="v"/>
            </a:pPr>
            <a:r>
              <a:rPr lang="en-US" sz="2900" b="0" i="0" dirty="0">
                <a:solidFill>
                  <a:srgbClr val="1C1E21"/>
                </a:solidFill>
                <a:effectLst/>
              </a:rPr>
              <a:t>Zeebe - Zeebe is the cloud-native process engine of Camunda Platform 8.</a:t>
            </a:r>
          </a:p>
          <a:p>
            <a:pPr marL="457200" indent="-457200" algn="l">
              <a:buFont typeface="Wingdings" panose="05000000000000000000" pitchFamily="2" charset="2"/>
              <a:buChar char="v"/>
            </a:pPr>
            <a:r>
              <a:rPr lang="en-US" sz="2900" b="0" i="0" dirty="0">
                <a:solidFill>
                  <a:srgbClr val="1C1E21"/>
                </a:solidFill>
                <a:effectLst/>
              </a:rPr>
              <a:t>Operate - Manage, monitor, and troubleshoot your processes through Operate.</a:t>
            </a:r>
          </a:p>
          <a:p>
            <a:pPr marL="457200" indent="-457200" algn="l">
              <a:buFont typeface="Wingdings" panose="05000000000000000000" pitchFamily="2" charset="2"/>
              <a:buChar char="v"/>
            </a:pPr>
            <a:r>
              <a:rPr lang="en-US" sz="2900" b="0" i="0" dirty="0">
                <a:solidFill>
                  <a:srgbClr val="1C1E21"/>
                </a:solidFill>
                <a:effectLst/>
              </a:rPr>
              <a:t>Optimize - Improve your processes by identifying constraints in your system with Optimize.</a:t>
            </a:r>
          </a:p>
          <a:p>
            <a:pPr marL="457200" indent="-457200" algn="l">
              <a:buFont typeface="Wingdings" panose="05000000000000000000" pitchFamily="2" charset="2"/>
              <a:buChar char="v"/>
            </a:pPr>
            <a:r>
              <a:rPr lang="en-US" sz="2900" b="0" i="0" dirty="0">
                <a:solidFill>
                  <a:srgbClr val="1C1E21"/>
                </a:solidFill>
                <a:effectLst/>
              </a:rPr>
              <a:t>Tasklist - Use Tasklist to complete tasks which need human input.</a:t>
            </a:r>
          </a:p>
          <a:p>
            <a:pPr marL="457200" indent="-457200" algn="l">
              <a:buFont typeface="Wingdings" panose="05000000000000000000" pitchFamily="2" charset="2"/>
              <a:buChar char="v"/>
            </a:pPr>
            <a:r>
              <a:rPr lang="en-US" sz="2900" b="0" i="0" dirty="0">
                <a:solidFill>
                  <a:srgbClr val="1C1E21"/>
                </a:solidFill>
                <a:effectLst/>
              </a:rPr>
              <a:t>Console - Configure and deploy clusters with Console.</a:t>
            </a:r>
          </a:p>
          <a:p>
            <a:pPr marL="457200" indent="-457200" algn="l">
              <a:buFont typeface="Wingdings" panose="05000000000000000000" pitchFamily="2" charset="2"/>
              <a:buChar char="v"/>
            </a:pPr>
            <a:r>
              <a:rPr lang="en-US" sz="2900" b="0" i="0" dirty="0">
                <a:solidFill>
                  <a:srgbClr val="1C1E21"/>
                </a:solidFill>
                <a:effectLst/>
              </a:rPr>
              <a:t>Web Modeler - Model processes, deploy and start new instances all without leaving Camunda Platform 8.</a:t>
            </a:r>
          </a:p>
        </p:txBody>
      </p:sp>
      <p:cxnSp>
        <p:nvCxnSpPr>
          <p:cNvPr id="17" name="Straight Connector 16">
            <a:extLst>
              <a:ext uri="{FF2B5EF4-FFF2-40B4-BE49-F238E27FC236}">
                <a16:creationId xmlns:a16="http://schemas.microsoft.com/office/drawing/2014/main" id="{D1E641E5-B2DB-4B63-9F5D-C27D990CDCF6}"/>
              </a:ext>
            </a:extLst>
          </p:cNvPr>
          <p:cNvCxnSpPr/>
          <p:nvPr/>
        </p:nvCxnSpPr>
        <p:spPr>
          <a:xfrm>
            <a:off x="0" y="1336110"/>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4310D09-2E82-4ECF-8583-382C35195840}"/>
              </a:ext>
            </a:extLst>
          </p:cNvPr>
          <p:cNvSpPr txBox="1"/>
          <p:nvPr/>
        </p:nvSpPr>
        <p:spPr>
          <a:xfrm>
            <a:off x="1552992" y="341523"/>
            <a:ext cx="6506136" cy="646331"/>
          </a:xfrm>
          <a:prstGeom prst="rect">
            <a:avLst/>
          </a:prstGeom>
          <a:noFill/>
        </p:spPr>
        <p:txBody>
          <a:bodyPr wrap="square">
            <a:spAutoFit/>
          </a:bodyPr>
          <a:lstStyle/>
          <a:p>
            <a:r>
              <a:rPr lang="en-US" sz="3600" dirty="0">
                <a:solidFill>
                  <a:srgbClr val="202124"/>
                </a:solidFill>
                <a:latin typeface="arial" panose="020B0604020202020204" pitchFamily="34" charset="0"/>
              </a:rPr>
              <a:t>What is C</a:t>
            </a:r>
            <a:r>
              <a:rPr lang="en-US" sz="3600" b="0" i="0" dirty="0">
                <a:solidFill>
                  <a:srgbClr val="202124"/>
                </a:solidFill>
                <a:effectLst/>
                <a:latin typeface="arial" panose="020B0604020202020204" pitchFamily="34" charset="0"/>
              </a:rPr>
              <a:t>amunda Platform8</a:t>
            </a:r>
            <a:endParaRPr lang="en-IN" sz="3600" dirty="0"/>
          </a:p>
        </p:txBody>
      </p:sp>
      <p:pic>
        <p:nvPicPr>
          <p:cNvPr id="14338" name="Picture 2" descr="Camunda Modeler 4.0.0 Released - Camunda">
            <a:extLst>
              <a:ext uri="{FF2B5EF4-FFF2-40B4-BE49-F238E27FC236}">
                <a16:creationId xmlns:a16="http://schemas.microsoft.com/office/drawing/2014/main" id="{609C0C8C-BEAF-4D66-9E53-F67E87746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90" y="156441"/>
            <a:ext cx="960880" cy="96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03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515E-03D9-4CC0-B3C8-25B3032EBF46}"/>
              </a:ext>
            </a:extLst>
          </p:cNvPr>
          <p:cNvSpPr>
            <a:spLocks noGrp="1"/>
          </p:cNvSpPr>
          <p:nvPr>
            <p:ph type="title"/>
          </p:nvPr>
        </p:nvSpPr>
        <p:spPr>
          <a:xfrm>
            <a:off x="1676400" y="500062"/>
            <a:ext cx="10515600" cy="1325563"/>
          </a:xfrm>
        </p:spPr>
        <p:txBody>
          <a:bodyPr/>
          <a:lstStyle/>
          <a:p>
            <a:r>
              <a:rPr lang="en-US" dirty="0"/>
              <a:t>What is </a:t>
            </a:r>
            <a:r>
              <a:rPr lang="en-US" dirty="0" err="1"/>
              <a:t>Zeebe</a:t>
            </a:r>
            <a:endParaRPr lang="en-US" dirty="0"/>
          </a:p>
        </p:txBody>
      </p:sp>
      <p:sp>
        <p:nvSpPr>
          <p:cNvPr id="3" name="Content Placeholder 2">
            <a:extLst>
              <a:ext uri="{FF2B5EF4-FFF2-40B4-BE49-F238E27FC236}">
                <a16:creationId xmlns:a16="http://schemas.microsoft.com/office/drawing/2014/main" id="{5F4A1CFE-E0ED-4B68-BAC6-586ED03C6C82}"/>
              </a:ext>
            </a:extLst>
          </p:cNvPr>
          <p:cNvSpPr>
            <a:spLocks noGrp="1"/>
          </p:cNvSpPr>
          <p:nvPr>
            <p:ph idx="1"/>
          </p:nvPr>
        </p:nvSpPr>
        <p:spPr>
          <a:xfrm>
            <a:off x="875898" y="2117557"/>
            <a:ext cx="10477901" cy="4059405"/>
          </a:xfrm>
        </p:spPr>
        <p:txBody>
          <a:bodyPr>
            <a:normAutofit fontScale="92500" lnSpcReduction="10000"/>
          </a:bodyPr>
          <a:lstStyle/>
          <a:p>
            <a:r>
              <a:rPr lang="en-US" dirty="0"/>
              <a:t>Zeebe is a cloud-native workflow engine for microservices orchestration</a:t>
            </a:r>
          </a:p>
          <a:p>
            <a:r>
              <a:rPr lang="en-US" dirty="0"/>
              <a:t>Define processes graphically in BPMN 2.0.</a:t>
            </a:r>
          </a:p>
          <a:p>
            <a:r>
              <a:rPr lang="en-US" dirty="0"/>
              <a:t>Choose any </a:t>
            </a:r>
            <a:r>
              <a:rPr lang="en-US" dirty="0" err="1"/>
              <a:t>gRPC</a:t>
            </a:r>
            <a:r>
              <a:rPr lang="en-US" dirty="0"/>
              <a:t>-supported programming language to implement your workers.</a:t>
            </a:r>
          </a:p>
          <a:p>
            <a:r>
              <a:rPr lang="en-US" dirty="0"/>
              <a:t>Build processes that react to events from Apache Kafka messaging system.</a:t>
            </a:r>
          </a:p>
          <a:p>
            <a:r>
              <a:rPr lang="en-US" dirty="0"/>
              <a:t>Use as part of a software as a service (SaaS) offering with Camunda Platform 8 or deploy with Docker and Kubernetes (in the cloud or on-premises) with Camunda Platform 8 Self-Managed.</a:t>
            </a:r>
          </a:p>
          <a:p>
            <a:r>
              <a:rPr lang="en-US" dirty="0"/>
              <a:t>Scale horizontally to handle very high throughput.</a:t>
            </a:r>
          </a:p>
          <a:p>
            <a:r>
              <a:rPr lang="en-US" dirty="0"/>
              <a:t>Export processes data for monitoring and analysis - Elasticsearch exporter</a:t>
            </a:r>
          </a:p>
        </p:txBody>
      </p:sp>
      <p:cxnSp>
        <p:nvCxnSpPr>
          <p:cNvPr id="8" name="Straight Connector 7">
            <a:extLst>
              <a:ext uri="{FF2B5EF4-FFF2-40B4-BE49-F238E27FC236}">
                <a16:creationId xmlns:a16="http://schemas.microsoft.com/office/drawing/2014/main" id="{906DD958-54F2-4D7C-B71C-37CD6181EAF9}"/>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2" descr="Camunda Modeler 4.0.0 Released - Camunda">
            <a:extLst>
              <a:ext uri="{FF2B5EF4-FFF2-40B4-BE49-F238E27FC236}">
                <a16:creationId xmlns:a16="http://schemas.microsoft.com/office/drawing/2014/main" id="{B59A26D5-6C13-4EC4-B36B-9AB3A4B97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723" y="500062"/>
            <a:ext cx="960880" cy="96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85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515E-03D9-4CC0-B3C8-25B3032EBF46}"/>
              </a:ext>
            </a:extLst>
          </p:cNvPr>
          <p:cNvSpPr>
            <a:spLocks noGrp="1"/>
          </p:cNvSpPr>
          <p:nvPr>
            <p:ph type="title"/>
          </p:nvPr>
        </p:nvSpPr>
        <p:spPr>
          <a:xfrm>
            <a:off x="1676400" y="500062"/>
            <a:ext cx="10515600" cy="1325563"/>
          </a:xfrm>
        </p:spPr>
        <p:txBody>
          <a:bodyPr/>
          <a:lstStyle/>
          <a:p>
            <a:r>
              <a:rPr lang="en-US" dirty="0"/>
              <a:t>Zeebe Architecture</a:t>
            </a:r>
          </a:p>
        </p:txBody>
      </p:sp>
      <p:pic>
        <p:nvPicPr>
          <p:cNvPr id="4" name="Picture 3">
            <a:extLst>
              <a:ext uri="{FF2B5EF4-FFF2-40B4-BE49-F238E27FC236}">
                <a16:creationId xmlns:a16="http://schemas.microsoft.com/office/drawing/2014/main" id="{3366FF57-B5D5-46A6-BD93-39960D493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7160" y="2364474"/>
            <a:ext cx="7866469" cy="3222381"/>
          </a:xfrm>
          <a:prstGeom prst="rect">
            <a:avLst/>
          </a:prstGeom>
          <a:ln>
            <a:noFill/>
          </a:ln>
          <a:effectLst>
            <a:outerShdw blurRad="292100" dist="139700" dir="2700000" algn="tl" rotWithShape="0">
              <a:srgbClr val="333333">
                <a:alpha val="65000"/>
              </a:srgbClr>
            </a:outerShdw>
          </a:effectLst>
        </p:spPr>
      </p:pic>
      <p:cxnSp>
        <p:nvCxnSpPr>
          <p:cNvPr id="8" name="Straight Connector 7">
            <a:extLst>
              <a:ext uri="{FF2B5EF4-FFF2-40B4-BE49-F238E27FC236}">
                <a16:creationId xmlns:a16="http://schemas.microsoft.com/office/drawing/2014/main" id="{906DD958-54F2-4D7C-B71C-37CD6181EAF9}"/>
              </a:ext>
            </a:extLst>
          </p:cNvPr>
          <p:cNvCxnSpPr/>
          <p:nvPr/>
        </p:nvCxnSpPr>
        <p:spPr>
          <a:xfrm>
            <a:off x="14068" y="1825625"/>
            <a:ext cx="1216152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2" descr="Camunda Modeler 4.0.0 Released - Camunda">
            <a:extLst>
              <a:ext uri="{FF2B5EF4-FFF2-40B4-BE49-F238E27FC236}">
                <a16:creationId xmlns:a16="http://schemas.microsoft.com/office/drawing/2014/main" id="{A7A4A902-999E-4D75-8C45-31CE8683B0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760" y="500062"/>
            <a:ext cx="960880" cy="9608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6E34DB0-2DC6-4544-B4DC-E9DB0D73A947}"/>
              </a:ext>
            </a:extLst>
          </p:cNvPr>
          <p:cNvSpPr txBox="1"/>
          <p:nvPr/>
        </p:nvSpPr>
        <p:spPr>
          <a:xfrm>
            <a:off x="633046" y="2504049"/>
            <a:ext cx="2771336" cy="2031325"/>
          </a:xfrm>
          <a:prstGeom prst="rect">
            <a:avLst/>
          </a:prstGeom>
          <a:blipFill>
            <a:blip r:embed="rId4"/>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b="1" dirty="0"/>
              <a:t>Four Main Components</a:t>
            </a:r>
          </a:p>
          <a:p>
            <a:endParaRPr lang="en-US" dirty="0"/>
          </a:p>
          <a:p>
            <a:pPr marL="285750" indent="-285750">
              <a:buFont typeface="Arial" panose="020B0604020202020204" pitchFamily="34" charset="0"/>
              <a:buChar char="•"/>
            </a:pPr>
            <a:r>
              <a:rPr lang="en-US" dirty="0"/>
              <a:t>Clients – Job Workers</a:t>
            </a:r>
          </a:p>
          <a:p>
            <a:pPr marL="285750" indent="-285750">
              <a:buFont typeface="Arial" panose="020B0604020202020204" pitchFamily="34" charset="0"/>
              <a:buChar char="•"/>
            </a:pPr>
            <a:r>
              <a:rPr lang="en-US" dirty="0"/>
              <a:t>Gateways</a:t>
            </a:r>
          </a:p>
          <a:p>
            <a:pPr marL="285750" indent="-285750">
              <a:buFont typeface="Arial" panose="020B0604020202020204" pitchFamily="34" charset="0"/>
              <a:buChar char="•"/>
            </a:pPr>
            <a:r>
              <a:rPr lang="en-US" dirty="0"/>
              <a:t>Brokers</a:t>
            </a:r>
          </a:p>
          <a:p>
            <a:pPr marL="285750" indent="-285750">
              <a:buFont typeface="Arial" panose="020B0604020202020204" pitchFamily="34" charset="0"/>
              <a:buChar char="•"/>
            </a:pPr>
            <a:r>
              <a:rPr lang="en-US" dirty="0"/>
              <a:t>Exporters</a:t>
            </a:r>
          </a:p>
          <a:p>
            <a:endParaRPr lang="en-US" dirty="0"/>
          </a:p>
        </p:txBody>
      </p:sp>
    </p:spTree>
    <p:extLst>
      <p:ext uri="{BB962C8B-B14F-4D97-AF65-F5344CB8AC3E}">
        <p14:creationId xmlns:p14="http://schemas.microsoft.com/office/powerpoint/2010/main" val="270171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515E-03D9-4CC0-B3C8-25B3032EBF46}"/>
              </a:ext>
            </a:extLst>
          </p:cNvPr>
          <p:cNvSpPr>
            <a:spLocks noGrp="1"/>
          </p:cNvSpPr>
          <p:nvPr>
            <p:ph type="title"/>
          </p:nvPr>
        </p:nvSpPr>
        <p:spPr>
          <a:xfrm>
            <a:off x="1676400" y="500062"/>
            <a:ext cx="10515600" cy="1325563"/>
          </a:xfrm>
        </p:spPr>
        <p:txBody>
          <a:bodyPr/>
          <a:lstStyle/>
          <a:p>
            <a:r>
              <a:rPr lang="en-US" dirty="0"/>
              <a:t>Zeebe Architecture</a:t>
            </a:r>
          </a:p>
        </p:txBody>
      </p:sp>
      <p:cxnSp>
        <p:nvCxnSpPr>
          <p:cNvPr id="8" name="Straight Connector 7">
            <a:extLst>
              <a:ext uri="{FF2B5EF4-FFF2-40B4-BE49-F238E27FC236}">
                <a16:creationId xmlns:a16="http://schemas.microsoft.com/office/drawing/2014/main" id="{906DD958-54F2-4D7C-B71C-37CD6181EAF9}"/>
              </a:ext>
            </a:extLst>
          </p:cNvPr>
          <p:cNvCxnSpPr/>
          <p:nvPr/>
        </p:nvCxnSpPr>
        <p:spPr>
          <a:xfrm>
            <a:off x="14068" y="1825625"/>
            <a:ext cx="1216152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2" descr="Camunda Modeler 4.0.0 Released - Camunda">
            <a:extLst>
              <a:ext uri="{FF2B5EF4-FFF2-40B4-BE49-F238E27FC236}">
                <a16:creationId xmlns:a16="http://schemas.microsoft.com/office/drawing/2014/main" id="{A7A4A902-999E-4D75-8C45-31CE8683B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760" y="500062"/>
            <a:ext cx="960880" cy="9608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6E34DB0-2DC6-4544-B4DC-E9DB0D73A947}"/>
              </a:ext>
            </a:extLst>
          </p:cNvPr>
          <p:cNvSpPr txBox="1"/>
          <p:nvPr/>
        </p:nvSpPr>
        <p:spPr>
          <a:xfrm>
            <a:off x="689316" y="1989029"/>
            <a:ext cx="4979964" cy="4216539"/>
          </a:xfrm>
          <a:prstGeom prst="rect">
            <a:avLst/>
          </a:prstGeom>
          <a:solidFill>
            <a:schemeClr val="accent5">
              <a:lumMod val="20000"/>
              <a:lumOff val="80000"/>
            </a:schemeClr>
          </a:solidFill>
          <a:ln>
            <a:solidFill>
              <a:schemeClr val="accent3">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endParaRPr lang="en-US" sz="2000" b="1" dirty="0"/>
          </a:p>
          <a:p>
            <a:r>
              <a:rPr lang="en-US" sz="3200" b="1" dirty="0"/>
              <a:t>Clients</a:t>
            </a:r>
          </a:p>
          <a:p>
            <a:endParaRPr lang="en-US" dirty="0"/>
          </a:p>
          <a:p>
            <a:r>
              <a:rPr lang="en-US" dirty="0"/>
              <a:t>Clients send commands to Zeebe to:</a:t>
            </a:r>
          </a:p>
          <a:p>
            <a:pPr marL="742950" lvl="1" indent="-285750">
              <a:buFont typeface="Arial" panose="020B0604020202020204" pitchFamily="34" charset="0"/>
              <a:buChar char="•"/>
            </a:pPr>
            <a:r>
              <a:rPr lang="en-US" dirty="0"/>
              <a:t>Deploy processes</a:t>
            </a:r>
          </a:p>
          <a:p>
            <a:pPr marL="742950" lvl="1" indent="-285750">
              <a:buFont typeface="Arial" panose="020B0604020202020204" pitchFamily="34" charset="0"/>
              <a:buChar char="•"/>
            </a:pPr>
            <a:r>
              <a:rPr lang="en-US" dirty="0"/>
              <a:t>Start process instances</a:t>
            </a:r>
          </a:p>
          <a:p>
            <a:pPr marL="742950" lvl="1" indent="-285750">
              <a:buFont typeface="Arial" panose="020B0604020202020204" pitchFamily="34" charset="0"/>
              <a:buChar char="•"/>
            </a:pPr>
            <a:r>
              <a:rPr lang="en-US" dirty="0"/>
              <a:t>Publish messages</a:t>
            </a:r>
          </a:p>
          <a:p>
            <a:pPr marL="742950" lvl="1" indent="-285750">
              <a:buFont typeface="Arial" panose="020B0604020202020204" pitchFamily="34" charset="0"/>
              <a:buChar char="•"/>
            </a:pPr>
            <a:r>
              <a:rPr lang="en-US" dirty="0"/>
              <a:t>Activate jobs</a:t>
            </a:r>
          </a:p>
          <a:p>
            <a:pPr marL="742950" lvl="1" indent="-285750">
              <a:buFont typeface="Arial" panose="020B0604020202020204" pitchFamily="34" charset="0"/>
              <a:buChar char="•"/>
            </a:pPr>
            <a:r>
              <a:rPr lang="en-US" dirty="0"/>
              <a:t>Complete jobs</a:t>
            </a:r>
          </a:p>
          <a:p>
            <a:pPr marL="742950" lvl="1" indent="-285750">
              <a:buFont typeface="Arial" panose="020B0604020202020204" pitchFamily="34" charset="0"/>
              <a:buChar char="•"/>
            </a:pPr>
            <a:r>
              <a:rPr lang="en-US" dirty="0"/>
              <a:t>Fail jobs</a:t>
            </a:r>
          </a:p>
          <a:p>
            <a:pPr marL="285750" indent="-285750">
              <a:buFont typeface="Arial" panose="020B0604020202020204" pitchFamily="34" charset="0"/>
              <a:buChar char="•"/>
            </a:pPr>
            <a:r>
              <a:rPr lang="en-US" dirty="0"/>
              <a:t>Handle operational issues</a:t>
            </a:r>
          </a:p>
          <a:p>
            <a:pPr marL="742950" lvl="1" indent="-285750">
              <a:buFont typeface="Arial" panose="020B0604020202020204" pitchFamily="34" charset="0"/>
              <a:buChar char="•"/>
            </a:pPr>
            <a:r>
              <a:rPr lang="en-US" dirty="0"/>
              <a:t>Update process instance variables</a:t>
            </a:r>
          </a:p>
          <a:p>
            <a:pPr marL="742950" lvl="1" indent="-285750">
              <a:buFont typeface="Arial" panose="020B0604020202020204" pitchFamily="34" charset="0"/>
              <a:buChar char="•"/>
            </a:pPr>
            <a:r>
              <a:rPr lang="en-US" dirty="0"/>
              <a:t>Resolve incidents</a:t>
            </a:r>
          </a:p>
          <a:p>
            <a:endParaRPr lang="en-US" dirty="0"/>
          </a:p>
        </p:txBody>
      </p:sp>
      <p:sp>
        <p:nvSpPr>
          <p:cNvPr id="11" name="TextBox 10">
            <a:extLst>
              <a:ext uri="{FF2B5EF4-FFF2-40B4-BE49-F238E27FC236}">
                <a16:creationId xmlns:a16="http://schemas.microsoft.com/office/drawing/2014/main" id="{F0DA0F4B-9C7C-4218-A6F9-36509744F4D9}"/>
              </a:ext>
            </a:extLst>
          </p:cNvPr>
          <p:cNvSpPr txBox="1"/>
          <p:nvPr/>
        </p:nvSpPr>
        <p:spPr>
          <a:xfrm>
            <a:off x="6522720" y="2011921"/>
            <a:ext cx="4979964" cy="1692771"/>
          </a:xfrm>
          <a:prstGeom prst="rect">
            <a:avLst/>
          </a:prstGeom>
          <a:solidFill>
            <a:schemeClr val="accent5">
              <a:lumMod val="20000"/>
              <a:lumOff val="80000"/>
            </a:schemeClr>
          </a:solidFill>
          <a:ln>
            <a:solidFill>
              <a:schemeClr val="accent3">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3200" b="1" dirty="0"/>
              <a:t>Workers</a:t>
            </a:r>
          </a:p>
          <a:p>
            <a:endParaRPr lang="en-US" dirty="0"/>
          </a:p>
          <a:p>
            <a:pPr marL="285750" indent="-285750">
              <a:buFont typeface="Arial" panose="020B0604020202020204" pitchFamily="34" charset="0"/>
              <a:buChar char="•"/>
            </a:pPr>
            <a:r>
              <a:rPr lang="en-US" dirty="0"/>
              <a:t>A job worker is a Zeebe client that uses the client API to first activate jobs, and upon completion, either complete or fail the</a:t>
            </a:r>
          </a:p>
        </p:txBody>
      </p:sp>
      <p:sp>
        <p:nvSpPr>
          <p:cNvPr id="12" name="TextBox 11">
            <a:extLst>
              <a:ext uri="{FF2B5EF4-FFF2-40B4-BE49-F238E27FC236}">
                <a16:creationId xmlns:a16="http://schemas.microsoft.com/office/drawing/2014/main" id="{4B300358-C302-47D2-A2DD-F3506E2A4CD0}"/>
              </a:ext>
            </a:extLst>
          </p:cNvPr>
          <p:cNvSpPr txBox="1"/>
          <p:nvPr/>
        </p:nvSpPr>
        <p:spPr>
          <a:xfrm>
            <a:off x="6522720" y="4301884"/>
            <a:ext cx="4979964" cy="1969770"/>
          </a:xfrm>
          <a:prstGeom prst="rect">
            <a:avLst/>
          </a:prstGeom>
          <a:solidFill>
            <a:schemeClr val="accent5">
              <a:lumMod val="20000"/>
              <a:lumOff val="80000"/>
            </a:schemeClr>
          </a:solidFill>
          <a:ln>
            <a:solidFill>
              <a:schemeClr val="accent3">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3200" b="1" dirty="0"/>
              <a:t>Gateways</a:t>
            </a:r>
            <a:endParaRPr lang="en-US" dirty="0"/>
          </a:p>
          <a:p>
            <a:pPr marL="285750" indent="-285750">
              <a:buFont typeface="Arial" panose="020B0604020202020204" pitchFamily="34" charset="0"/>
              <a:buChar char="•"/>
            </a:pPr>
            <a:r>
              <a:rPr lang="en-US" dirty="0"/>
              <a:t>A gateway serves as a single-entry point to a Zeebe cluster and forwards requests to brokers.</a:t>
            </a:r>
          </a:p>
          <a:p>
            <a:pPr marL="285750" indent="-285750">
              <a:buFont typeface="Arial" panose="020B0604020202020204" pitchFamily="34" charset="0"/>
              <a:buChar char="•"/>
            </a:pPr>
            <a:r>
              <a:rPr lang="en-US" dirty="0"/>
              <a:t>The gateway is stateless and session </a:t>
            </a:r>
            <a:r>
              <a:rPr lang="en-US" dirty="0" err="1"/>
              <a:t>lesss</a:t>
            </a:r>
            <a:r>
              <a:rPr lang="en-US" dirty="0"/>
              <a:t>, and gateways can be added as necessary for load balancing and high availability</a:t>
            </a:r>
          </a:p>
        </p:txBody>
      </p:sp>
    </p:spTree>
    <p:extLst>
      <p:ext uri="{BB962C8B-B14F-4D97-AF65-F5344CB8AC3E}">
        <p14:creationId xmlns:p14="http://schemas.microsoft.com/office/powerpoint/2010/main" val="3811332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515E-03D9-4CC0-B3C8-25B3032EBF46}"/>
              </a:ext>
            </a:extLst>
          </p:cNvPr>
          <p:cNvSpPr>
            <a:spLocks noGrp="1"/>
          </p:cNvSpPr>
          <p:nvPr>
            <p:ph type="title"/>
          </p:nvPr>
        </p:nvSpPr>
        <p:spPr>
          <a:xfrm>
            <a:off x="1676400" y="500062"/>
            <a:ext cx="10515600" cy="1325563"/>
          </a:xfrm>
        </p:spPr>
        <p:txBody>
          <a:bodyPr/>
          <a:lstStyle/>
          <a:p>
            <a:r>
              <a:rPr lang="en-US" dirty="0"/>
              <a:t>Zeebe Architecture</a:t>
            </a:r>
          </a:p>
        </p:txBody>
      </p:sp>
      <p:cxnSp>
        <p:nvCxnSpPr>
          <p:cNvPr id="8" name="Straight Connector 7">
            <a:extLst>
              <a:ext uri="{FF2B5EF4-FFF2-40B4-BE49-F238E27FC236}">
                <a16:creationId xmlns:a16="http://schemas.microsoft.com/office/drawing/2014/main" id="{906DD958-54F2-4D7C-B71C-37CD6181EAF9}"/>
              </a:ext>
            </a:extLst>
          </p:cNvPr>
          <p:cNvCxnSpPr/>
          <p:nvPr/>
        </p:nvCxnSpPr>
        <p:spPr>
          <a:xfrm>
            <a:off x="14068" y="1825625"/>
            <a:ext cx="1216152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2" descr="Camunda Modeler 4.0.0 Released - Camunda">
            <a:extLst>
              <a:ext uri="{FF2B5EF4-FFF2-40B4-BE49-F238E27FC236}">
                <a16:creationId xmlns:a16="http://schemas.microsoft.com/office/drawing/2014/main" id="{A7A4A902-999E-4D75-8C45-31CE8683B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760" y="500062"/>
            <a:ext cx="960880" cy="9608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6E34DB0-2DC6-4544-B4DC-E9DB0D73A947}"/>
              </a:ext>
            </a:extLst>
          </p:cNvPr>
          <p:cNvSpPr txBox="1"/>
          <p:nvPr/>
        </p:nvSpPr>
        <p:spPr>
          <a:xfrm>
            <a:off x="1318640" y="1995190"/>
            <a:ext cx="9988062" cy="4462760"/>
          </a:xfrm>
          <a:prstGeom prst="rect">
            <a:avLst/>
          </a:prstGeom>
          <a:solidFill>
            <a:schemeClr val="accent5">
              <a:lumMod val="20000"/>
              <a:lumOff val="80000"/>
            </a:schemeClr>
          </a:solidFill>
          <a:ln>
            <a:solidFill>
              <a:schemeClr val="accent3">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3200" b="1" dirty="0"/>
              <a:t>Brokers</a:t>
            </a:r>
          </a:p>
          <a:p>
            <a:endParaRPr lang="en-US" dirty="0"/>
          </a:p>
          <a:p>
            <a:pPr marL="285750" indent="-285750" algn="l">
              <a:buFont typeface="Arial" panose="020B0604020202020204" pitchFamily="34" charset="0"/>
              <a:buChar char="•"/>
            </a:pPr>
            <a:r>
              <a:rPr lang="en-US" b="0" i="0" dirty="0">
                <a:solidFill>
                  <a:srgbClr val="1C1E21"/>
                </a:solidFill>
                <a:effectLst/>
                <a:latin typeface="IBM Plex Sans" panose="020B0503050203000203" pitchFamily="34" charset="0"/>
              </a:rPr>
              <a:t>The Zeebe broker is the distributed workflow engine that tracks the state of active process instances.</a:t>
            </a:r>
          </a:p>
          <a:p>
            <a:pPr marL="285750" indent="-285750" algn="l">
              <a:buFont typeface="Arial" panose="020B0604020202020204" pitchFamily="34" charset="0"/>
              <a:buChar char="•"/>
            </a:pPr>
            <a:r>
              <a:rPr lang="en-US" b="0" i="0" dirty="0">
                <a:solidFill>
                  <a:srgbClr val="1C1E21"/>
                </a:solidFill>
                <a:effectLst/>
                <a:latin typeface="IBM Plex Sans" panose="020B0503050203000203" pitchFamily="34" charset="0"/>
              </a:rPr>
              <a:t>Brokers can be partitioned for horizontal scalability and replicated for fault tolerance. A Zeebe deployment often consists of more than one broker.</a:t>
            </a:r>
          </a:p>
          <a:p>
            <a:pPr marL="285750" indent="-285750" algn="l">
              <a:buFont typeface="Arial" panose="020B0604020202020204" pitchFamily="34" charset="0"/>
              <a:buChar char="•"/>
            </a:pPr>
            <a:r>
              <a:rPr lang="en-US" b="0" i="0" dirty="0">
                <a:solidFill>
                  <a:srgbClr val="1C1E21"/>
                </a:solidFill>
                <a:effectLst/>
                <a:latin typeface="IBM Plex Sans" panose="020B0503050203000203" pitchFamily="34" charset="0"/>
              </a:rPr>
              <a:t>It's important to note that no application business logic lives in the broker. Its only responsibilities are:</a:t>
            </a:r>
          </a:p>
          <a:p>
            <a:pPr marL="742950" lvl="1" indent="-285750">
              <a:buFont typeface="Arial" panose="020B0604020202020204" pitchFamily="34" charset="0"/>
              <a:buChar char="•"/>
            </a:pPr>
            <a:r>
              <a:rPr lang="en-US" sz="1600" b="0" i="0" dirty="0">
                <a:solidFill>
                  <a:srgbClr val="1C1E21"/>
                </a:solidFill>
                <a:effectLst/>
                <a:latin typeface="IBM Plex Sans" panose="020B0503050203000203" pitchFamily="34" charset="0"/>
              </a:rPr>
              <a:t>Processing commands sent by clients</a:t>
            </a:r>
          </a:p>
          <a:p>
            <a:pPr marL="742950" lvl="1" indent="-285750">
              <a:buFont typeface="Arial" panose="020B0604020202020204" pitchFamily="34" charset="0"/>
              <a:buChar char="•"/>
            </a:pPr>
            <a:r>
              <a:rPr lang="en-US" sz="1600" b="0" i="0" dirty="0">
                <a:solidFill>
                  <a:srgbClr val="1C1E21"/>
                </a:solidFill>
                <a:effectLst/>
                <a:latin typeface="IBM Plex Sans" panose="020B0503050203000203" pitchFamily="34" charset="0"/>
              </a:rPr>
              <a:t>Storing and managing the state of active process instances</a:t>
            </a:r>
          </a:p>
          <a:p>
            <a:pPr marL="742950" lvl="1" indent="-285750">
              <a:buFont typeface="Arial" panose="020B0604020202020204" pitchFamily="34" charset="0"/>
              <a:buChar char="•"/>
            </a:pPr>
            <a:r>
              <a:rPr lang="en-US" sz="1600" b="0" i="0" dirty="0">
                <a:solidFill>
                  <a:srgbClr val="1C1E21"/>
                </a:solidFill>
                <a:effectLst/>
                <a:latin typeface="IBM Plex Sans" panose="020B0503050203000203" pitchFamily="34" charset="0"/>
              </a:rPr>
              <a:t>Assigning jobs to job workers</a:t>
            </a:r>
          </a:p>
          <a:p>
            <a:pPr marL="285750" indent="-285750" algn="l">
              <a:buFont typeface="Arial" panose="020B0604020202020204" pitchFamily="34" charset="0"/>
              <a:buChar char="•"/>
            </a:pPr>
            <a:r>
              <a:rPr lang="en-US" b="0" i="0" dirty="0">
                <a:solidFill>
                  <a:srgbClr val="1C1E21"/>
                </a:solidFill>
                <a:effectLst/>
                <a:latin typeface="IBM Plex Sans" panose="020B0503050203000203" pitchFamily="34" charset="0"/>
              </a:rPr>
              <a:t>Brokers form a peer-to-peer network in which there is no single point of failure. This is possible because all brokers perform the same kind of tasks and the responsibilities of an unavailable broker are transparently reassigned in the network</a:t>
            </a:r>
          </a:p>
          <a:p>
            <a:endParaRPr lang="en-US" dirty="0"/>
          </a:p>
        </p:txBody>
      </p:sp>
    </p:spTree>
    <p:extLst>
      <p:ext uri="{BB962C8B-B14F-4D97-AF65-F5344CB8AC3E}">
        <p14:creationId xmlns:p14="http://schemas.microsoft.com/office/powerpoint/2010/main" val="231086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515E-03D9-4CC0-B3C8-25B3032EBF46}"/>
              </a:ext>
            </a:extLst>
          </p:cNvPr>
          <p:cNvSpPr>
            <a:spLocks noGrp="1"/>
          </p:cNvSpPr>
          <p:nvPr>
            <p:ph type="title"/>
          </p:nvPr>
        </p:nvSpPr>
        <p:spPr>
          <a:xfrm>
            <a:off x="1676400" y="500062"/>
            <a:ext cx="10515600" cy="1325563"/>
          </a:xfrm>
        </p:spPr>
        <p:txBody>
          <a:bodyPr/>
          <a:lstStyle/>
          <a:p>
            <a:r>
              <a:rPr lang="en-US" dirty="0"/>
              <a:t>Zeebe Architecture</a:t>
            </a:r>
          </a:p>
        </p:txBody>
      </p:sp>
      <p:cxnSp>
        <p:nvCxnSpPr>
          <p:cNvPr id="8" name="Straight Connector 7">
            <a:extLst>
              <a:ext uri="{FF2B5EF4-FFF2-40B4-BE49-F238E27FC236}">
                <a16:creationId xmlns:a16="http://schemas.microsoft.com/office/drawing/2014/main" id="{906DD958-54F2-4D7C-B71C-37CD6181EAF9}"/>
              </a:ext>
            </a:extLst>
          </p:cNvPr>
          <p:cNvCxnSpPr/>
          <p:nvPr/>
        </p:nvCxnSpPr>
        <p:spPr>
          <a:xfrm>
            <a:off x="14068" y="1825625"/>
            <a:ext cx="1216152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2" descr="Camunda Modeler 4.0.0 Released - Camunda">
            <a:extLst>
              <a:ext uri="{FF2B5EF4-FFF2-40B4-BE49-F238E27FC236}">
                <a16:creationId xmlns:a16="http://schemas.microsoft.com/office/drawing/2014/main" id="{A7A4A902-999E-4D75-8C45-31CE8683B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760" y="500062"/>
            <a:ext cx="960880" cy="9608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6E34DB0-2DC6-4544-B4DC-E9DB0D73A947}"/>
              </a:ext>
            </a:extLst>
          </p:cNvPr>
          <p:cNvSpPr txBox="1"/>
          <p:nvPr/>
        </p:nvSpPr>
        <p:spPr>
          <a:xfrm>
            <a:off x="1431182" y="2532885"/>
            <a:ext cx="9988062" cy="3631763"/>
          </a:xfrm>
          <a:prstGeom prst="rect">
            <a:avLst/>
          </a:prstGeom>
          <a:solidFill>
            <a:schemeClr val="accent5">
              <a:lumMod val="20000"/>
              <a:lumOff val="80000"/>
            </a:schemeClr>
          </a:solidFill>
          <a:ln>
            <a:solidFill>
              <a:schemeClr val="accent3">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3200" b="1" dirty="0"/>
              <a:t>Exporters</a:t>
            </a:r>
          </a:p>
          <a:p>
            <a:endParaRPr lang="en-US" dirty="0"/>
          </a:p>
          <a:p>
            <a:pPr algn="l"/>
            <a:r>
              <a:rPr lang="en-US" b="0" i="0" dirty="0">
                <a:solidFill>
                  <a:srgbClr val="1C1E21"/>
                </a:solidFill>
                <a:effectLst/>
                <a:latin typeface="IBM Plex Sans" panose="020B0503050203000203" pitchFamily="34" charset="0"/>
              </a:rPr>
              <a:t>The exporter system provides an event stream of state changes within Zeebe. </a:t>
            </a:r>
          </a:p>
          <a:p>
            <a:pPr algn="l"/>
            <a:endParaRPr lang="en-US" b="0" i="0" dirty="0">
              <a:solidFill>
                <a:srgbClr val="1C1E21"/>
              </a:solidFill>
              <a:effectLst/>
              <a:latin typeface="IBM Plex Sans" panose="020B0503050203000203" pitchFamily="34" charset="0"/>
            </a:endParaRPr>
          </a:p>
          <a:p>
            <a:pPr lvl="1"/>
            <a:r>
              <a:rPr lang="en-US" b="0" i="0" dirty="0">
                <a:solidFill>
                  <a:srgbClr val="1C1E21"/>
                </a:solidFill>
                <a:effectLst/>
                <a:latin typeface="IBM Plex Sans" panose="020B0503050203000203" pitchFamily="34" charset="0"/>
              </a:rPr>
              <a:t>Monitoring the current state of running </a:t>
            </a:r>
            <a:r>
              <a:rPr lang="en-US" dirty="0">
                <a:solidFill>
                  <a:srgbClr val="1C1E21"/>
                </a:solidFill>
                <a:latin typeface="IBM Plex Sans" panose="020B0503050203000203" pitchFamily="34" charset="0"/>
              </a:rPr>
              <a:t>process instance</a:t>
            </a:r>
          </a:p>
          <a:p>
            <a:pPr lvl="1">
              <a:buFont typeface="Arial" panose="020B0604020202020204" pitchFamily="34" charset="0"/>
              <a:buChar char="•"/>
            </a:pPr>
            <a:endParaRPr lang="en-US" b="0" i="0" dirty="0">
              <a:solidFill>
                <a:srgbClr val="1C1E21"/>
              </a:solidFill>
              <a:effectLst/>
              <a:latin typeface="IBM Plex Sans" panose="020B0503050203000203" pitchFamily="34" charset="0"/>
            </a:endParaRPr>
          </a:p>
          <a:p>
            <a:pPr lvl="1"/>
            <a:r>
              <a:rPr lang="en-US" b="0" i="0" dirty="0">
                <a:solidFill>
                  <a:srgbClr val="1C1E21"/>
                </a:solidFill>
                <a:effectLst/>
                <a:latin typeface="IBM Plex Sans" panose="020B0503050203000203" pitchFamily="34" charset="0"/>
              </a:rPr>
              <a:t>Analysis of historic process data for auditing, business intelligence, etc.</a:t>
            </a:r>
          </a:p>
          <a:p>
            <a:pPr lvl="1"/>
            <a:endParaRPr lang="en-US" b="0" i="0" dirty="0">
              <a:solidFill>
                <a:srgbClr val="1C1E21"/>
              </a:solidFill>
              <a:effectLst/>
              <a:latin typeface="IBM Plex Sans" panose="020B0503050203000203" pitchFamily="34" charset="0"/>
            </a:endParaRPr>
          </a:p>
          <a:p>
            <a:pPr lvl="1"/>
            <a:r>
              <a:rPr lang="en-US" b="0" i="0" dirty="0">
                <a:solidFill>
                  <a:srgbClr val="1C1E21"/>
                </a:solidFill>
                <a:effectLst/>
                <a:latin typeface="IBM Plex Sans" panose="020B0503050203000203" pitchFamily="34" charset="0"/>
              </a:rPr>
              <a:t>Tracking incidents created by Zeebe</a:t>
            </a:r>
          </a:p>
          <a:p>
            <a:pPr lvl="1"/>
            <a:endParaRPr lang="en-US" dirty="0">
              <a:solidFill>
                <a:srgbClr val="1C1E21"/>
              </a:solidFill>
              <a:latin typeface="IBM Plex Sans" panose="020B0503050203000203" pitchFamily="34" charset="0"/>
            </a:endParaRPr>
          </a:p>
          <a:p>
            <a:pPr lvl="1"/>
            <a:r>
              <a:rPr lang="en-US" b="0" i="0" dirty="0">
                <a:solidFill>
                  <a:srgbClr val="1C1E21"/>
                </a:solidFill>
                <a:effectLst/>
                <a:latin typeface="IBM Plex Sans" panose="020B0503050203000203" pitchFamily="34" charset="0"/>
              </a:rPr>
              <a:t>Elasticsearch, Kafka, Hazlecast Exporters</a:t>
            </a:r>
          </a:p>
          <a:p>
            <a:endParaRPr lang="en-US" dirty="0"/>
          </a:p>
        </p:txBody>
      </p:sp>
    </p:spTree>
    <p:extLst>
      <p:ext uri="{BB962C8B-B14F-4D97-AF65-F5344CB8AC3E}">
        <p14:creationId xmlns:p14="http://schemas.microsoft.com/office/powerpoint/2010/main" val="2953587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79A3-D738-4869-BE9D-BDFD3FF86E04}"/>
              </a:ext>
            </a:extLst>
          </p:cNvPr>
          <p:cNvSpPr>
            <a:spLocks noGrp="1"/>
          </p:cNvSpPr>
          <p:nvPr>
            <p:ph type="title"/>
          </p:nvPr>
        </p:nvSpPr>
        <p:spPr>
          <a:xfrm>
            <a:off x="1560095" y="596131"/>
            <a:ext cx="10515600" cy="1325563"/>
          </a:xfrm>
        </p:spPr>
        <p:txBody>
          <a:bodyPr/>
          <a:lstStyle/>
          <a:p>
            <a:r>
              <a:rPr lang="en-US" dirty="0"/>
              <a:t>Zeebe Solution</a:t>
            </a:r>
          </a:p>
        </p:txBody>
      </p:sp>
      <p:pic>
        <p:nvPicPr>
          <p:cNvPr id="5" name="Content Placeholder 4" descr="Graphical user interface, application&#10;&#10;Description automatically generated">
            <a:extLst>
              <a:ext uri="{FF2B5EF4-FFF2-40B4-BE49-F238E27FC236}">
                <a16:creationId xmlns:a16="http://schemas.microsoft.com/office/drawing/2014/main" id="{83EF7CA9-DC14-4DA1-A5F3-55DE0A4221A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540" t="24626" r="10349" b="30912"/>
          <a:stretch/>
        </p:blipFill>
        <p:spPr>
          <a:xfrm>
            <a:off x="712269" y="2550693"/>
            <a:ext cx="9452487" cy="2810578"/>
          </a:xfrm>
          <a:prstGeom prst="rect">
            <a:avLst/>
          </a:prstGeom>
          <a:ln>
            <a:noFill/>
          </a:ln>
          <a:effectLst>
            <a:outerShdw blurRad="292100" dist="139700" dir="2700000" algn="tl" rotWithShape="0">
              <a:srgbClr val="333333">
                <a:alpha val="65000"/>
              </a:srgbClr>
            </a:outerShdw>
          </a:effectLst>
        </p:spPr>
        <p:style>
          <a:lnRef idx="2">
            <a:schemeClr val="accent5"/>
          </a:lnRef>
          <a:fillRef idx="1">
            <a:schemeClr val="lt1"/>
          </a:fillRef>
          <a:effectRef idx="0">
            <a:schemeClr val="accent5"/>
          </a:effectRef>
          <a:fontRef idx="minor">
            <a:schemeClr val="dk1"/>
          </a:fontRef>
        </p:style>
      </p:pic>
      <p:cxnSp>
        <p:nvCxnSpPr>
          <p:cNvPr id="7" name="Straight Connector 6">
            <a:extLst>
              <a:ext uri="{FF2B5EF4-FFF2-40B4-BE49-F238E27FC236}">
                <a16:creationId xmlns:a16="http://schemas.microsoft.com/office/drawing/2014/main" id="{DA613073-CFD5-431B-8C68-5DB09E44BA3A}"/>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Picture 2" descr="Camunda Modeler 4.0.0 Released - Camunda">
            <a:extLst>
              <a:ext uri="{FF2B5EF4-FFF2-40B4-BE49-F238E27FC236}">
                <a16:creationId xmlns:a16="http://schemas.microsoft.com/office/drawing/2014/main" id="{3EF32274-25AF-4C89-8E93-06AD323D5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639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3D5D6-6B19-4E42-BA54-AF4A1F62F09F}"/>
              </a:ext>
            </a:extLst>
          </p:cNvPr>
          <p:cNvSpPr>
            <a:spLocks noGrp="1"/>
          </p:cNvSpPr>
          <p:nvPr>
            <p:ph type="title"/>
          </p:nvPr>
        </p:nvSpPr>
        <p:spPr>
          <a:xfrm>
            <a:off x="1460032" y="681037"/>
            <a:ext cx="10515600" cy="1325563"/>
          </a:xfrm>
        </p:spPr>
        <p:txBody>
          <a:bodyPr/>
          <a:lstStyle/>
          <a:p>
            <a:r>
              <a:rPr lang="en-US" dirty="0"/>
              <a:t>Client / Server</a:t>
            </a:r>
          </a:p>
        </p:txBody>
      </p:sp>
      <p:cxnSp>
        <p:nvCxnSpPr>
          <p:cNvPr id="6" name="Straight Connector 5">
            <a:extLst>
              <a:ext uri="{FF2B5EF4-FFF2-40B4-BE49-F238E27FC236}">
                <a16:creationId xmlns:a16="http://schemas.microsoft.com/office/drawing/2014/main" id="{65A48AAA-4EE2-41AD-A300-05D9EA2D9EDC}"/>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9CBEFAE1-551F-41C8-B520-28630B0FBB78}"/>
              </a:ext>
            </a:extLst>
          </p:cNvPr>
          <p:cNvPicPr>
            <a:picLocks noChangeAspect="1"/>
          </p:cNvPicPr>
          <p:nvPr/>
        </p:nvPicPr>
        <p:blipFill>
          <a:blip r:embed="rId2"/>
          <a:stretch>
            <a:fillRect/>
          </a:stretch>
        </p:blipFill>
        <p:spPr>
          <a:xfrm>
            <a:off x="276162" y="2193925"/>
            <a:ext cx="7883100" cy="3915972"/>
          </a:xfrm>
          <a:prstGeom prst="rect">
            <a:avLst/>
          </a:prstGeom>
          <a:ln>
            <a:solidFill>
              <a:schemeClr val="accent1"/>
            </a:solidFill>
          </a:ln>
        </p:spPr>
      </p:pic>
      <p:pic>
        <p:nvPicPr>
          <p:cNvPr id="9" name="Picture 2" descr="Camunda Modeler 4.0.0 Released - Camunda">
            <a:extLst>
              <a:ext uri="{FF2B5EF4-FFF2-40B4-BE49-F238E27FC236}">
                <a16:creationId xmlns:a16="http://schemas.microsoft.com/office/drawing/2014/main" id="{2B2A7B81-6444-4C74-B7A2-DC3232D4C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C9FF6D-2F9F-4DC9-A1F2-A99EF8F326E6}"/>
              </a:ext>
            </a:extLst>
          </p:cNvPr>
          <p:cNvSpPr txBox="1"/>
          <p:nvPr/>
        </p:nvSpPr>
        <p:spPr>
          <a:xfrm>
            <a:off x="9045527" y="2433711"/>
            <a:ext cx="2870312" cy="2031325"/>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lnRef>
          <a:fillRef idx="1">
            <a:schemeClr val="lt1"/>
          </a:fillRef>
          <a:effectRef idx="0">
            <a:schemeClr val="accent5"/>
          </a:effectRef>
          <a:fontRef idx="minor">
            <a:schemeClr val="dk1"/>
          </a:fontRef>
        </p:style>
        <p:txBody>
          <a:bodyPr wrap="square" rtlCol="0">
            <a:spAutoFit/>
          </a:bodyPr>
          <a:lstStyle/>
          <a:p>
            <a:pPr marL="285750" indent="-285750">
              <a:buFont typeface="Arial" panose="020B0604020202020204" pitchFamily="34" charset="0"/>
              <a:buChar char="•"/>
            </a:pPr>
            <a:r>
              <a:rPr lang="en-US" dirty="0"/>
              <a:t>Zeebe can operate as a cluster of brokers, forming a peer-to-peer network.</a:t>
            </a:r>
          </a:p>
          <a:p>
            <a:pPr marL="285750" indent="-285750">
              <a:buFont typeface="Arial" panose="020B0604020202020204" pitchFamily="34" charset="0"/>
              <a:buChar char="•"/>
            </a:pPr>
            <a:r>
              <a:rPr lang="en-US" dirty="0"/>
              <a:t>In this network, all brokers have the same responsibilities</a:t>
            </a:r>
          </a:p>
        </p:txBody>
      </p:sp>
    </p:spTree>
    <p:extLst>
      <p:ext uri="{BB962C8B-B14F-4D97-AF65-F5344CB8AC3E}">
        <p14:creationId xmlns:p14="http://schemas.microsoft.com/office/powerpoint/2010/main" val="980109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B2054-CC5C-48CA-A3E1-0441D612AC7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4729D2E-1F1A-4394-906A-CA1633F33302}"/>
              </a:ext>
            </a:extLst>
          </p:cNvPr>
          <p:cNvSpPr>
            <a:spLocks noGrp="1"/>
          </p:cNvSpPr>
          <p:nvPr>
            <p:ph idx="1"/>
          </p:nvPr>
        </p:nvSpPr>
        <p:spPr/>
        <p:txBody>
          <a:bodyPr/>
          <a:lstStyle/>
          <a:p>
            <a:pPr marL="0" indent="0">
              <a:buNone/>
            </a:pPr>
            <a:r>
              <a:rPr lang="en-US" dirty="0"/>
              <a:t> </a:t>
            </a:r>
          </a:p>
        </p:txBody>
      </p:sp>
      <p:pic>
        <p:nvPicPr>
          <p:cNvPr id="5" name="Picture 4" descr="Diagram&#10;&#10;Description automatically generated">
            <a:extLst>
              <a:ext uri="{FF2B5EF4-FFF2-40B4-BE49-F238E27FC236}">
                <a16:creationId xmlns:a16="http://schemas.microsoft.com/office/drawing/2014/main" id="{B8C6349E-634D-4382-A817-5C00C58A41E3}"/>
              </a:ext>
            </a:extLst>
          </p:cNvPr>
          <p:cNvPicPr>
            <a:picLocks noChangeAspect="1"/>
          </p:cNvPicPr>
          <p:nvPr/>
        </p:nvPicPr>
        <p:blipFill rotWithShape="1">
          <a:blip r:embed="rId2">
            <a:extLst>
              <a:ext uri="{28A0092B-C50C-407E-A947-70E740481C1C}">
                <a14:useLocalDpi xmlns:a14="http://schemas.microsoft.com/office/drawing/2010/main" val="0"/>
              </a:ext>
            </a:extLst>
          </a:blip>
          <a:srcRect l="12396" t="21111" r="16771" b="13148"/>
          <a:stretch/>
        </p:blipFill>
        <p:spPr>
          <a:xfrm>
            <a:off x="570622" y="2685858"/>
            <a:ext cx="5412837" cy="2820419"/>
          </a:xfrm>
          <a:prstGeom prst="rect">
            <a:avLst/>
          </a:prstGeom>
          <a:ln>
            <a:noFill/>
          </a:ln>
          <a:effectLst>
            <a:outerShdw blurRad="292100" dist="139700" dir="2700000" algn="tl" rotWithShape="0">
              <a:srgbClr val="333333">
                <a:alpha val="65000"/>
              </a:srgbClr>
            </a:outerShdw>
          </a:effectLst>
        </p:spPr>
        <p:style>
          <a:lnRef idx="2">
            <a:schemeClr val="accent5"/>
          </a:lnRef>
          <a:fillRef idx="1">
            <a:schemeClr val="lt1"/>
          </a:fillRef>
          <a:effectRef idx="0">
            <a:schemeClr val="accent5"/>
          </a:effectRef>
          <a:fontRef idx="minor">
            <a:schemeClr val="dk1"/>
          </a:fontRef>
        </p:style>
      </p:pic>
      <p:sp>
        <p:nvSpPr>
          <p:cNvPr id="6" name="TextBox 5">
            <a:extLst>
              <a:ext uri="{FF2B5EF4-FFF2-40B4-BE49-F238E27FC236}">
                <a16:creationId xmlns:a16="http://schemas.microsoft.com/office/drawing/2014/main" id="{8B81C60B-29A9-457B-9E4F-76279A6A042D}"/>
              </a:ext>
            </a:extLst>
          </p:cNvPr>
          <p:cNvSpPr txBox="1"/>
          <p:nvPr/>
        </p:nvSpPr>
        <p:spPr>
          <a:xfrm>
            <a:off x="1638300" y="750839"/>
            <a:ext cx="7956858" cy="769441"/>
          </a:xfrm>
          <a:prstGeom prst="rect">
            <a:avLst/>
          </a:prstGeom>
          <a:noFill/>
        </p:spPr>
        <p:txBody>
          <a:bodyPr wrap="none" rtlCol="0">
            <a:spAutoFit/>
          </a:bodyPr>
          <a:lstStyle/>
          <a:p>
            <a:r>
              <a:rPr lang="en-US" sz="4400" dirty="0">
                <a:latin typeface="+mj-lt"/>
              </a:rPr>
              <a:t>Data Replication – Fault Tolerance </a:t>
            </a:r>
          </a:p>
        </p:txBody>
      </p:sp>
      <p:cxnSp>
        <p:nvCxnSpPr>
          <p:cNvPr id="8" name="Straight Connector 7">
            <a:extLst>
              <a:ext uri="{FF2B5EF4-FFF2-40B4-BE49-F238E27FC236}">
                <a16:creationId xmlns:a16="http://schemas.microsoft.com/office/drawing/2014/main" id="{39F86583-3CE5-4B38-8988-B21A18CEB6B3}"/>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0" name="Picture 2" descr="Camunda Modeler 4.0.0 Released - Camunda">
            <a:extLst>
              <a:ext uri="{FF2B5EF4-FFF2-40B4-BE49-F238E27FC236}">
                <a16:creationId xmlns:a16="http://schemas.microsoft.com/office/drawing/2014/main" id="{840C4431-3EBE-4D76-93C1-A9440FB82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010B64D-D25C-4C9E-A4AD-9819B42CFDD7}"/>
              </a:ext>
            </a:extLst>
          </p:cNvPr>
          <p:cNvPicPr>
            <a:picLocks noChangeAspect="1"/>
          </p:cNvPicPr>
          <p:nvPr/>
        </p:nvPicPr>
        <p:blipFill>
          <a:blip r:embed="rId4"/>
          <a:stretch>
            <a:fillRect/>
          </a:stretch>
        </p:blipFill>
        <p:spPr>
          <a:xfrm>
            <a:off x="6572561" y="2468017"/>
            <a:ext cx="5200339" cy="3341940"/>
          </a:xfrm>
          <a:prstGeom prst="rect">
            <a:avLst/>
          </a:prstGeom>
        </p:spPr>
      </p:pic>
    </p:spTree>
    <p:extLst>
      <p:ext uri="{BB962C8B-B14F-4D97-AF65-F5344CB8AC3E}">
        <p14:creationId xmlns:p14="http://schemas.microsoft.com/office/powerpoint/2010/main" val="945207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F2D0F-6936-4BB3-BCAF-C6F19494F825}"/>
              </a:ext>
            </a:extLst>
          </p:cNvPr>
          <p:cNvSpPr>
            <a:spLocks noGrp="1"/>
          </p:cNvSpPr>
          <p:nvPr>
            <p:ph type="title"/>
          </p:nvPr>
        </p:nvSpPr>
        <p:spPr>
          <a:xfrm>
            <a:off x="1390156" y="438948"/>
            <a:ext cx="10515600" cy="1325563"/>
          </a:xfrm>
        </p:spPr>
        <p:txBody>
          <a:bodyPr/>
          <a:lstStyle/>
          <a:p>
            <a:r>
              <a:rPr lang="en-US" dirty="0"/>
              <a:t> </a:t>
            </a:r>
          </a:p>
        </p:txBody>
      </p:sp>
      <p:sp>
        <p:nvSpPr>
          <p:cNvPr id="3" name="Content Placeholder 2">
            <a:extLst>
              <a:ext uri="{FF2B5EF4-FFF2-40B4-BE49-F238E27FC236}">
                <a16:creationId xmlns:a16="http://schemas.microsoft.com/office/drawing/2014/main" id="{4C8EE222-8D17-44B1-AE9F-3DEDFCE59F9D}"/>
              </a:ext>
            </a:extLst>
          </p:cNvPr>
          <p:cNvSpPr>
            <a:spLocks noGrp="1"/>
          </p:cNvSpPr>
          <p:nvPr>
            <p:ph idx="1"/>
          </p:nvPr>
        </p:nvSpPr>
        <p:spPr>
          <a:effectLst>
            <a:outerShdw blurRad="50800" dist="38100" algn="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a:lstStyle/>
          <a:p>
            <a:pPr marL="0" indent="0">
              <a:buNone/>
            </a:pPr>
            <a:r>
              <a:rPr lang="en-US" dirty="0"/>
              <a:t> </a:t>
            </a:r>
          </a:p>
        </p:txBody>
      </p:sp>
      <p:sp>
        <p:nvSpPr>
          <p:cNvPr id="5" name="Title 1">
            <a:extLst>
              <a:ext uri="{FF2B5EF4-FFF2-40B4-BE49-F238E27FC236}">
                <a16:creationId xmlns:a16="http://schemas.microsoft.com/office/drawing/2014/main" id="{7ED2B8F0-A499-4590-8180-E3C098204D5A}"/>
              </a:ext>
            </a:extLst>
          </p:cNvPr>
          <p:cNvSpPr txBox="1">
            <a:spLocks/>
          </p:cNvSpPr>
          <p:nvPr/>
        </p:nvSpPr>
        <p:spPr>
          <a:xfrm>
            <a:off x="1545077" y="2940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Orchestration of Microservices</a:t>
            </a:r>
            <a:endParaRPr lang="en-IN" dirty="0"/>
          </a:p>
        </p:txBody>
      </p:sp>
      <p:sp>
        <p:nvSpPr>
          <p:cNvPr id="6" name="Content Placeholder 2">
            <a:extLst>
              <a:ext uri="{FF2B5EF4-FFF2-40B4-BE49-F238E27FC236}">
                <a16:creationId xmlns:a16="http://schemas.microsoft.com/office/drawing/2014/main" id="{30258172-A137-4F5D-B801-1013965C98AD}"/>
              </a:ext>
            </a:extLst>
          </p:cNvPr>
          <p:cNvSpPr txBox="1">
            <a:spLocks/>
          </p:cNvSpPr>
          <p:nvPr/>
        </p:nvSpPr>
        <p:spPr>
          <a:xfrm>
            <a:off x="1305127" y="2482681"/>
            <a:ext cx="164235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p>
          <a:p>
            <a:pPr marL="0" indent="0">
              <a:buFont typeface="Arial" panose="020B0604020202020204" pitchFamily="34" charset="0"/>
              <a:buNone/>
            </a:pPr>
            <a:endParaRPr lang="en-IN" dirty="0"/>
          </a:p>
        </p:txBody>
      </p:sp>
      <p:sp>
        <p:nvSpPr>
          <p:cNvPr id="7" name="Rectangle 6">
            <a:extLst>
              <a:ext uri="{FF2B5EF4-FFF2-40B4-BE49-F238E27FC236}">
                <a16:creationId xmlns:a16="http://schemas.microsoft.com/office/drawing/2014/main" id="{8BF2035A-B36B-4475-94D0-1DE2EA4D8489}"/>
              </a:ext>
            </a:extLst>
          </p:cNvPr>
          <p:cNvSpPr/>
          <p:nvPr/>
        </p:nvSpPr>
        <p:spPr>
          <a:xfrm>
            <a:off x="5116749" y="4581728"/>
            <a:ext cx="1828800" cy="99222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3B6679EA-E316-4B2B-B47F-460AE32969B2}"/>
              </a:ext>
            </a:extLst>
          </p:cNvPr>
          <p:cNvSpPr txBox="1"/>
          <p:nvPr/>
        </p:nvSpPr>
        <p:spPr>
          <a:xfrm>
            <a:off x="5626358" y="4754672"/>
            <a:ext cx="878061" cy="707886"/>
          </a:xfrm>
          <a:prstGeom prst="rect">
            <a:avLst/>
          </a:prstGeom>
          <a:noFill/>
        </p:spPr>
        <p:txBody>
          <a:bodyPr wrap="none" rtlCol="0">
            <a:spAutoFit/>
          </a:bodyPr>
          <a:lstStyle/>
          <a:p>
            <a:r>
              <a:rPr lang="en-US" sz="2000" dirty="0"/>
              <a:t>Zeebe </a:t>
            </a:r>
          </a:p>
          <a:p>
            <a:r>
              <a:rPr lang="en-US" sz="2000" dirty="0"/>
              <a:t>Broker</a:t>
            </a:r>
            <a:endParaRPr lang="en-IN" sz="2000" dirty="0"/>
          </a:p>
        </p:txBody>
      </p:sp>
      <p:sp>
        <p:nvSpPr>
          <p:cNvPr id="9" name="Rectangle 8">
            <a:extLst>
              <a:ext uri="{FF2B5EF4-FFF2-40B4-BE49-F238E27FC236}">
                <a16:creationId xmlns:a16="http://schemas.microsoft.com/office/drawing/2014/main" id="{8867053B-950F-44B4-8D70-84CA5C22D0DB}"/>
              </a:ext>
            </a:extLst>
          </p:cNvPr>
          <p:cNvSpPr/>
          <p:nvPr/>
        </p:nvSpPr>
        <p:spPr>
          <a:xfrm>
            <a:off x="6435939" y="1986569"/>
            <a:ext cx="1828800" cy="99222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9D41D0BE-83BA-4E95-A7EC-823A8EC0A611}"/>
              </a:ext>
            </a:extLst>
          </p:cNvPr>
          <p:cNvSpPr/>
          <p:nvPr/>
        </p:nvSpPr>
        <p:spPr>
          <a:xfrm>
            <a:off x="4361234" y="1986570"/>
            <a:ext cx="1828800" cy="99222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F787588A-84C4-4332-A00A-CDEA732FC315}"/>
              </a:ext>
            </a:extLst>
          </p:cNvPr>
          <p:cNvSpPr/>
          <p:nvPr/>
        </p:nvSpPr>
        <p:spPr>
          <a:xfrm>
            <a:off x="8200417" y="3589506"/>
            <a:ext cx="1828800" cy="99222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FB5458E8-229F-4BB6-A368-668F6D478EED}"/>
              </a:ext>
            </a:extLst>
          </p:cNvPr>
          <p:cNvSpPr/>
          <p:nvPr/>
        </p:nvSpPr>
        <p:spPr>
          <a:xfrm>
            <a:off x="2355715" y="3589507"/>
            <a:ext cx="1828800" cy="99222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cxnSp>
        <p:nvCxnSpPr>
          <p:cNvPr id="13" name="Straight Arrow Connector 12">
            <a:extLst>
              <a:ext uri="{FF2B5EF4-FFF2-40B4-BE49-F238E27FC236}">
                <a16:creationId xmlns:a16="http://schemas.microsoft.com/office/drawing/2014/main" id="{578B8290-2C63-4A4C-AF05-27568FA47143}"/>
              </a:ext>
            </a:extLst>
          </p:cNvPr>
          <p:cNvCxnSpPr>
            <a:cxnSpLocks/>
          </p:cNvCxnSpPr>
          <p:nvPr/>
        </p:nvCxnSpPr>
        <p:spPr>
          <a:xfrm flipH="1" flipV="1">
            <a:off x="4272472" y="4085617"/>
            <a:ext cx="844277" cy="496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2178E06-EA0A-4A4A-B382-C3B269006391}"/>
              </a:ext>
            </a:extLst>
          </p:cNvPr>
          <p:cNvCxnSpPr>
            <a:cxnSpLocks/>
          </p:cNvCxnSpPr>
          <p:nvPr/>
        </p:nvCxnSpPr>
        <p:spPr>
          <a:xfrm flipH="1" flipV="1">
            <a:off x="5381423" y="3151736"/>
            <a:ext cx="231234" cy="945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47B20DC-E5AD-4F2D-9EE4-84F9E0BB97AC}"/>
              </a:ext>
            </a:extLst>
          </p:cNvPr>
          <p:cNvCxnSpPr>
            <a:cxnSpLocks/>
          </p:cNvCxnSpPr>
          <p:nvPr/>
        </p:nvCxnSpPr>
        <p:spPr>
          <a:xfrm flipV="1">
            <a:off x="6675201" y="3151734"/>
            <a:ext cx="416263" cy="933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595EA9A-6E22-439A-A563-7CB4081CFDDA}"/>
              </a:ext>
            </a:extLst>
          </p:cNvPr>
          <p:cNvCxnSpPr>
            <a:cxnSpLocks/>
          </p:cNvCxnSpPr>
          <p:nvPr/>
        </p:nvCxnSpPr>
        <p:spPr>
          <a:xfrm flipV="1">
            <a:off x="6945549" y="4085616"/>
            <a:ext cx="1180697" cy="496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1072B0F-B7FD-4D1A-9A9E-CFC96560A486}"/>
              </a:ext>
            </a:extLst>
          </p:cNvPr>
          <p:cNvSpPr txBox="1"/>
          <p:nvPr/>
        </p:nvSpPr>
        <p:spPr>
          <a:xfrm>
            <a:off x="6647956" y="2302142"/>
            <a:ext cx="1627240" cy="400110"/>
          </a:xfrm>
          <a:prstGeom prst="rect">
            <a:avLst/>
          </a:prstGeom>
          <a:noFill/>
        </p:spPr>
        <p:txBody>
          <a:bodyPr wrap="none" rtlCol="0">
            <a:spAutoFit/>
          </a:bodyPr>
          <a:lstStyle/>
          <a:p>
            <a:r>
              <a:rPr lang="en-US" sz="2000" dirty="0"/>
              <a:t>Microservices</a:t>
            </a:r>
            <a:endParaRPr lang="en-IN" sz="2000" dirty="0"/>
          </a:p>
        </p:txBody>
      </p:sp>
      <p:sp>
        <p:nvSpPr>
          <p:cNvPr id="18" name="TextBox 17">
            <a:extLst>
              <a:ext uri="{FF2B5EF4-FFF2-40B4-BE49-F238E27FC236}">
                <a16:creationId xmlns:a16="http://schemas.microsoft.com/office/drawing/2014/main" id="{4DC7BCEA-3705-415B-A0AB-99D28B26E609}"/>
              </a:ext>
            </a:extLst>
          </p:cNvPr>
          <p:cNvSpPr txBox="1"/>
          <p:nvPr/>
        </p:nvSpPr>
        <p:spPr>
          <a:xfrm>
            <a:off x="8544514" y="3900950"/>
            <a:ext cx="6094378" cy="400110"/>
          </a:xfrm>
          <a:prstGeom prst="rect">
            <a:avLst/>
          </a:prstGeom>
          <a:noFill/>
        </p:spPr>
        <p:txBody>
          <a:bodyPr wrap="square">
            <a:spAutoFit/>
          </a:bodyPr>
          <a:lstStyle/>
          <a:p>
            <a:r>
              <a:rPr lang="en-US" sz="2000" dirty="0"/>
              <a:t>Microservices</a:t>
            </a:r>
            <a:endParaRPr lang="en-IN" sz="2000" dirty="0"/>
          </a:p>
        </p:txBody>
      </p:sp>
      <p:sp>
        <p:nvSpPr>
          <p:cNvPr id="19" name="TextBox 18">
            <a:extLst>
              <a:ext uri="{FF2B5EF4-FFF2-40B4-BE49-F238E27FC236}">
                <a16:creationId xmlns:a16="http://schemas.microsoft.com/office/drawing/2014/main" id="{D9ACBD26-2A8E-4ED0-9F5C-2DF329311C6C}"/>
              </a:ext>
            </a:extLst>
          </p:cNvPr>
          <p:cNvSpPr txBox="1"/>
          <p:nvPr/>
        </p:nvSpPr>
        <p:spPr>
          <a:xfrm>
            <a:off x="4473105" y="2292414"/>
            <a:ext cx="1755032" cy="400110"/>
          </a:xfrm>
          <a:prstGeom prst="rect">
            <a:avLst/>
          </a:prstGeom>
          <a:noFill/>
        </p:spPr>
        <p:txBody>
          <a:bodyPr wrap="square">
            <a:spAutoFit/>
          </a:bodyPr>
          <a:lstStyle/>
          <a:p>
            <a:r>
              <a:rPr lang="en-US" sz="2000" dirty="0"/>
              <a:t>Microservices</a:t>
            </a:r>
            <a:endParaRPr lang="en-IN" sz="2000" dirty="0"/>
          </a:p>
        </p:txBody>
      </p:sp>
      <p:sp>
        <p:nvSpPr>
          <p:cNvPr id="20" name="TextBox 19">
            <a:extLst>
              <a:ext uri="{FF2B5EF4-FFF2-40B4-BE49-F238E27FC236}">
                <a16:creationId xmlns:a16="http://schemas.microsoft.com/office/drawing/2014/main" id="{D7BF7CF7-222A-4AE2-8E1C-D3D41BE789E6}"/>
              </a:ext>
            </a:extLst>
          </p:cNvPr>
          <p:cNvSpPr txBox="1"/>
          <p:nvPr/>
        </p:nvSpPr>
        <p:spPr>
          <a:xfrm>
            <a:off x="2419554" y="3866730"/>
            <a:ext cx="1899325" cy="400110"/>
          </a:xfrm>
          <a:prstGeom prst="rect">
            <a:avLst/>
          </a:prstGeom>
          <a:noFill/>
        </p:spPr>
        <p:txBody>
          <a:bodyPr wrap="square">
            <a:spAutoFit/>
          </a:bodyPr>
          <a:lstStyle/>
          <a:p>
            <a:r>
              <a:rPr lang="en-US" sz="2000" dirty="0"/>
              <a:t>Microservices</a:t>
            </a:r>
            <a:endParaRPr lang="en-IN" sz="2000" dirty="0"/>
          </a:p>
        </p:txBody>
      </p:sp>
      <p:sp>
        <p:nvSpPr>
          <p:cNvPr id="21" name="TextBox 20">
            <a:extLst>
              <a:ext uri="{FF2B5EF4-FFF2-40B4-BE49-F238E27FC236}">
                <a16:creationId xmlns:a16="http://schemas.microsoft.com/office/drawing/2014/main" id="{547C2AA3-A05D-4BBB-ABC5-342218E6CCDB}"/>
              </a:ext>
            </a:extLst>
          </p:cNvPr>
          <p:cNvSpPr txBox="1"/>
          <p:nvPr/>
        </p:nvSpPr>
        <p:spPr>
          <a:xfrm>
            <a:off x="5217063" y="4050717"/>
            <a:ext cx="2066197" cy="400110"/>
          </a:xfrm>
          <a:prstGeom prst="rect">
            <a:avLst/>
          </a:prstGeom>
          <a:noFill/>
        </p:spPr>
        <p:txBody>
          <a:bodyPr wrap="square">
            <a:spAutoFit/>
          </a:bodyPr>
          <a:lstStyle/>
          <a:p>
            <a:r>
              <a:rPr lang="en-US" sz="2000" dirty="0"/>
              <a:t>Distribute Work</a:t>
            </a:r>
            <a:endParaRPr lang="en-IN" sz="2000" dirty="0"/>
          </a:p>
        </p:txBody>
      </p:sp>
      <p:sp>
        <p:nvSpPr>
          <p:cNvPr id="22" name="Title 1">
            <a:extLst>
              <a:ext uri="{FF2B5EF4-FFF2-40B4-BE49-F238E27FC236}">
                <a16:creationId xmlns:a16="http://schemas.microsoft.com/office/drawing/2014/main" id="{87286948-5E10-4FD5-8FA3-89BEB5E4CFDF}"/>
              </a:ext>
            </a:extLst>
          </p:cNvPr>
          <p:cNvSpPr txBox="1">
            <a:spLocks/>
          </p:cNvSpPr>
          <p:nvPr/>
        </p:nvSpPr>
        <p:spPr>
          <a:xfrm>
            <a:off x="1460032" y="6069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cxnSp>
        <p:nvCxnSpPr>
          <p:cNvPr id="24" name="Straight Connector 23">
            <a:extLst>
              <a:ext uri="{FF2B5EF4-FFF2-40B4-BE49-F238E27FC236}">
                <a16:creationId xmlns:a16="http://schemas.microsoft.com/office/drawing/2014/main" id="{95F9E65F-7632-4839-8B0D-5A03225D019D}"/>
              </a:ext>
            </a:extLst>
          </p:cNvPr>
          <p:cNvCxnSpPr>
            <a:cxnSpLocks/>
          </p:cNvCxnSpPr>
          <p:nvPr/>
        </p:nvCxnSpPr>
        <p:spPr>
          <a:xfrm>
            <a:off x="0" y="1619587"/>
            <a:ext cx="12286034"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26" name="Picture 2" descr="Camunda Modeler 4.0.0 Released - Camunda">
            <a:extLst>
              <a:ext uri="{FF2B5EF4-FFF2-40B4-BE49-F238E27FC236}">
                <a16:creationId xmlns:a16="http://schemas.microsoft.com/office/drawing/2014/main" id="{52DA818A-A3D4-4822-9D8E-1571133545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60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2B531-E3E3-4BC5-834C-2B4A729A175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98BAA88-7508-4915-8F71-D77D0ADD952E}"/>
              </a:ext>
            </a:extLst>
          </p:cNvPr>
          <p:cNvSpPr>
            <a:spLocks noGrp="1"/>
          </p:cNvSpPr>
          <p:nvPr>
            <p:ph idx="1"/>
          </p:nvPr>
        </p:nvSpPr>
        <p:spPr/>
        <p:txBody>
          <a:bodyPr/>
          <a:lstStyle/>
          <a:p>
            <a:pPr marL="0" indent="0">
              <a:buNone/>
            </a:pPr>
            <a:r>
              <a:rPr lang="en-US" dirty="0"/>
              <a:t> </a:t>
            </a:r>
          </a:p>
        </p:txBody>
      </p:sp>
      <p:sp>
        <p:nvSpPr>
          <p:cNvPr id="8" name="Title 1">
            <a:extLst>
              <a:ext uri="{FF2B5EF4-FFF2-40B4-BE49-F238E27FC236}">
                <a16:creationId xmlns:a16="http://schemas.microsoft.com/office/drawing/2014/main" id="{4097F0BE-9D4C-4E48-B1CE-0DD193615D12}"/>
              </a:ext>
            </a:extLst>
          </p:cNvPr>
          <p:cNvSpPr txBox="1">
            <a:spLocks/>
          </p:cNvSpPr>
          <p:nvPr/>
        </p:nvSpPr>
        <p:spPr>
          <a:xfrm>
            <a:off x="1460032" y="7855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Zeebe Worker</a:t>
            </a:r>
            <a:endParaRPr lang="en-IN" dirty="0"/>
          </a:p>
          <a:p>
            <a:endParaRPr lang="en-US" dirty="0"/>
          </a:p>
        </p:txBody>
      </p:sp>
      <p:cxnSp>
        <p:nvCxnSpPr>
          <p:cNvPr id="11" name="Straight Connector 10">
            <a:extLst>
              <a:ext uri="{FF2B5EF4-FFF2-40B4-BE49-F238E27FC236}">
                <a16:creationId xmlns:a16="http://schemas.microsoft.com/office/drawing/2014/main" id="{5A16D9D3-8AD7-485F-8577-D5417FC1ED4A}"/>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BC8201AB-C063-47EE-B7C6-72E9FFFBD688}"/>
              </a:ext>
            </a:extLst>
          </p:cNvPr>
          <p:cNvSpPr txBox="1">
            <a:spLocks/>
          </p:cNvSpPr>
          <p:nvPr/>
        </p:nvSpPr>
        <p:spPr>
          <a:xfrm>
            <a:off x="444500" y="365125"/>
            <a:ext cx="10909300" cy="14604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 </a:t>
            </a:r>
            <a:endParaRPr lang="en-IN" dirty="0"/>
          </a:p>
        </p:txBody>
      </p:sp>
      <p:sp>
        <p:nvSpPr>
          <p:cNvPr id="14" name="Title 1">
            <a:extLst>
              <a:ext uri="{FF2B5EF4-FFF2-40B4-BE49-F238E27FC236}">
                <a16:creationId xmlns:a16="http://schemas.microsoft.com/office/drawing/2014/main" id="{4AA7C7E2-0D5C-4FD8-983F-DA81D163B4AE}"/>
              </a:ext>
            </a:extLst>
          </p:cNvPr>
          <p:cNvSpPr txBox="1">
            <a:spLocks/>
          </p:cNvSpPr>
          <p:nvPr/>
        </p:nvSpPr>
        <p:spPr>
          <a:xfrm>
            <a:off x="-3185684" y="-8547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a:t>
            </a:r>
            <a:endParaRPr lang="en-IN" dirty="0"/>
          </a:p>
        </p:txBody>
      </p:sp>
      <p:sp>
        <p:nvSpPr>
          <p:cNvPr id="17" name="Rectangle 16">
            <a:extLst>
              <a:ext uri="{FF2B5EF4-FFF2-40B4-BE49-F238E27FC236}">
                <a16:creationId xmlns:a16="http://schemas.microsoft.com/office/drawing/2014/main" id="{D4FA5742-7A80-4E4A-B521-D7B2C9E6D7B6}"/>
              </a:ext>
            </a:extLst>
          </p:cNvPr>
          <p:cNvSpPr/>
          <p:nvPr/>
        </p:nvSpPr>
        <p:spPr>
          <a:xfrm>
            <a:off x="4202349" y="3784059"/>
            <a:ext cx="1799617" cy="89494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9" name="Rectangle 18">
            <a:extLst>
              <a:ext uri="{FF2B5EF4-FFF2-40B4-BE49-F238E27FC236}">
                <a16:creationId xmlns:a16="http://schemas.microsoft.com/office/drawing/2014/main" id="{7B588CA6-483F-4FEC-816D-9DBCF481A164}"/>
              </a:ext>
            </a:extLst>
          </p:cNvPr>
          <p:cNvSpPr/>
          <p:nvPr/>
        </p:nvSpPr>
        <p:spPr>
          <a:xfrm>
            <a:off x="4202349" y="3746330"/>
            <a:ext cx="1702340" cy="914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pic>
        <p:nvPicPr>
          <p:cNvPr id="30" name="Picture 29" descr="Graphical user interface&#10;&#10;Description automatically generated with medium confidence">
            <a:extLst>
              <a:ext uri="{FF2B5EF4-FFF2-40B4-BE49-F238E27FC236}">
                <a16:creationId xmlns:a16="http://schemas.microsoft.com/office/drawing/2014/main" id="{87338307-5F0B-4ECF-A16C-AF706C13F25E}"/>
              </a:ext>
            </a:extLst>
          </p:cNvPr>
          <p:cNvPicPr>
            <a:picLocks noChangeAspect="1"/>
          </p:cNvPicPr>
          <p:nvPr/>
        </p:nvPicPr>
        <p:blipFill rotWithShape="1">
          <a:blip r:embed="rId2">
            <a:extLst>
              <a:ext uri="{28A0092B-C50C-407E-A947-70E740481C1C}">
                <a14:useLocalDpi xmlns:a14="http://schemas.microsoft.com/office/drawing/2010/main" val="0"/>
              </a:ext>
            </a:extLst>
          </a:blip>
          <a:srcRect l="24375" t="26621" r="20208" b="15926"/>
          <a:stretch/>
        </p:blipFill>
        <p:spPr>
          <a:xfrm>
            <a:off x="1933058" y="2008457"/>
            <a:ext cx="7943261" cy="4632326"/>
          </a:xfrm>
          <a:prstGeom prst="rect">
            <a:avLst/>
          </a:prstGeom>
          <a:ln>
            <a:solidFill>
              <a:schemeClr val="accent1"/>
            </a:solidFill>
          </a:ln>
        </p:spPr>
      </p:pic>
      <p:pic>
        <p:nvPicPr>
          <p:cNvPr id="13" name="Picture 2" descr="Camunda Modeler 4.0.0 Released - Camunda">
            <a:extLst>
              <a:ext uri="{FF2B5EF4-FFF2-40B4-BE49-F238E27FC236}">
                <a16:creationId xmlns:a16="http://schemas.microsoft.com/office/drawing/2014/main" id="{673478C5-32BA-461A-9AAA-A94DF9A5A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332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A3065-943A-49C9-9853-B37F26944606}"/>
              </a:ext>
            </a:extLst>
          </p:cNvPr>
          <p:cNvSpPr>
            <a:spLocks noGrp="1"/>
          </p:cNvSpPr>
          <p:nvPr>
            <p:ph type="title"/>
          </p:nvPr>
        </p:nvSpPr>
        <p:spPr>
          <a:xfrm>
            <a:off x="1260488" y="365125"/>
            <a:ext cx="10093312" cy="1325563"/>
          </a:xfrm>
        </p:spPr>
        <p:txBody>
          <a:bodyPr/>
          <a:lstStyle/>
          <a:p>
            <a:r>
              <a:rPr lang="en-US" dirty="0"/>
              <a:t>Event based service Orchestration</a:t>
            </a:r>
          </a:p>
        </p:txBody>
      </p:sp>
      <p:pic>
        <p:nvPicPr>
          <p:cNvPr id="8" name="Content Placeholder 7" descr="Diagram&#10;&#10;Description automatically generated">
            <a:extLst>
              <a:ext uri="{FF2B5EF4-FFF2-40B4-BE49-F238E27FC236}">
                <a16:creationId xmlns:a16="http://schemas.microsoft.com/office/drawing/2014/main" id="{B5A89724-F710-4CA8-8161-E6FF2FD122B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6295" t="31149" r="1733" b="15606"/>
          <a:stretch/>
        </p:blipFill>
        <p:spPr>
          <a:xfrm>
            <a:off x="147304" y="2197236"/>
            <a:ext cx="11902475" cy="4365485"/>
          </a:xfrm>
        </p:spPr>
      </p:pic>
      <p:pic>
        <p:nvPicPr>
          <p:cNvPr id="6" name="Picture 2" descr="Camunda Modeler 4.0.0 Released - Camunda">
            <a:extLst>
              <a:ext uri="{FF2B5EF4-FFF2-40B4-BE49-F238E27FC236}">
                <a16:creationId xmlns:a16="http://schemas.microsoft.com/office/drawing/2014/main" id="{530FA194-4B43-4941-BF44-401FCDC76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AE643518-2E3E-4FDD-8512-8675B9D9BF01}"/>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712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9DDC4-52A6-4FE9-BFB7-BF67BF88960E}"/>
              </a:ext>
            </a:extLst>
          </p:cNvPr>
          <p:cNvSpPr>
            <a:spLocks noGrp="1"/>
          </p:cNvSpPr>
          <p:nvPr>
            <p:ph type="title"/>
          </p:nvPr>
        </p:nvSpPr>
        <p:spPr>
          <a:xfrm>
            <a:off x="1260488" y="641282"/>
            <a:ext cx="10515600" cy="1325563"/>
          </a:xfrm>
        </p:spPr>
        <p:txBody>
          <a:bodyPr>
            <a:normAutofit fontScale="90000"/>
          </a:bodyPr>
          <a:lstStyle/>
          <a:p>
            <a:r>
              <a:rPr lang="en-US" dirty="0"/>
              <a:t>Event based service Orchestration – Running State </a:t>
            </a:r>
            <a:br>
              <a:rPr lang="en-US" dirty="0"/>
            </a:br>
            <a:endParaRPr lang="en-US" dirty="0"/>
          </a:p>
        </p:txBody>
      </p:sp>
      <p:pic>
        <p:nvPicPr>
          <p:cNvPr id="8" name="Content Placeholder 7" descr="Diagram&#10;&#10;Description automatically generated">
            <a:extLst>
              <a:ext uri="{FF2B5EF4-FFF2-40B4-BE49-F238E27FC236}">
                <a16:creationId xmlns:a16="http://schemas.microsoft.com/office/drawing/2014/main" id="{61FE871B-B0D3-478A-B671-7F7A6E28CB3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6808" t="28168" r="1861" b="16327"/>
          <a:stretch/>
        </p:blipFill>
        <p:spPr>
          <a:xfrm>
            <a:off x="316949" y="2325757"/>
            <a:ext cx="11558101" cy="4436994"/>
          </a:xfrm>
        </p:spPr>
      </p:pic>
      <p:sp>
        <p:nvSpPr>
          <p:cNvPr id="4" name="Title 1">
            <a:extLst>
              <a:ext uri="{FF2B5EF4-FFF2-40B4-BE49-F238E27FC236}">
                <a16:creationId xmlns:a16="http://schemas.microsoft.com/office/drawing/2014/main" id="{FC05646E-556E-4B48-BC9C-E2C83BB02D8C}"/>
              </a:ext>
            </a:extLst>
          </p:cNvPr>
          <p:cNvSpPr txBox="1">
            <a:spLocks/>
          </p:cNvSpPr>
          <p:nvPr/>
        </p:nvSpPr>
        <p:spPr>
          <a:xfrm>
            <a:off x="1260488" y="365125"/>
            <a:ext cx="1009331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pic>
        <p:nvPicPr>
          <p:cNvPr id="5" name="Picture 2" descr="Camunda Modeler 4.0.0 Released - Camunda">
            <a:extLst>
              <a:ext uri="{FF2B5EF4-FFF2-40B4-BE49-F238E27FC236}">
                <a16:creationId xmlns:a16="http://schemas.microsoft.com/office/drawing/2014/main" id="{E83E244A-9306-4BD4-B031-4999DE391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DA1B7E18-C0C0-4A35-933C-19B07DBFC6AF}"/>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516E910-05E6-4FEC-8FC0-2396774032C1}"/>
              </a:ext>
            </a:extLst>
          </p:cNvPr>
          <p:cNvPicPr>
            <a:picLocks noChangeAspect="1"/>
          </p:cNvPicPr>
          <p:nvPr/>
        </p:nvPicPr>
        <p:blipFill>
          <a:blip r:embed="rId4"/>
          <a:stretch>
            <a:fillRect/>
          </a:stretch>
        </p:blipFill>
        <p:spPr>
          <a:xfrm>
            <a:off x="9534525" y="6457950"/>
            <a:ext cx="2657475" cy="400050"/>
          </a:xfrm>
          <a:prstGeom prst="rect">
            <a:avLst/>
          </a:prstGeom>
        </p:spPr>
      </p:pic>
    </p:spTree>
    <p:extLst>
      <p:ext uri="{BB962C8B-B14F-4D97-AF65-F5344CB8AC3E}">
        <p14:creationId xmlns:p14="http://schemas.microsoft.com/office/powerpoint/2010/main" val="1813345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34714-C0EA-48EF-934E-5FB22197EECE}"/>
              </a:ext>
            </a:extLst>
          </p:cNvPr>
          <p:cNvSpPr>
            <a:spLocks noGrp="1"/>
          </p:cNvSpPr>
          <p:nvPr>
            <p:ph type="title"/>
          </p:nvPr>
        </p:nvSpPr>
        <p:spPr>
          <a:xfrm>
            <a:off x="1260488" y="397888"/>
            <a:ext cx="10515600" cy="1325563"/>
          </a:xfrm>
        </p:spPr>
        <p:txBody>
          <a:bodyPr/>
          <a:lstStyle/>
          <a:p>
            <a:r>
              <a:rPr lang="en-US" dirty="0" err="1"/>
              <a:t>Zeebe</a:t>
            </a:r>
            <a:r>
              <a:rPr lang="en-US" dirty="0"/>
              <a:t> Kafka Integration</a:t>
            </a:r>
          </a:p>
        </p:txBody>
      </p:sp>
      <p:pic>
        <p:nvPicPr>
          <p:cNvPr id="7" name="Content Placeholder 6" descr="Diagram&#10;&#10;Description automatically generated">
            <a:extLst>
              <a:ext uri="{FF2B5EF4-FFF2-40B4-BE49-F238E27FC236}">
                <a16:creationId xmlns:a16="http://schemas.microsoft.com/office/drawing/2014/main" id="{7EB48E83-FAB2-49ED-B120-310717BEAC8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203" t="30281" r="2348" b="16089"/>
          <a:stretch/>
        </p:blipFill>
        <p:spPr>
          <a:xfrm>
            <a:off x="626636" y="2197237"/>
            <a:ext cx="10938727" cy="4260709"/>
          </a:xfrm>
        </p:spPr>
      </p:pic>
      <p:pic>
        <p:nvPicPr>
          <p:cNvPr id="4" name="Picture 2" descr="Camunda Modeler 4.0.0 Released - Camunda">
            <a:extLst>
              <a:ext uri="{FF2B5EF4-FFF2-40B4-BE49-F238E27FC236}">
                <a16:creationId xmlns:a16="http://schemas.microsoft.com/office/drawing/2014/main" id="{71D6708A-D9B7-46FB-BB77-BD0A12998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FF504CAD-CECC-48E3-AD98-5B5580BFF30A}"/>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719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F0AC2-C99E-4C64-8B78-3AE01424208E}"/>
              </a:ext>
            </a:extLst>
          </p:cNvPr>
          <p:cNvSpPr>
            <a:spLocks noGrp="1"/>
          </p:cNvSpPr>
          <p:nvPr>
            <p:ph type="title"/>
          </p:nvPr>
        </p:nvSpPr>
        <p:spPr>
          <a:xfrm>
            <a:off x="1386305" y="377467"/>
            <a:ext cx="10515600" cy="1325563"/>
          </a:xfrm>
        </p:spPr>
        <p:txBody>
          <a:bodyPr/>
          <a:lstStyle/>
          <a:p>
            <a:r>
              <a:rPr lang="en-US" dirty="0" err="1"/>
              <a:t>Zeebe</a:t>
            </a:r>
            <a:r>
              <a:rPr lang="en-US" dirty="0"/>
              <a:t> Kafka Integration– Running State</a:t>
            </a:r>
          </a:p>
        </p:txBody>
      </p:sp>
      <p:pic>
        <p:nvPicPr>
          <p:cNvPr id="7" name="Content Placeholder 6">
            <a:extLst>
              <a:ext uri="{FF2B5EF4-FFF2-40B4-BE49-F238E27FC236}">
                <a16:creationId xmlns:a16="http://schemas.microsoft.com/office/drawing/2014/main" id="{1141F1E1-484C-45A2-BCB6-D102988FCC6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7124" t="30937" r="2841" b="16308"/>
          <a:stretch/>
        </p:blipFill>
        <p:spPr>
          <a:xfrm>
            <a:off x="206960" y="2113586"/>
            <a:ext cx="11778080" cy="4366947"/>
          </a:xfrm>
        </p:spPr>
      </p:pic>
      <p:pic>
        <p:nvPicPr>
          <p:cNvPr id="4" name="Picture 2" descr="Camunda Modeler 4.0.0 Released - Camunda">
            <a:extLst>
              <a:ext uri="{FF2B5EF4-FFF2-40B4-BE49-F238E27FC236}">
                <a16:creationId xmlns:a16="http://schemas.microsoft.com/office/drawing/2014/main" id="{60125483-FC90-4AA8-965C-70848925C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08" y="493134"/>
            <a:ext cx="960880" cy="96088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18B8445A-FA1F-4C6C-BEE1-1811E2EBD526}"/>
              </a:ext>
            </a:extLst>
          </p:cNvPr>
          <p:cNvCxnSpPr/>
          <p:nvPr/>
        </p:nvCxnSpPr>
        <p:spPr>
          <a:xfrm>
            <a:off x="0" y="1825625"/>
            <a:ext cx="1219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936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FE6A7F-5EBC-4746-B1BC-099606BD0E68}"/>
              </a:ext>
            </a:extLst>
          </p:cNvPr>
          <p:cNvSpPr>
            <a:spLocks noGrp="1"/>
          </p:cNvSpPr>
          <p:nvPr>
            <p:ph type="title"/>
          </p:nvPr>
        </p:nvSpPr>
        <p:spPr>
          <a:xfrm>
            <a:off x="831317" y="3423023"/>
            <a:ext cx="4805996" cy="1297115"/>
          </a:xfrm>
        </p:spPr>
        <p:txBody>
          <a:bodyPr vert="horz" lIns="91440" tIns="45720" rIns="91440" bIns="45720" rtlCol="0" anchor="t">
            <a:normAutofit/>
          </a:bodyPr>
          <a:lstStyle/>
          <a:p>
            <a:r>
              <a:rPr lang="en-US" b="1" i="1" kern="1200" dirty="0">
                <a:solidFill>
                  <a:schemeClr val="tx2"/>
                </a:solidFill>
                <a:latin typeface="+mj-lt"/>
                <a:ea typeface="+mj-ea"/>
                <a:cs typeface="+mj-cs"/>
              </a:rPr>
              <a:t>Thank</a:t>
            </a:r>
            <a:r>
              <a:rPr lang="en-US" kern="1200" dirty="0">
                <a:solidFill>
                  <a:schemeClr val="tx2"/>
                </a:solidFill>
                <a:latin typeface="+mj-lt"/>
                <a:ea typeface="+mj-ea"/>
                <a:cs typeface="+mj-cs"/>
              </a:rPr>
              <a:t> </a:t>
            </a:r>
            <a:r>
              <a:rPr lang="en-US" b="1" i="1" kern="1200" dirty="0">
                <a:solidFill>
                  <a:schemeClr val="tx2"/>
                </a:solidFill>
                <a:latin typeface="+mj-lt"/>
                <a:ea typeface="+mj-ea"/>
                <a:cs typeface="+mj-cs"/>
              </a:rPr>
              <a:t>You</a:t>
            </a:r>
            <a:r>
              <a:rPr lang="en-US" kern="1200" dirty="0">
                <a:solidFill>
                  <a:schemeClr val="tx2"/>
                </a:solidFill>
                <a:latin typeface="+mj-lt"/>
                <a:ea typeface="+mj-ea"/>
                <a:cs typeface="+mj-cs"/>
              </a:rPr>
              <a:t>!</a:t>
            </a:r>
          </a:p>
        </p:txBody>
      </p:sp>
      <p:grpSp>
        <p:nvGrpSpPr>
          <p:cNvPr id="18" name="Group 17">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9" name="Freeform: Shape 18">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Rectangle 6">
            <a:extLst>
              <a:ext uri="{FF2B5EF4-FFF2-40B4-BE49-F238E27FC236}">
                <a16:creationId xmlns:a16="http://schemas.microsoft.com/office/drawing/2014/main" id="{C1232E4B-EDE9-449C-AA24-37D4CA4379A2}"/>
              </a:ext>
            </a:extLst>
          </p:cNvPr>
          <p:cNvSpPr/>
          <p:nvPr/>
        </p:nvSpPr>
        <p:spPr>
          <a:xfrm>
            <a:off x="3759200" y="2654300"/>
            <a:ext cx="4673600" cy="16637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56944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1229</TotalTime>
  <Words>686</Words>
  <Application>Microsoft Office PowerPoint</Application>
  <PresentationFormat>Widescreen</PresentationFormat>
  <Paragraphs>133</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vt:lpstr>
      <vt:lpstr>Calibri</vt:lpstr>
      <vt:lpstr>Calibri Light</vt:lpstr>
      <vt:lpstr>IBM Plex Sans</vt:lpstr>
      <vt:lpstr>Wingdings</vt:lpstr>
      <vt:lpstr>Office Theme</vt:lpstr>
      <vt:lpstr>PowerPoint Presentation</vt:lpstr>
      <vt:lpstr>Agenda</vt:lpstr>
      <vt:lpstr> </vt:lpstr>
      <vt:lpstr> </vt:lpstr>
      <vt:lpstr> </vt:lpstr>
      <vt:lpstr> </vt:lpstr>
      <vt:lpstr>What is Zeebe</vt:lpstr>
      <vt:lpstr>Zeebe Architecture</vt:lpstr>
      <vt:lpstr>Zeebe Architecture</vt:lpstr>
      <vt:lpstr>Zeebe Architecture</vt:lpstr>
      <vt:lpstr>Zeebe Architecture</vt:lpstr>
      <vt:lpstr>Zeebe Solution</vt:lpstr>
      <vt:lpstr>Client / Server</vt:lpstr>
      <vt:lpstr> </vt:lpstr>
      <vt:lpstr> </vt:lpstr>
      <vt:lpstr> </vt:lpstr>
      <vt:lpstr>Event based service Orchestration</vt:lpstr>
      <vt:lpstr>Event based service Orchestration – Running State  </vt:lpstr>
      <vt:lpstr>Zeebe Kafka Integration</vt:lpstr>
      <vt:lpstr>Zeebe Kafka Integration– Running State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Abhinethra Pujari</dc:creator>
  <cp:lastModifiedBy>Muralibabu Muthukrishnan</cp:lastModifiedBy>
  <cp:revision>99</cp:revision>
  <dcterms:created xsi:type="dcterms:W3CDTF">2022-04-07T16:21:17Z</dcterms:created>
  <dcterms:modified xsi:type="dcterms:W3CDTF">2022-05-27T06:36:24Z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0819fa7-4367-4500-ba88-dd630d977609_Enabled">
    <vt:lpwstr>true</vt:lpwstr>
  </property>
  <property fmtid="{D5CDD505-2E9C-101B-9397-08002B2CF9AE}" pid="3" name="MSIP_Label_a0819fa7-4367-4500-ba88-dd630d977609_SetDate">
    <vt:lpwstr>2022-04-12T06:06:17Z</vt:lpwstr>
  </property>
  <property fmtid="{D5CDD505-2E9C-101B-9397-08002B2CF9AE}" pid="4" name="MSIP_Label_a0819fa7-4367-4500-ba88-dd630d977609_Method">
    <vt:lpwstr>Standard</vt:lpwstr>
  </property>
  <property fmtid="{D5CDD505-2E9C-101B-9397-08002B2CF9AE}" pid="5" name="MSIP_Label_a0819fa7-4367-4500-ba88-dd630d977609_Name">
    <vt:lpwstr>a0819fa7-4367-4500-ba88-dd630d977609</vt:lpwstr>
  </property>
  <property fmtid="{D5CDD505-2E9C-101B-9397-08002B2CF9AE}" pid="6" name="MSIP_Label_a0819fa7-4367-4500-ba88-dd630d977609_SiteId">
    <vt:lpwstr>63ce7d59-2f3e-42cd-a8cc-be764cff5eb6</vt:lpwstr>
  </property>
  <property fmtid="{D5CDD505-2E9C-101B-9397-08002B2CF9AE}" pid="7" name="MSIP_Label_a0819fa7-4367-4500-ba88-dd630d977609_ActionId">
    <vt:lpwstr>0c6d8282-cb06-4767-b119-b94db8a04590</vt:lpwstr>
  </property>
  <property fmtid="{D5CDD505-2E9C-101B-9397-08002B2CF9AE}" pid="8" name="MSIP_Label_a0819fa7-4367-4500-ba88-dd630d977609_ContentBits">
    <vt:lpwstr>0</vt:lpwstr>
  </property>
</Properties>
</file>