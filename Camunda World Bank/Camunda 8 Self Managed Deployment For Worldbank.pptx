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media/image20.jpg" ContentType="image/jpg"/>
  <Override PartName="/ppt/theme/themeOverride1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5" r:id="rId2"/>
  </p:sldMasterIdLst>
  <p:notesMasterIdLst>
    <p:notesMasterId r:id="rId17"/>
  </p:notesMasterIdLst>
  <p:sldIdLst>
    <p:sldId id="256" r:id="rId3"/>
    <p:sldId id="334" r:id="rId4"/>
    <p:sldId id="281" r:id="rId5"/>
    <p:sldId id="259" r:id="rId6"/>
    <p:sldId id="326" r:id="rId7"/>
    <p:sldId id="335" r:id="rId8"/>
    <p:sldId id="336" r:id="rId9"/>
    <p:sldId id="337" r:id="rId10"/>
    <p:sldId id="338" r:id="rId11"/>
    <p:sldId id="340" r:id="rId12"/>
    <p:sldId id="339" r:id="rId13"/>
    <p:sldId id="341" r:id="rId14"/>
    <p:sldId id="342" r:id="rId15"/>
    <p:sldId id="343" r:id="rId16"/>
  </p:sldIdLst>
  <p:sldSz cx="14630400" cy="8229600"/>
  <p:notesSz cx="14630400" cy="82296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D-DIN Condensed" panose="020B0604020202020204" charset="0"/>
      <p:regular r:id="rId22"/>
    </p:embeddedFont>
    <p:embeddedFont>
      <p:font typeface="DIN" panose="020B0604020202020204" charset="0"/>
      <p:regular r:id="rId23"/>
      <p:bold r:id="rId24"/>
      <p:italic r:id="rId25"/>
      <p:boldItalic r:id="rId26"/>
    </p:embeddedFont>
    <p:embeddedFont>
      <p:font typeface="Tahoma" panose="020B0604030504040204" pitchFamily="34" charset="0"/>
      <p:regular r:id="rId27"/>
      <p:bold r:id="rId28"/>
    </p:embeddedFont>
    <p:embeddedFont>
      <p:font typeface="trebuchet ms" panose="020B0603020202020204" pitchFamily="34" charset="0"/>
      <p:regular r:id="rId29"/>
      <p:bold r:id="rId30"/>
      <p:italic r:id="rId31"/>
      <p:boldItalic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jckCOYgNz4HDPYwyMDfsOMW+z+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3881" autoAdjust="0"/>
  </p:normalViewPr>
  <p:slideViewPr>
    <p:cSldViewPr snapToGrid="0">
      <p:cViewPr varScale="1">
        <p:scale>
          <a:sx n="51" d="100"/>
          <a:sy n="51" d="100"/>
        </p:scale>
        <p:origin x="1939" y="3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46" Type="http://customschemas.google.com/relationships/presentationmetadata" Target="meta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A99A6C-5823-4FF9-9B38-5AA46B2303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795B3E-96BC-44D9-8D35-253BD40757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u="sng" dirty="0"/>
            <a:t>Q &amp; A</a:t>
          </a:r>
        </a:p>
      </dgm:t>
    </dgm:pt>
    <dgm:pt modelId="{804FB12A-5F44-4654-B0BB-A44BF27F24BC}" type="parTrans" cxnId="{3A97300A-84FF-43BA-BB24-F1701658E359}">
      <dgm:prSet/>
      <dgm:spPr/>
      <dgm:t>
        <a:bodyPr/>
        <a:lstStyle/>
        <a:p>
          <a:endParaRPr lang="en-US"/>
        </a:p>
      </dgm:t>
    </dgm:pt>
    <dgm:pt modelId="{4FDA9AF9-6DC7-47DC-B8E6-8FFBE0CBF228}" type="sibTrans" cxnId="{3A97300A-84FF-43BA-BB24-F1701658E359}">
      <dgm:prSet/>
      <dgm:spPr/>
      <dgm:t>
        <a:bodyPr/>
        <a:lstStyle/>
        <a:p>
          <a:endParaRPr lang="en-US"/>
        </a:p>
      </dgm:t>
    </dgm:pt>
    <dgm:pt modelId="{B9669E06-1EC0-42A4-8431-D0477F0BA2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u="sng" dirty="0"/>
            <a:t>Sample use cases and case studies</a:t>
          </a:r>
          <a:endParaRPr lang="en-US" dirty="0"/>
        </a:p>
      </dgm:t>
    </dgm:pt>
    <dgm:pt modelId="{CA932413-A7E7-44A3-9760-2E61EB2C4093}" type="sibTrans" cxnId="{3EDCFCF2-A5D8-42DA-A00F-660010641082}">
      <dgm:prSet/>
      <dgm:spPr/>
      <dgm:t>
        <a:bodyPr/>
        <a:lstStyle/>
        <a:p>
          <a:endParaRPr lang="en-US"/>
        </a:p>
      </dgm:t>
    </dgm:pt>
    <dgm:pt modelId="{023C8224-AD53-4853-B143-EFC2B9869A11}" type="parTrans" cxnId="{3EDCFCF2-A5D8-42DA-A00F-660010641082}">
      <dgm:prSet/>
      <dgm:spPr/>
      <dgm:t>
        <a:bodyPr/>
        <a:lstStyle/>
        <a:p>
          <a:endParaRPr lang="en-US"/>
        </a:p>
      </dgm:t>
    </dgm:pt>
    <dgm:pt modelId="{B458959A-A347-49E1-AC24-C410D99695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u="sng" dirty="0"/>
            <a:t>Camunda Capabilities of Surge</a:t>
          </a:r>
        </a:p>
      </dgm:t>
    </dgm:pt>
    <dgm:pt modelId="{2EAD15C5-9495-4B56-8A66-0DE944ED5AED}" type="sibTrans" cxnId="{9DCC77EC-D827-430A-83FD-432151CB73BC}">
      <dgm:prSet/>
      <dgm:spPr/>
      <dgm:t>
        <a:bodyPr/>
        <a:lstStyle/>
        <a:p>
          <a:endParaRPr lang="en-US"/>
        </a:p>
      </dgm:t>
    </dgm:pt>
    <dgm:pt modelId="{B53CF0AE-8E63-41C6-892B-6CEB2DFB5C0A}" type="parTrans" cxnId="{9DCC77EC-D827-430A-83FD-432151CB73BC}">
      <dgm:prSet/>
      <dgm:spPr/>
      <dgm:t>
        <a:bodyPr/>
        <a:lstStyle/>
        <a:p>
          <a:endParaRPr lang="en-US"/>
        </a:p>
      </dgm:t>
    </dgm:pt>
    <dgm:pt modelId="{00782A77-24CB-4795-80DF-7E4F0BEFC53D}" type="pres">
      <dgm:prSet presAssocID="{49A99A6C-5823-4FF9-9B38-5AA46B230392}" presName="root" presStyleCnt="0">
        <dgm:presLayoutVars>
          <dgm:dir/>
          <dgm:resizeHandles val="exact"/>
        </dgm:presLayoutVars>
      </dgm:prSet>
      <dgm:spPr/>
    </dgm:pt>
    <dgm:pt modelId="{A21EC6A0-9B36-478A-B075-8DC39DB82AC6}" type="pres">
      <dgm:prSet presAssocID="{B458959A-A347-49E1-AC24-C410D99695EE}" presName="compNode" presStyleCnt="0"/>
      <dgm:spPr/>
    </dgm:pt>
    <dgm:pt modelId="{9F9AC396-390A-4636-BBC3-6D321042371F}" type="pres">
      <dgm:prSet presAssocID="{B458959A-A347-49E1-AC24-C410D99695EE}" presName="bgRect" presStyleLbl="bgShp" presStyleIdx="0" presStyleCnt="3" custLinFactNeighborX="-5755" custLinFactNeighborY="-42"/>
      <dgm:spPr/>
    </dgm:pt>
    <dgm:pt modelId="{C0FE44C0-8FDB-4211-BC36-2539C97D2CE4}" type="pres">
      <dgm:prSet presAssocID="{B458959A-A347-49E1-AC24-C410D99695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849C2A29-B7B7-469B-B63D-534F76CA5156}" type="pres">
      <dgm:prSet presAssocID="{B458959A-A347-49E1-AC24-C410D99695EE}" presName="spaceRect" presStyleCnt="0"/>
      <dgm:spPr/>
    </dgm:pt>
    <dgm:pt modelId="{D3EE5D24-9E94-4856-BC09-A7C7592A3D36}" type="pres">
      <dgm:prSet presAssocID="{B458959A-A347-49E1-AC24-C410D99695EE}" presName="parTx" presStyleLbl="revTx" presStyleIdx="0" presStyleCnt="3">
        <dgm:presLayoutVars>
          <dgm:chMax val="0"/>
          <dgm:chPref val="0"/>
        </dgm:presLayoutVars>
      </dgm:prSet>
      <dgm:spPr/>
    </dgm:pt>
    <dgm:pt modelId="{42663D8A-FEF4-4DC1-B6BF-4A059D7CA8A4}" type="pres">
      <dgm:prSet presAssocID="{2EAD15C5-9495-4B56-8A66-0DE944ED5AED}" presName="sibTrans" presStyleCnt="0"/>
      <dgm:spPr/>
    </dgm:pt>
    <dgm:pt modelId="{907AF243-E438-46E2-9807-E1E6D22119C4}" type="pres">
      <dgm:prSet presAssocID="{B9669E06-1EC0-42A4-8431-D0477F0BA2AE}" presName="compNode" presStyleCnt="0"/>
      <dgm:spPr/>
    </dgm:pt>
    <dgm:pt modelId="{D739BB5F-1B2D-416C-B866-677B69CDB9AC}" type="pres">
      <dgm:prSet presAssocID="{B9669E06-1EC0-42A4-8431-D0477F0BA2AE}" presName="bgRect" presStyleLbl="bgShp" presStyleIdx="1" presStyleCnt="3"/>
      <dgm:spPr/>
    </dgm:pt>
    <dgm:pt modelId="{12A2526F-F6CC-473A-9144-8FA0AC0CA7DC}" type="pres">
      <dgm:prSet presAssocID="{B9669E06-1EC0-42A4-8431-D0477F0BA2A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194285E-5648-4127-9714-DF6C75F677CA}" type="pres">
      <dgm:prSet presAssocID="{B9669E06-1EC0-42A4-8431-D0477F0BA2AE}" presName="spaceRect" presStyleCnt="0"/>
      <dgm:spPr/>
    </dgm:pt>
    <dgm:pt modelId="{F57B0279-6F2D-4C9C-B7C1-A55ADA61D56F}" type="pres">
      <dgm:prSet presAssocID="{B9669E06-1EC0-42A4-8431-D0477F0BA2AE}" presName="parTx" presStyleLbl="revTx" presStyleIdx="1" presStyleCnt="3">
        <dgm:presLayoutVars>
          <dgm:chMax val="0"/>
          <dgm:chPref val="0"/>
        </dgm:presLayoutVars>
      </dgm:prSet>
      <dgm:spPr/>
    </dgm:pt>
    <dgm:pt modelId="{0CD0FA3D-5464-4D9E-9B6A-7E9E5161184D}" type="pres">
      <dgm:prSet presAssocID="{CA932413-A7E7-44A3-9760-2E61EB2C4093}" presName="sibTrans" presStyleCnt="0"/>
      <dgm:spPr/>
    </dgm:pt>
    <dgm:pt modelId="{9E5DDF62-F305-430B-A777-F756ABAC059F}" type="pres">
      <dgm:prSet presAssocID="{8D795B3E-96BC-44D9-8D35-253BD4075740}" presName="compNode" presStyleCnt="0"/>
      <dgm:spPr/>
    </dgm:pt>
    <dgm:pt modelId="{A161E584-6F65-4631-89A1-E82D84774412}" type="pres">
      <dgm:prSet presAssocID="{8D795B3E-96BC-44D9-8D35-253BD4075740}" presName="bgRect" presStyleLbl="bgShp" presStyleIdx="2" presStyleCnt="3"/>
      <dgm:spPr/>
    </dgm:pt>
    <dgm:pt modelId="{5A1B62DF-DEA5-419F-AEEF-5A2076CFF3FB}" type="pres">
      <dgm:prSet presAssocID="{8D795B3E-96BC-44D9-8D35-253BD407574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11F4B3C-08C6-441D-8E19-F8127063DD72}" type="pres">
      <dgm:prSet presAssocID="{8D795B3E-96BC-44D9-8D35-253BD4075740}" presName="spaceRect" presStyleCnt="0"/>
      <dgm:spPr/>
    </dgm:pt>
    <dgm:pt modelId="{03317BAE-1770-4D43-9320-384F41508518}" type="pres">
      <dgm:prSet presAssocID="{8D795B3E-96BC-44D9-8D35-253BD407574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A97300A-84FF-43BA-BB24-F1701658E359}" srcId="{49A99A6C-5823-4FF9-9B38-5AA46B230392}" destId="{8D795B3E-96BC-44D9-8D35-253BD4075740}" srcOrd="2" destOrd="0" parTransId="{804FB12A-5F44-4654-B0BB-A44BF27F24BC}" sibTransId="{4FDA9AF9-6DC7-47DC-B8E6-8FFBE0CBF228}"/>
    <dgm:cxn modelId="{760A3F5F-BDEF-421B-92DD-3B5BA35F5752}" type="presOf" srcId="{B9669E06-1EC0-42A4-8431-D0477F0BA2AE}" destId="{F57B0279-6F2D-4C9C-B7C1-A55ADA61D56F}" srcOrd="0" destOrd="0" presId="urn:microsoft.com/office/officeart/2018/2/layout/IconVerticalSolidList"/>
    <dgm:cxn modelId="{ECC11EE3-3DCF-4DDA-A0D1-C1CAB58396D0}" type="presOf" srcId="{49A99A6C-5823-4FF9-9B38-5AA46B230392}" destId="{00782A77-24CB-4795-80DF-7E4F0BEFC53D}" srcOrd="0" destOrd="0" presId="urn:microsoft.com/office/officeart/2018/2/layout/IconVerticalSolidList"/>
    <dgm:cxn modelId="{9DCC77EC-D827-430A-83FD-432151CB73BC}" srcId="{49A99A6C-5823-4FF9-9B38-5AA46B230392}" destId="{B458959A-A347-49E1-AC24-C410D99695EE}" srcOrd="0" destOrd="0" parTransId="{B53CF0AE-8E63-41C6-892B-6CEB2DFB5C0A}" sibTransId="{2EAD15C5-9495-4B56-8A66-0DE944ED5AED}"/>
    <dgm:cxn modelId="{335D9EEF-F183-4918-8DEF-C2505EF2BBA6}" type="presOf" srcId="{8D795B3E-96BC-44D9-8D35-253BD4075740}" destId="{03317BAE-1770-4D43-9320-384F41508518}" srcOrd="0" destOrd="0" presId="urn:microsoft.com/office/officeart/2018/2/layout/IconVerticalSolidList"/>
    <dgm:cxn modelId="{3EDCFCF2-A5D8-42DA-A00F-660010641082}" srcId="{49A99A6C-5823-4FF9-9B38-5AA46B230392}" destId="{B9669E06-1EC0-42A4-8431-D0477F0BA2AE}" srcOrd="1" destOrd="0" parTransId="{023C8224-AD53-4853-B143-EFC2B9869A11}" sibTransId="{CA932413-A7E7-44A3-9760-2E61EB2C4093}"/>
    <dgm:cxn modelId="{CEBDAFF7-CD29-4FC4-A9E2-5C292598E72D}" type="presOf" srcId="{B458959A-A347-49E1-AC24-C410D99695EE}" destId="{D3EE5D24-9E94-4856-BC09-A7C7592A3D36}" srcOrd="0" destOrd="0" presId="urn:microsoft.com/office/officeart/2018/2/layout/IconVerticalSolidList"/>
    <dgm:cxn modelId="{38B3150F-90D9-4569-A48C-1FE217F4D8DB}" type="presParOf" srcId="{00782A77-24CB-4795-80DF-7E4F0BEFC53D}" destId="{A21EC6A0-9B36-478A-B075-8DC39DB82AC6}" srcOrd="0" destOrd="0" presId="urn:microsoft.com/office/officeart/2018/2/layout/IconVerticalSolidList"/>
    <dgm:cxn modelId="{3C9B3F78-7CC9-4DAB-8E69-D40944F0E0DA}" type="presParOf" srcId="{A21EC6A0-9B36-478A-B075-8DC39DB82AC6}" destId="{9F9AC396-390A-4636-BBC3-6D321042371F}" srcOrd="0" destOrd="0" presId="urn:microsoft.com/office/officeart/2018/2/layout/IconVerticalSolidList"/>
    <dgm:cxn modelId="{6A84B3DD-3A4E-4C80-9CB6-556EE001E50C}" type="presParOf" srcId="{A21EC6A0-9B36-478A-B075-8DC39DB82AC6}" destId="{C0FE44C0-8FDB-4211-BC36-2539C97D2CE4}" srcOrd="1" destOrd="0" presId="urn:microsoft.com/office/officeart/2018/2/layout/IconVerticalSolidList"/>
    <dgm:cxn modelId="{1A672EEA-25FD-45D0-ACF6-42E471A2F3EE}" type="presParOf" srcId="{A21EC6A0-9B36-478A-B075-8DC39DB82AC6}" destId="{849C2A29-B7B7-469B-B63D-534F76CA5156}" srcOrd="2" destOrd="0" presId="urn:microsoft.com/office/officeart/2018/2/layout/IconVerticalSolidList"/>
    <dgm:cxn modelId="{E2AA4766-968C-4E65-85B5-896CF85336FF}" type="presParOf" srcId="{A21EC6A0-9B36-478A-B075-8DC39DB82AC6}" destId="{D3EE5D24-9E94-4856-BC09-A7C7592A3D36}" srcOrd="3" destOrd="0" presId="urn:microsoft.com/office/officeart/2018/2/layout/IconVerticalSolidList"/>
    <dgm:cxn modelId="{1E8A6C22-11C7-47BA-BA0B-327AACB5E713}" type="presParOf" srcId="{00782A77-24CB-4795-80DF-7E4F0BEFC53D}" destId="{42663D8A-FEF4-4DC1-B6BF-4A059D7CA8A4}" srcOrd="1" destOrd="0" presId="urn:microsoft.com/office/officeart/2018/2/layout/IconVerticalSolidList"/>
    <dgm:cxn modelId="{88A797FA-E64A-4BF1-BED3-00829EFA357C}" type="presParOf" srcId="{00782A77-24CB-4795-80DF-7E4F0BEFC53D}" destId="{907AF243-E438-46E2-9807-E1E6D22119C4}" srcOrd="2" destOrd="0" presId="urn:microsoft.com/office/officeart/2018/2/layout/IconVerticalSolidList"/>
    <dgm:cxn modelId="{DDF8305A-A01F-4EBA-B7A2-A18E07D0F5FD}" type="presParOf" srcId="{907AF243-E438-46E2-9807-E1E6D22119C4}" destId="{D739BB5F-1B2D-416C-B866-677B69CDB9AC}" srcOrd="0" destOrd="0" presId="urn:microsoft.com/office/officeart/2018/2/layout/IconVerticalSolidList"/>
    <dgm:cxn modelId="{547FA8B9-D4DC-412C-B3EC-5CDD885D1BEE}" type="presParOf" srcId="{907AF243-E438-46E2-9807-E1E6D22119C4}" destId="{12A2526F-F6CC-473A-9144-8FA0AC0CA7DC}" srcOrd="1" destOrd="0" presId="urn:microsoft.com/office/officeart/2018/2/layout/IconVerticalSolidList"/>
    <dgm:cxn modelId="{90D6CE0F-4A76-4908-82E4-673B4A09AB26}" type="presParOf" srcId="{907AF243-E438-46E2-9807-E1E6D22119C4}" destId="{0194285E-5648-4127-9714-DF6C75F677CA}" srcOrd="2" destOrd="0" presId="urn:microsoft.com/office/officeart/2018/2/layout/IconVerticalSolidList"/>
    <dgm:cxn modelId="{58D05736-8677-4F9D-AF9C-4524B5118E64}" type="presParOf" srcId="{907AF243-E438-46E2-9807-E1E6D22119C4}" destId="{F57B0279-6F2D-4C9C-B7C1-A55ADA61D56F}" srcOrd="3" destOrd="0" presId="urn:microsoft.com/office/officeart/2018/2/layout/IconVerticalSolidList"/>
    <dgm:cxn modelId="{BD3E7604-0E90-4F1A-9812-EC0979303984}" type="presParOf" srcId="{00782A77-24CB-4795-80DF-7E4F0BEFC53D}" destId="{0CD0FA3D-5464-4D9E-9B6A-7E9E5161184D}" srcOrd="3" destOrd="0" presId="urn:microsoft.com/office/officeart/2018/2/layout/IconVerticalSolidList"/>
    <dgm:cxn modelId="{C5E79270-B526-4B88-A4EA-7012F318FBF1}" type="presParOf" srcId="{00782A77-24CB-4795-80DF-7E4F0BEFC53D}" destId="{9E5DDF62-F305-430B-A777-F756ABAC059F}" srcOrd="4" destOrd="0" presId="urn:microsoft.com/office/officeart/2018/2/layout/IconVerticalSolidList"/>
    <dgm:cxn modelId="{92EA10FB-D9FD-4108-BD84-4922D41A868E}" type="presParOf" srcId="{9E5DDF62-F305-430B-A777-F756ABAC059F}" destId="{A161E584-6F65-4631-89A1-E82D84774412}" srcOrd="0" destOrd="0" presId="urn:microsoft.com/office/officeart/2018/2/layout/IconVerticalSolidList"/>
    <dgm:cxn modelId="{32A8DEDC-53A2-4E0E-9DBC-7196E68F9624}" type="presParOf" srcId="{9E5DDF62-F305-430B-A777-F756ABAC059F}" destId="{5A1B62DF-DEA5-419F-AEEF-5A2076CFF3FB}" srcOrd="1" destOrd="0" presId="urn:microsoft.com/office/officeart/2018/2/layout/IconVerticalSolidList"/>
    <dgm:cxn modelId="{C073B515-5D46-4356-B475-8A852CB4FA51}" type="presParOf" srcId="{9E5DDF62-F305-430B-A777-F756ABAC059F}" destId="{A11F4B3C-08C6-441D-8E19-F8127063DD72}" srcOrd="2" destOrd="0" presId="urn:microsoft.com/office/officeart/2018/2/layout/IconVerticalSolidList"/>
    <dgm:cxn modelId="{65128678-3D5D-4BB3-B047-428224615700}" type="presParOf" srcId="{9E5DDF62-F305-430B-A777-F756ABAC059F}" destId="{03317BAE-1770-4D43-9320-384F415085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A99A6C-5823-4FF9-9B38-5AA46B2303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669E06-1EC0-42A4-8431-D0477F0BA2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Why process orchestration?</a:t>
          </a:r>
          <a:endParaRPr lang="en-US" dirty="0"/>
        </a:p>
      </dgm:t>
    </dgm:pt>
    <dgm:pt modelId="{CA932413-A7E7-44A3-9760-2E61EB2C4093}" type="sibTrans" cxnId="{3EDCFCF2-A5D8-42DA-A00F-660010641082}">
      <dgm:prSet/>
      <dgm:spPr/>
      <dgm:t>
        <a:bodyPr/>
        <a:lstStyle/>
        <a:p>
          <a:endParaRPr lang="en-US"/>
        </a:p>
      </dgm:t>
    </dgm:pt>
    <dgm:pt modelId="{023C8224-AD53-4853-B143-EFC2B9869A11}" type="parTrans" cxnId="{3EDCFCF2-A5D8-42DA-A00F-660010641082}">
      <dgm:prSet/>
      <dgm:spPr/>
      <dgm:t>
        <a:bodyPr/>
        <a:lstStyle/>
        <a:p>
          <a:endParaRPr lang="en-US"/>
        </a:p>
      </dgm:t>
    </dgm:pt>
    <dgm:pt modelId="{DBEEE6E4-9D2B-442D-9EA5-E05546F500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Streamline internal process, faster response time.</a:t>
          </a:r>
        </a:p>
      </dgm:t>
    </dgm:pt>
    <dgm:pt modelId="{D47D2772-5592-448F-97B0-BF7DB5045803}" type="sibTrans" cxnId="{960E04F2-1952-4EE9-B09E-940DFCCCE02D}">
      <dgm:prSet/>
      <dgm:spPr/>
      <dgm:t>
        <a:bodyPr/>
        <a:lstStyle/>
        <a:p>
          <a:endParaRPr lang="en-US"/>
        </a:p>
      </dgm:t>
    </dgm:pt>
    <dgm:pt modelId="{1CC7B5BB-2A40-4D9E-8EBD-62D8ACFDAA82}" type="parTrans" cxnId="{960E04F2-1952-4EE9-B09E-940DFCCCE02D}">
      <dgm:prSet/>
      <dgm:spPr/>
      <dgm:t>
        <a:bodyPr/>
        <a:lstStyle/>
        <a:p>
          <a:endParaRPr lang="en-US"/>
        </a:p>
      </dgm:t>
    </dgm:pt>
    <dgm:pt modelId="{B458959A-A347-49E1-AC24-C410D99695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Business challenges</a:t>
          </a:r>
          <a:endParaRPr lang="en-US" dirty="0"/>
        </a:p>
      </dgm:t>
    </dgm:pt>
    <dgm:pt modelId="{2EAD15C5-9495-4B56-8A66-0DE944ED5AED}" type="sibTrans" cxnId="{9DCC77EC-D827-430A-83FD-432151CB73BC}">
      <dgm:prSet/>
      <dgm:spPr/>
      <dgm:t>
        <a:bodyPr/>
        <a:lstStyle/>
        <a:p>
          <a:endParaRPr lang="en-US"/>
        </a:p>
      </dgm:t>
    </dgm:pt>
    <dgm:pt modelId="{B53CF0AE-8E63-41C6-892B-6CEB2DFB5C0A}" type="parTrans" cxnId="{9DCC77EC-D827-430A-83FD-432151CB73BC}">
      <dgm:prSet/>
      <dgm:spPr/>
      <dgm:t>
        <a:bodyPr/>
        <a:lstStyle/>
        <a:p>
          <a:endParaRPr lang="en-US"/>
        </a:p>
      </dgm:t>
    </dgm:pt>
    <dgm:pt modelId="{B9C69FB2-4954-41BA-BFC6-05971FEEBB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Endpoint diversity - Spans across a number of possible process endpoints (people, systems, devices) </a:t>
          </a:r>
        </a:p>
      </dgm:t>
    </dgm:pt>
    <dgm:pt modelId="{194169B0-0972-4593-83F5-929EAA4BCCA5}" type="parTrans" cxnId="{C41EB99C-B818-4E34-B8BC-260E099FC018}">
      <dgm:prSet/>
      <dgm:spPr/>
      <dgm:t>
        <a:bodyPr/>
        <a:lstStyle/>
        <a:p>
          <a:endParaRPr lang="en-US"/>
        </a:p>
      </dgm:t>
    </dgm:pt>
    <dgm:pt modelId="{6E3A01C6-9A92-4EAF-BF69-DB22BA8908F2}" type="sibTrans" cxnId="{C41EB99C-B818-4E34-B8BC-260E099FC018}">
      <dgm:prSet/>
      <dgm:spPr/>
      <dgm:t>
        <a:bodyPr/>
        <a:lstStyle/>
        <a:p>
          <a:endParaRPr lang="en-US"/>
        </a:p>
      </dgm:t>
    </dgm:pt>
    <dgm:pt modelId="{C3BD23E4-2977-4068-8D1E-763B574E61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Easily integrate with most common technical architectures and frameworks</a:t>
          </a:r>
        </a:p>
      </dgm:t>
    </dgm:pt>
    <dgm:pt modelId="{FF4FF5D6-A6BF-465A-A604-46EDC086E909}" type="parTrans" cxnId="{49AD52C4-059E-4EFC-A4AD-EC5DD6CA3BFC}">
      <dgm:prSet/>
      <dgm:spPr/>
      <dgm:t>
        <a:bodyPr/>
        <a:lstStyle/>
        <a:p>
          <a:endParaRPr lang="en-US"/>
        </a:p>
      </dgm:t>
    </dgm:pt>
    <dgm:pt modelId="{6D7A7C9E-3707-4645-8792-4A8E817C62AE}" type="sibTrans" cxnId="{49AD52C4-059E-4EFC-A4AD-EC5DD6CA3BFC}">
      <dgm:prSet/>
      <dgm:spPr/>
      <dgm:t>
        <a:bodyPr/>
        <a:lstStyle/>
        <a:p>
          <a:endParaRPr lang="en-US"/>
        </a:p>
      </dgm:t>
    </dgm:pt>
    <dgm:pt modelId="{07AACAFD-5E9D-494B-86B5-27F5407BF63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Frequent process sequence changes </a:t>
          </a:r>
          <a:endParaRPr lang="en-US" dirty="0"/>
        </a:p>
      </dgm:t>
    </dgm:pt>
    <dgm:pt modelId="{3C665A0A-8EB2-43F5-9A1B-B2B7C4F32259}" type="parTrans" cxnId="{EA7FAB6C-A7B2-4711-880E-A8C540E677B9}">
      <dgm:prSet/>
      <dgm:spPr/>
      <dgm:t>
        <a:bodyPr/>
        <a:lstStyle/>
        <a:p>
          <a:endParaRPr lang="en-US"/>
        </a:p>
      </dgm:t>
    </dgm:pt>
    <dgm:pt modelId="{1B4F48FC-EF46-42EE-83CF-7F3A9A7F3C02}" type="sibTrans" cxnId="{EA7FAB6C-A7B2-4711-880E-A8C540E677B9}">
      <dgm:prSet/>
      <dgm:spPr/>
      <dgm:t>
        <a:bodyPr/>
        <a:lstStyle/>
        <a:p>
          <a:endParaRPr lang="en-US"/>
        </a:p>
      </dgm:t>
    </dgm:pt>
    <dgm:pt modelId="{5D6E4FC0-A636-4A3F-A4AE-293FB528C9E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Collect, aggregate, organize data from different applications, devices.</a:t>
          </a:r>
          <a:endParaRPr lang="en-US" dirty="0"/>
        </a:p>
      </dgm:t>
    </dgm:pt>
    <dgm:pt modelId="{3E8C7763-9B0C-4239-994E-FF899EBF5694}" type="parTrans" cxnId="{77DC7C49-9CF6-4CFE-8F8B-DD107B54F25E}">
      <dgm:prSet/>
      <dgm:spPr/>
      <dgm:t>
        <a:bodyPr/>
        <a:lstStyle/>
        <a:p>
          <a:endParaRPr lang="en-US"/>
        </a:p>
      </dgm:t>
    </dgm:pt>
    <dgm:pt modelId="{B7B1326B-1F3E-4876-B848-23BEE6604F11}" type="sibTrans" cxnId="{77DC7C49-9CF6-4CFE-8F8B-DD107B54F25E}">
      <dgm:prSet/>
      <dgm:spPr/>
      <dgm:t>
        <a:bodyPr/>
        <a:lstStyle/>
        <a:p>
          <a:endParaRPr lang="en-US"/>
        </a:p>
      </dgm:t>
    </dgm:pt>
    <dgm:pt modelId="{9D3966E0-1FA4-4405-8133-23297C2960F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Collaborating with Legacy Systems to automate process</a:t>
          </a:r>
          <a:endParaRPr lang="en-US" dirty="0"/>
        </a:p>
      </dgm:t>
    </dgm:pt>
    <dgm:pt modelId="{FC67FB97-47EC-44CC-AFC8-EAFB7C69DC14}" type="parTrans" cxnId="{8F0A13AD-43DA-49EF-9990-9CA252CBF42A}">
      <dgm:prSet/>
      <dgm:spPr/>
      <dgm:t>
        <a:bodyPr/>
        <a:lstStyle/>
        <a:p>
          <a:endParaRPr lang="en-US"/>
        </a:p>
      </dgm:t>
    </dgm:pt>
    <dgm:pt modelId="{FE38D6BE-FD27-4F77-9697-47EA13985188}" type="sibTrans" cxnId="{8F0A13AD-43DA-49EF-9990-9CA252CBF42A}">
      <dgm:prSet/>
      <dgm:spPr/>
      <dgm:t>
        <a:bodyPr/>
        <a:lstStyle/>
        <a:p>
          <a:endParaRPr lang="en-US"/>
        </a:p>
      </dgm:t>
    </dgm:pt>
    <dgm:pt modelId="{EF57BBFE-2DA2-4119-BD05-1CD22CEF64C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Adequate business rules changes.</a:t>
          </a:r>
          <a:endParaRPr lang="en-US" dirty="0"/>
        </a:p>
      </dgm:t>
    </dgm:pt>
    <dgm:pt modelId="{5FEC89EA-6D76-47E9-8146-6ADD6A48A89E}" type="parTrans" cxnId="{32A5157F-922A-401A-890F-B6C0470B54BD}">
      <dgm:prSet/>
      <dgm:spPr/>
      <dgm:t>
        <a:bodyPr/>
        <a:lstStyle/>
        <a:p>
          <a:endParaRPr lang="en-US"/>
        </a:p>
      </dgm:t>
    </dgm:pt>
    <dgm:pt modelId="{1B1DE30F-B098-4892-9467-6A4C02615E37}" type="sibTrans" cxnId="{32A5157F-922A-401A-890F-B6C0470B54BD}">
      <dgm:prSet/>
      <dgm:spPr/>
      <dgm:t>
        <a:bodyPr/>
        <a:lstStyle/>
        <a:p>
          <a:endParaRPr lang="en-US"/>
        </a:p>
      </dgm:t>
    </dgm:pt>
    <dgm:pt modelId="{00782A77-24CB-4795-80DF-7E4F0BEFC53D}" type="pres">
      <dgm:prSet presAssocID="{49A99A6C-5823-4FF9-9B38-5AA46B230392}" presName="root" presStyleCnt="0">
        <dgm:presLayoutVars>
          <dgm:dir/>
          <dgm:resizeHandles val="exact"/>
        </dgm:presLayoutVars>
      </dgm:prSet>
      <dgm:spPr/>
    </dgm:pt>
    <dgm:pt modelId="{A21EC6A0-9B36-478A-B075-8DC39DB82AC6}" type="pres">
      <dgm:prSet presAssocID="{B458959A-A347-49E1-AC24-C410D99695EE}" presName="compNode" presStyleCnt="0"/>
      <dgm:spPr/>
    </dgm:pt>
    <dgm:pt modelId="{9F9AC396-390A-4636-BBC3-6D321042371F}" type="pres">
      <dgm:prSet presAssocID="{B458959A-A347-49E1-AC24-C410D99695EE}" presName="bgRect" presStyleLbl="bgShp" presStyleIdx="0" presStyleCnt="2" custLinFactNeighborX="0" custLinFactNeighborY="-1892"/>
      <dgm:spPr/>
    </dgm:pt>
    <dgm:pt modelId="{C0FE44C0-8FDB-4211-BC36-2539C97D2CE4}" type="pres">
      <dgm:prSet presAssocID="{B458959A-A347-49E1-AC24-C410D99695E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849C2A29-B7B7-469B-B63D-534F76CA5156}" type="pres">
      <dgm:prSet presAssocID="{B458959A-A347-49E1-AC24-C410D99695EE}" presName="spaceRect" presStyleCnt="0"/>
      <dgm:spPr/>
    </dgm:pt>
    <dgm:pt modelId="{D3EE5D24-9E94-4856-BC09-A7C7592A3D36}" type="pres">
      <dgm:prSet presAssocID="{B458959A-A347-49E1-AC24-C410D99695EE}" presName="parTx" presStyleLbl="revTx" presStyleIdx="0" presStyleCnt="4">
        <dgm:presLayoutVars>
          <dgm:chMax val="0"/>
          <dgm:chPref val="0"/>
        </dgm:presLayoutVars>
      </dgm:prSet>
      <dgm:spPr/>
    </dgm:pt>
    <dgm:pt modelId="{D27C1473-51AF-48F8-A274-CDC1B548249E}" type="pres">
      <dgm:prSet presAssocID="{B458959A-A347-49E1-AC24-C410D99695EE}" presName="desTx" presStyleLbl="revTx" presStyleIdx="1" presStyleCnt="4" custScaleX="122817" custLinFactNeighborX="-21493" custLinFactNeighborY="-5734">
        <dgm:presLayoutVars/>
      </dgm:prSet>
      <dgm:spPr/>
    </dgm:pt>
    <dgm:pt modelId="{42663D8A-FEF4-4DC1-B6BF-4A059D7CA8A4}" type="pres">
      <dgm:prSet presAssocID="{2EAD15C5-9495-4B56-8A66-0DE944ED5AED}" presName="sibTrans" presStyleCnt="0"/>
      <dgm:spPr/>
    </dgm:pt>
    <dgm:pt modelId="{907AF243-E438-46E2-9807-E1E6D22119C4}" type="pres">
      <dgm:prSet presAssocID="{B9669E06-1EC0-42A4-8431-D0477F0BA2AE}" presName="compNode" presStyleCnt="0"/>
      <dgm:spPr/>
    </dgm:pt>
    <dgm:pt modelId="{D739BB5F-1B2D-416C-B866-677B69CDB9AC}" type="pres">
      <dgm:prSet presAssocID="{B9669E06-1EC0-42A4-8431-D0477F0BA2AE}" presName="bgRect" presStyleLbl="bgShp" presStyleIdx="1" presStyleCnt="2"/>
      <dgm:spPr/>
    </dgm:pt>
    <dgm:pt modelId="{12A2526F-F6CC-473A-9144-8FA0AC0CA7DC}" type="pres">
      <dgm:prSet presAssocID="{B9669E06-1EC0-42A4-8431-D0477F0BA2A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194285E-5648-4127-9714-DF6C75F677CA}" type="pres">
      <dgm:prSet presAssocID="{B9669E06-1EC0-42A4-8431-D0477F0BA2AE}" presName="spaceRect" presStyleCnt="0"/>
      <dgm:spPr/>
    </dgm:pt>
    <dgm:pt modelId="{F57B0279-6F2D-4C9C-B7C1-A55ADA61D56F}" type="pres">
      <dgm:prSet presAssocID="{B9669E06-1EC0-42A4-8431-D0477F0BA2AE}" presName="parTx" presStyleLbl="revTx" presStyleIdx="2" presStyleCnt="4" custLinFactNeighborX="-5083" custLinFactNeighborY="-3295">
        <dgm:presLayoutVars>
          <dgm:chMax val="0"/>
          <dgm:chPref val="0"/>
        </dgm:presLayoutVars>
      </dgm:prSet>
      <dgm:spPr/>
    </dgm:pt>
    <dgm:pt modelId="{06E9BAC9-013D-490C-B19B-80204E6EF394}" type="pres">
      <dgm:prSet presAssocID="{B9669E06-1EC0-42A4-8431-D0477F0BA2AE}" presName="desTx" presStyleLbl="revTx" presStyleIdx="3" presStyleCnt="4" custScaleX="102151" custLinFactNeighborX="-25843" custLinFactNeighborY="-3295">
        <dgm:presLayoutVars/>
      </dgm:prSet>
      <dgm:spPr/>
    </dgm:pt>
  </dgm:ptLst>
  <dgm:cxnLst>
    <dgm:cxn modelId="{1CD82E01-C9F9-42E4-992E-EE20ECCF625A}" type="presOf" srcId="{DBEEE6E4-9D2B-442D-9EA5-E05546F5006F}" destId="{06E9BAC9-013D-490C-B19B-80204E6EF394}" srcOrd="0" destOrd="0" presId="urn:microsoft.com/office/officeart/2018/2/layout/IconVerticalSolidList"/>
    <dgm:cxn modelId="{760A3F5F-BDEF-421B-92DD-3B5BA35F5752}" type="presOf" srcId="{B9669E06-1EC0-42A4-8431-D0477F0BA2AE}" destId="{F57B0279-6F2D-4C9C-B7C1-A55ADA61D56F}" srcOrd="0" destOrd="0" presId="urn:microsoft.com/office/officeart/2018/2/layout/IconVerticalSolidList"/>
    <dgm:cxn modelId="{0A297441-C13A-4985-84C4-88B86F39D549}" type="presOf" srcId="{5D6E4FC0-A636-4A3F-A4AE-293FB528C9EE}" destId="{D27C1473-51AF-48F8-A274-CDC1B548249E}" srcOrd="0" destOrd="1" presId="urn:microsoft.com/office/officeart/2018/2/layout/IconVerticalSolidList"/>
    <dgm:cxn modelId="{B70ECA63-874D-4141-AB58-F4282D871E76}" type="presOf" srcId="{B9C69FB2-4954-41BA-BFC6-05971FEEBB60}" destId="{06E9BAC9-013D-490C-B19B-80204E6EF394}" srcOrd="0" destOrd="1" presId="urn:microsoft.com/office/officeart/2018/2/layout/IconVerticalSolidList"/>
    <dgm:cxn modelId="{77DC7C49-9CF6-4CFE-8F8B-DD107B54F25E}" srcId="{B458959A-A347-49E1-AC24-C410D99695EE}" destId="{5D6E4FC0-A636-4A3F-A4AE-293FB528C9EE}" srcOrd="1" destOrd="0" parTransId="{3E8C7763-9B0C-4239-994E-FF899EBF5694}" sibTransId="{B7B1326B-1F3E-4876-B848-23BEE6604F11}"/>
    <dgm:cxn modelId="{EA7FAB6C-A7B2-4711-880E-A8C540E677B9}" srcId="{B458959A-A347-49E1-AC24-C410D99695EE}" destId="{07AACAFD-5E9D-494B-86B5-27F5407BF63E}" srcOrd="0" destOrd="0" parTransId="{3C665A0A-8EB2-43F5-9A1B-B2B7C4F32259}" sibTransId="{1B4F48FC-EF46-42EE-83CF-7F3A9A7F3C02}"/>
    <dgm:cxn modelId="{4B2A8D56-A321-44A3-A990-CDA20019399D}" type="presOf" srcId="{07AACAFD-5E9D-494B-86B5-27F5407BF63E}" destId="{D27C1473-51AF-48F8-A274-CDC1B548249E}" srcOrd="0" destOrd="0" presId="urn:microsoft.com/office/officeart/2018/2/layout/IconVerticalSolidList"/>
    <dgm:cxn modelId="{32A5157F-922A-401A-890F-B6C0470B54BD}" srcId="{B458959A-A347-49E1-AC24-C410D99695EE}" destId="{EF57BBFE-2DA2-4119-BD05-1CD22CEF64CE}" srcOrd="3" destOrd="0" parTransId="{5FEC89EA-6D76-47E9-8146-6ADD6A48A89E}" sibTransId="{1B1DE30F-B098-4892-9467-6A4C02615E37}"/>
    <dgm:cxn modelId="{4D794F85-F1E9-4B4F-AB18-063019139EE1}" type="presOf" srcId="{9D3966E0-1FA4-4405-8133-23297C2960FD}" destId="{D27C1473-51AF-48F8-A274-CDC1B548249E}" srcOrd="0" destOrd="2" presId="urn:microsoft.com/office/officeart/2018/2/layout/IconVerticalSolidList"/>
    <dgm:cxn modelId="{0231ED91-430D-4B61-9038-1C9698719174}" type="presOf" srcId="{C3BD23E4-2977-4068-8D1E-763B574E6172}" destId="{06E9BAC9-013D-490C-B19B-80204E6EF394}" srcOrd="0" destOrd="2" presId="urn:microsoft.com/office/officeart/2018/2/layout/IconVerticalSolidList"/>
    <dgm:cxn modelId="{C41EB99C-B818-4E34-B8BC-260E099FC018}" srcId="{B9669E06-1EC0-42A4-8431-D0477F0BA2AE}" destId="{B9C69FB2-4954-41BA-BFC6-05971FEEBB60}" srcOrd="1" destOrd="0" parTransId="{194169B0-0972-4593-83F5-929EAA4BCCA5}" sibTransId="{6E3A01C6-9A92-4EAF-BF69-DB22BA8908F2}"/>
    <dgm:cxn modelId="{8F0A13AD-43DA-49EF-9990-9CA252CBF42A}" srcId="{B458959A-A347-49E1-AC24-C410D99695EE}" destId="{9D3966E0-1FA4-4405-8133-23297C2960FD}" srcOrd="2" destOrd="0" parTransId="{FC67FB97-47EC-44CC-AFC8-EAFB7C69DC14}" sibTransId="{FE38D6BE-FD27-4F77-9697-47EA13985188}"/>
    <dgm:cxn modelId="{743E34B0-8341-4BFF-91AF-740C886F8EC0}" type="presOf" srcId="{EF57BBFE-2DA2-4119-BD05-1CD22CEF64CE}" destId="{D27C1473-51AF-48F8-A274-CDC1B548249E}" srcOrd="0" destOrd="3" presId="urn:microsoft.com/office/officeart/2018/2/layout/IconVerticalSolidList"/>
    <dgm:cxn modelId="{49AD52C4-059E-4EFC-A4AD-EC5DD6CA3BFC}" srcId="{B9669E06-1EC0-42A4-8431-D0477F0BA2AE}" destId="{C3BD23E4-2977-4068-8D1E-763B574E6172}" srcOrd="2" destOrd="0" parTransId="{FF4FF5D6-A6BF-465A-A604-46EDC086E909}" sibTransId="{6D7A7C9E-3707-4645-8792-4A8E817C62AE}"/>
    <dgm:cxn modelId="{ECC11EE3-3DCF-4DDA-A0D1-C1CAB58396D0}" type="presOf" srcId="{49A99A6C-5823-4FF9-9B38-5AA46B230392}" destId="{00782A77-24CB-4795-80DF-7E4F0BEFC53D}" srcOrd="0" destOrd="0" presId="urn:microsoft.com/office/officeart/2018/2/layout/IconVerticalSolidList"/>
    <dgm:cxn modelId="{9DCC77EC-D827-430A-83FD-432151CB73BC}" srcId="{49A99A6C-5823-4FF9-9B38-5AA46B230392}" destId="{B458959A-A347-49E1-AC24-C410D99695EE}" srcOrd="0" destOrd="0" parTransId="{B53CF0AE-8E63-41C6-892B-6CEB2DFB5C0A}" sibTransId="{2EAD15C5-9495-4B56-8A66-0DE944ED5AED}"/>
    <dgm:cxn modelId="{960E04F2-1952-4EE9-B09E-940DFCCCE02D}" srcId="{B9669E06-1EC0-42A4-8431-D0477F0BA2AE}" destId="{DBEEE6E4-9D2B-442D-9EA5-E05546F5006F}" srcOrd="0" destOrd="0" parTransId="{1CC7B5BB-2A40-4D9E-8EBD-62D8ACFDAA82}" sibTransId="{D47D2772-5592-448F-97B0-BF7DB5045803}"/>
    <dgm:cxn modelId="{3EDCFCF2-A5D8-42DA-A00F-660010641082}" srcId="{49A99A6C-5823-4FF9-9B38-5AA46B230392}" destId="{B9669E06-1EC0-42A4-8431-D0477F0BA2AE}" srcOrd="1" destOrd="0" parTransId="{023C8224-AD53-4853-B143-EFC2B9869A11}" sibTransId="{CA932413-A7E7-44A3-9760-2E61EB2C4093}"/>
    <dgm:cxn modelId="{CEBDAFF7-CD29-4FC4-A9E2-5C292598E72D}" type="presOf" srcId="{B458959A-A347-49E1-AC24-C410D99695EE}" destId="{D3EE5D24-9E94-4856-BC09-A7C7592A3D36}" srcOrd="0" destOrd="0" presId="urn:microsoft.com/office/officeart/2018/2/layout/IconVerticalSolidList"/>
    <dgm:cxn modelId="{38B3150F-90D9-4569-A48C-1FE217F4D8DB}" type="presParOf" srcId="{00782A77-24CB-4795-80DF-7E4F0BEFC53D}" destId="{A21EC6A0-9B36-478A-B075-8DC39DB82AC6}" srcOrd="0" destOrd="0" presId="urn:microsoft.com/office/officeart/2018/2/layout/IconVerticalSolidList"/>
    <dgm:cxn modelId="{3C9B3F78-7CC9-4DAB-8E69-D40944F0E0DA}" type="presParOf" srcId="{A21EC6A0-9B36-478A-B075-8DC39DB82AC6}" destId="{9F9AC396-390A-4636-BBC3-6D321042371F}" srcOrd="0" destOrd="0" presId="urn:microsoft.com/office/officeart/2018/2/layout/IconVerticalSolidList"/>
    <dgm:cxn modelId="{6A84B3DD-3A4E-4C80-9CB6-556EE001E50C}" type="presParOf" srcId="{A21EC6A0-9B36-478A-B075-8DC39DB82AC6}" destId="{C0FE44C0-8FDB-4211-BC36-2539C97D2CE4}" srcOrd="1" destOrd="0" presId="urn:microsoft.com/office/officeart/2018/2/layout/IconVerticalSolidList"/>
    <dgm:cxn modelId="{1A672EEA-25FD-45D0-ACF6-42E471A2F3EE}" type="presParOf" srcId="{A21EC6A0-9B36-478A-B075-8DC39DB82AC6}" destId="{849C2A29-B7B7-469B-B63D-534F76CA5156}" srcOrd="2" destOrd="0" presId="urn:microsoft.com/office/officeart/2018/2/layout/IconVerticalSolidList"/>
    <dgm:cxn modelId="{E2AA4766-968C-4E65-85B5-896CF85336FF}" type="presParOf" srcId="{A21EC6A0-9B36-478A-B075-8DC39DB82AC6}" destId="{D3EE5D24-9E94-4856-BC09-A7C7592A3D36}" srcOrd="3" destOrd="0" presId="urn:microsoft.com/office/officeart/2018/2/layout/IconVerticalSolidList"/>
    <dgm:cxn modelId="{BF2A7E9A-2825-4E59-88EE-053230EFFAE0}" type="presParOf" srcId="{A21EC6A0-9B36-478A-B075-8DC39DB82AC6}" destId="{D27C1473-51AF-48F8-A274-CDC1B548249E}" srcOrd="4" destOrd="0" presId="urn:microsoft.com/office/officeart/2018/2/layout/IconVerticalSolidList"/>
    <dgm:cxn modelId="{1E8A6C22-11C7-47BA-BA0B-327AACB5E713}" type="presParOf" srcId="{00782A77-24CB-4795-80DF-7E4F0BEFC53D}" destId="{42663D8A-FEF4-4DC1-B6BF-4A059D7CA8A4}" srcOrd="1" destOrd="0" presId="urn:microsoft.com/office/officeart/2018/2/layout/IconVerticalSolidList"/>
    <dgm:cxn modelId="{88A797FA-E64A-4BF1-BED3-00829EFA357C}" type="presParOf" srcId="{00782A77-24CB-4795-80DF-7E4F0BEFC53D}" destId="{907AF243-E438-46E2-9807-E1E6D22119C4}" srcOrd="2" destOrd="0" presId="urn:microsoft.com/office/officeart/2018/2/layout/IconVerticalSolidList"/>
    <dgm:cxn modelId="{DDF8305A-A01F-4EBA-B7A2-A18E07D0F5FD}" type="presParOf" srcId="{907AF243-E438-46E2-9807-E1E6D22119C4}" destId="{D739BB5F-1B2D-416C-B866-677B69CDB9AC}" srcOrd="0" destOrd="0" presId="urn:microsoft.com/office/officeart/2018/2/layout/IconVerticalSolidList"/>
    <dgm:cxn modelId="{547FA8B9-D4DC-412C-B3EC-5CDD885D1BEE}" type="presParOf" srcId="{907AF243-E438-46E2-9807-E1E6D22119C4}" destId="{12A2526F-F6CC-473A-9144-8FA0AC0CA7DC}" srcOrd="1" destOrd="0" presId="urn:microsoft.com/office/officeart/2018/2/layout/IconVerticalSolidList"/>
    <dgm:cxn modelId="{90D6CE0F-4A76-4908-82E4-673B4A09AB26}" type="presParOf" srcId="{907AF243-E438-46E2-9807-E1E6D22119C4}" destId="{0194285E-5648-4127-9714-DF6C75F677CA}" srcOrd="2" destOrd="0" presId="urn:microsoft.com/office/officeart/2018/2/layout/IconVerticalSolidList"/>
    <dgm:cxn modelId="{58D05736-8677-4F9D-AF9C-4524B5118E64}" type="presParOf" srcId="{907AF243-E438-46E2-9807-E1E6D22119C4}" destId="{F57B0279-6F2D-4C9C-B7C1-A55ADA61D56F}" srcOrd="3" destOrd="0" presId="urn:microsoft.com/office/officeart/2018/2/layout/IconVerticalSolidList"/>
    <dgm:cxn modelId="{78103C9F-EF34-49D4-B2AA-46F72680702F}" type="presParOf" srcId="{907AF243-E438-46E2-9807-E1E6D22119C4}" destId="{06E9BAC9-013D-490C-B19B-80204E6EF39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A99A6C-5823-4FF9-9B38-5AA46B2303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669E06-1EC0-42A4-8431-D0477F0BA2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Why process orchestration?</a:t>
          </a:r>
          <a:endParaRPr lang="en-US" dirty="0"/>
        </a:p>
      </dgm:t>
    </dgm:pt>
    <dgm:pt modelId="{CA932413-A7E7-44A3-9760-2E61EB2C4093}" type="sibTrans" cxnId="{3EDCFCF2-A5D8-42DA-A00F-660010641082}">
      <dgm:prSet/>
      <dgm:spPr/>
      <dgm:t>
        <a:bodyPr/>
        <a:lstStyle/>
        <a:p>
          <a:endParaRPr lang="en-US"/>
        </a:p>
      </dgm:t>
    </dgm:pt>
    <dgm:pt modelId="{023C8224-AD53-4853-B143-EFC2B9869A11}" type="parTrans" cxnId="{3EDCFCF2-A5D8-42DA-A00F-660010641082}">
      <dgm:prSet/>
      <dgm:spPr/>
      <dgm:t>
        <a:bodyPr/>
        <a:lstStyle/>
        <a:p>
          <a:endParaRPr lang="en-US"/>
        </a:p>
      </dgm:t>
    </dgm:pt>
    <dgm:pt modelId="{DBEEE6E4-9D2B-442D-9EA5-E05546F5006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0" i="0" dirty="0"/>
            <a:t>End-to-End Orchestration</a:t>
          </a:r>
          <a:endParaRPr lang="en-US" sz="1200" dirty="0"/>
        </a:p>
      </dgm:t>
    </dgm:pt>
    <dgm:pt modelId="{D47D2772-5592-448F-97B0-BF7DB5045803}" type="sibTrans" cxnId="{960E04F2-1952-4EE9-B09E-940DFCCCE02D}">
      <dgm:prSet/>
      <dgm:spPr/>
      <dgm:t>
        <a:bodyPr/>
        <a:lstStyle/>
        <a:p>
          <a:endParaRPr lang="en-US"/>
        </a:p>
      </dgm:t>
    </dgm:pt>
    <dgm:pt modelId="{1CC7B5BB-2A40-4D9E-8EBD-62D8ACFDAA82}" type="parTrans" cxnId="{960E04F2-1952-4EE9-B09E-940DFCCCE02D}">
      <dgm:prSet/>
      <dgm:spPr/>
      <dgm:t>
        <a:bodyPr/>
        <a:lstStyle/>
        <a:p>
          <a:endParaRPr lang="en-US"/>
        </a:p>
      </dgm:t>
    </dgm:pt>
    <dgm:pt modelId="{B458959A-A347-49E1-AC24-C410D99695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Business challenges</a:t>
          </a:r>
          <a:endParaRPr lang="en-US" dirty="0"/>
        </a:p>
      </dgm:t>
    </dgm:pt>
    <dgm:pt modelId="{2EAD15C5-9495-4B56-8A66-0DE944ED5AED}" type="sibTrans" cxnId="{9DCC77EC-D827-430A-83FD-432151CB73BC}">
      <dgm:prSet/>
      <dgm:spPr/>
      <dgm:t>
        <a:bodyPr/>
        <a:lstStyle/>
        <a:p>
          <a:endParaRPr lang="en-US"/>
        </a:p>
      </dgm:t>
    </dgm:pt>
    <dgm:pt modelId="{B53CF0AE-8E63-41C6-892B-6CEB2DFB5C0A}" type="parTrans" cxnId="{9DCC77EC-D827-430A-83FD-432151CB73BC}">
      <dgm:prSet/>
      <dgm:spPr/>
      <dgm:t>
        <a:bodyPr/>
        <a:lstStyle/>
        <a:p>
          <a:endParaRPr lang="en-US"/>
        </a:p>
      </dgm:t>
    </dgm:pt>
    <dgm:pt modelId="{07AACAFD-5E9D-494B-86B5-27F5407BF63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dirty="0"/>
            <a:t>Make business Processes agile &amp; configurable to suit business demands</a:t>
          </a:r>
          <a:endParaRPr lang="en-US" sz="1800" dirty="0"/>
        </a:p>
      </dgm:t>
    </dgm:pt>
    <dgm:pt modelId="{3C665A0A-8EB2-43F5-9A1B-B2B7C4F32259}" type="parTrans" cxnId="{EA7FAB6C-A7B2-4711-880E-A8C540E677B9}">
      <dgm:prSet/>
      <dgm:spPr/>
      <dgm:t>
        <a:bodyPr/>
        <a:lstStyle/>
        <a:p>
          <a:endParaRPr lang="en-US"/>
        </a:p>
      </dgm:t>
    </dgm:pt>
    <dgm:pt modelId="{1B4F48FC-EF46-42EE-83CF-7F3A9A7F3C02}" type="sibTrans" cxnId="{EA7FAB6C-A7B2-4711-880E-A8C540E677B9}">
      <dgm:prSet/>
      <dgm:spPr/>
      <dgm:t>
        <a:bodyPr/>
        <a:lstStyle/>
        <a:p>
          <a:endParaRPr lang="en-US"/>
        </a:p>
      </dgm:t>
    </dgm:pt>
    <dgm:pt modelId="{C499685C-F366-4037-A64C-227C11F9381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dirty="0"/>
            <a:t>Get unparalleled speed, scale and resilience. </a:t>
          </a:r>
          <a:endParaRPr lang="en-US" sz="1800" dirty="0"/>
        </a:p>
      </dgm:t>
    </dgm:pt>
    <dgm:pt modelId="{F46E7A39-4316-433C-B84D-886FE46BD35D}" type="parTrans" cxnId="{B45439FC-DFD4-4AAF-98E9-8D629D880D2D}">
      <dgm:prSet/>
      <dgm:spPr/>
      <dgm:t>
        <a:bodyPr/>
        <a:lstStyle/>
        <a:p>
          <a:endParaRPr lang="en-US"/>
        </a:p>
      </dgm:t>
    </dgm:pt>
    <dgm:pt modelId="{E10AEB12-7CAD-455F-A70D-25DE61E20D6B}" type="sibTrans" cxnId="{B45439FC-DFD4-4AAF-98E9-8D629D880D2D}">
      <dgm:prSet/>
      <dgm:spPr/>
      <dgm:t>
        <a:bodyPr/>
        <a:lstStyle/>
        <a:p>
          <a:endParaRPr lang="en-US"/>
        </a:p>
      </dgm:t>
    </dgm:pt>
    <dgm:pt modelId="{71F1393E-AA0E-43E7-8D85-EE3E585A4B8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dirty="0"/>
            <a:t>Bring IT and the business together</a:t>
          </a:r>
          <a:endParaRPr lang="en-US" sz="1800" dirty="0"/>
        </a:p>
      </dgm:t>
    </dgm:pt>
    <dgm:pt modelId="{3DFF0A3F-4D28-4739-BDBA-73ACB14F781B}" type="parTrans" cxnId="{E17BB706-C2F1-4418-9AD2-DE2ABA2C4B18}">
      <dgm:prSet/>
      <dgm:spPr/>
      <dgm:t>
        <a:bodyPr/>
        <a:lstStyle/>
        <a:p>
          <a:endParaRPr lang="en-US"/>
        </a:p>
      </dgm:t>
    </dgm:pt>
    <dgm:pt modelId="{65433836-3E3D-42CF-8335-890BE3F568FD}" type="sibTrans" cxnId="{E17BB706-C2F1-4418-9AD2-DE2ABA2C4B18}">
      <dgm:prSet/>
      <dgm:spPr/>
      <dgm:t>
        <a:bodyPr/>
        <a:lstStyle/>
        <a:p>
          <a:endParaRPr lang="en-US"/>
        </a:p>
      </dgm:t>
    </dgm:pt>
    <dgm:pt modelId="{7229F0E2-0E4B-4C59-A747-6B0FE796F5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0" i="0" dirty="0"/>
            <a:t>10 % of static business key attributes are moved into configurable business rules (DMN)</a:t>
          </a:r>
        </a:p>
        <a:p>
          <a:pPr>
            <a:lnSpc>
              <a:spcPct val="100000"/>
            </a:lnSpc>
          </a:pPr>
          <a:r>
            <a:rPr lang="en-US" sz="1200" b="0" i="0" dirty="0"/>
            <a:t> &amp; provided the flexibility to update business rules</a:t>
          </a:r>
          <a:endParaRPr lang="en-US" sz="1200" dirty="0"/>
        </a:p>
      </dgm:t>
    </dgm:pt>
    <dgm:pt modelId="{8C7D194D-E468-415A-AA5F-D0DAB01D5746}" type="parTrans" cxnId="{12D2487D-ECC4-4F93-BF7D-DB4CBE33A8BE}">
      <dgm:prSet/>
      <dgm:spPr/>
      <dgm:t>
        <a:bodyPr/>
        <a:lstStyle/>
        <a:p>
          <a:endParaRPr lang="en-US"/>
        </a:p>
      </dgm:t>
    </dgm:pt>
    <dgm:pt modelId="{23FC3AFD-03BF-419B-9C80-FBA14E5B904D}" type="sibTrans" cxnId="{12D2487D-ECC4-4F93-BF7D-DB4CBE33A8BE}">
      <dgm:prSet/>
      <dgm:spPr/>
      <dgm:t>
        <a:bodyPr/>
        <a:lstStyle/>
        <a:p>
          <a:endParaRPr lang="en-US"/>
        </a:p>
      </dgm:t>
    </dgm:pt>
    <dgm:pt modelId="{54E93282-CDA8-41A1-A36A-535C50415D3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0" i="0" dirty="0"/>
            <a:t>Reduce total effort &lt;30 hours until developer unit testing</a:t>
          </a:r>
          <a:endParaRPr lang="en-US" sz="1200" dirty="0"/>
        </a:p>
      </dgm:t>
    </dgm:pt>
    <dgm:pt modelId="{96E4DD59-A534-4E7D-91C5-C4EEE62D244B}" type="parTrans" cxnId="{9ABB799C-FBAF-44D4-B441-53080E231B7E}">
      <dgm:prSet/>
      <dgm:spPr/>
      <dgm:t>
        <a:bodyPr/>
        <a:lstStyle/>
        <a:p>
          <a:endParaRPr lang="en-US"/>
        </a:p>
      </dgm:t>
    </dgm:pt>
    <dgm:pt modelId="{410F0EC5-15F5-439A-98E9-B6D71DA13316}" type="sibTrans" cxnId="{9ABB799C-FBAF-44D4-B441-53080E231B7E}">
      <dgm:prSet/>
      <dgm:spPr/>
      <dgm:t>
        <a:bodyPr/>
        <a:lstStyle/>
        <a:p>
          <a:endParaRPr lang="en-US"/>
        </a:p>
      </dgm:t>
    </dgm:pt>
    <dgm:pt modelId="{567E58C4-77C4-4912-9DF0-A3FB55A34DC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0" i="0" dirty="0"/>
            <a:t>Reusable components/ sub process can used across reports generation</a:t>
          </a:r>
          <a:endParaRPr lang="en-US" sz="1200" dirty="0"/>
        </a:p>
      </dgm:t>
    </dgm:pt>
    <dgm:pt modelId="{2B10B0F6-C90C-44D0-AA85-FD41F42C008B}" type="parTrans" cxnId="{00E0FB56-73D3-4C86-BE47-E3B777386FC8}">
      <dgm:prSet/>
      <dgm:spPr/>
      <dgm:t>
        <a:bodyPr/>
        <a:lstStyle/>
        <a:p>
          <a:endParaRPr lang="en-US"/>
        </a:p>
      </dgm:t>
    </dgm:pt>
    <dgm:pt modelId="{DD35CB15-3337-4AF7-BE2F-C24A121C0EF0}" type="sibTrans" cxnId="{00E0FB56-73D3-4C86-BE47-E3B777386FC8}">
      <dgm:prSet/>
      <dgm:spPr/>
      <dgm:t>
        <a:bodyPr/>
        <a:lstStyle/>
        <a:p>
          <a:endParaRPr lang="en-US"/>
        </a:p>
      </dgm:t>
    </dgm:pt>
    <dgm:pt modelId="{231ADAC2-4027-4BAC-B3D8-F84FB592F0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0" i="0" dirty="0"/>
            <a:t>Drag and drop custom connectors</a:t>
          </a:r>
          <a:endParaRPr lang="en-US" sz="1200" dirty="0"/>
        </a:p>
      </dgm:t>
    </dgm:pt>
    <dgm:pt modelId="{67FC25B6-0F58-4F0F-955D-A2BF7BCC7649}" type="parTrans" cxnId="{6F3CC06A-4A11-4466-8078-49DEE42280A0}">
      <dgm:prSet/>
      <dgm:spPr/>
      <dgm:t>
        <a:bodyPr/>
        <a:lstStyle/>
        <a:p>
          <a:endParaRPr lang="en-US"/>
        </a:p>
      </dgm:t>
    </dgm:pt>
    <dgm:pt modelId="{547B8F40-24D6-419B-9BC5-D33B9C8B244D}" type="sibTrans" cxnId="{6F3CC06A-4A11-4466-8078-49DEE42280A0}">
      <dgm:prSet/>
      <dgm:spPr/>
      <dgm:t>
        <a:bodyPr/>
        <a:lstStyle/>
        <a:p>
          <a:endParaRPr lang="en-US"/>
        </a:p>
      </dgm:t>
    </dgm:pt>
    <dgm:pt modelId="{C0A63AAF-370A-4C73-8D2D-F2226058919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0" i="0" dirty="0"/>
            <a:t>Cost-Effective, horizontal scaling, Standards-based</a:t>
          </a:r>
          <a:endParaRPr lang="en-US" sz="1200" dirty="0"/>
        </a:p>
      </dgm:t>
    </dgm:pt>
    <dgm:pt modelId="{314ADC3D-743E-4FD5-9FA9-E9D105810814}" type="parTrans" cxnId="{3E01F057-1BE2-4AE1-A75E-F7444CB60C59}">
      <dgm:prSet/>
      <dgm:spPr/>
      <dgm:t>
        <a:bodyPr/>
        <a:lstStyle/>
        <a:p>
          <a:endParaRPr lang="en-US"/>
        </a:p>
      </dgm:t>
    </dgm:pt>
    <dgm:pt modelId="{CC02F192-AE95-4D07-8E5C-12A548599E3F}" type="sibTrans" cxnId="{3E01F057-1BE2-4AE1-A75E-F7444CB60C59}">
      <dgm:prSet/>
      <dgm:spPr/>
      <dgm:t>
        <a:bodyPr/>
        <a:lstStyle/>
        <a:p>
          <a:endParaRPr lang="en-US"/>
        </a:p>
      </dgm:t>
    </dgm:pt>
    <dgm:pt modelId="{00782A77-24CB-4795-80DF-7E4F0BEFC53D}" type="pres">
      <dgm:prSet presAssocID="{49A99A6C-5823-4FF9-9B38-5AA46B230392}" presName="root" presStyleCnt="0">
        <dgm:presLayoutVars>
          <dgm:dir/>
          <dgm:resizeHandles val="exact"/>
        </dgm:presLayoutVars>
      </dgm:prSet>
      <dgm:spPr/>
    </dgm:pt>
    <dgm:pt modelId="{A21EC6A0-9B36-478A-B075-8DC39DB82AC6}" type="pres">
      <dgm:prSet presAssocID="{B458959A-A347-49E1-AC24-C410D99695EE}" presName="compNode" presStyleCnt="0"/>
      <dgm:spPr/>
    </dgm:pt>
    <dgm:pt modelId="{9F9AC396-390A-4636-BBC3-6D321042371F}" type="pres">
      <dgm:prSet presAssocID="{B458959A-A347-49E1-AC24-C410D99695EE}" presName="bgRect" presStyleLbl="bgShp" presStyleIdx="0" presStyleCnt="2" custLinFactNeighborX="0" custLinFactNeighborY="-1892"/>
      <dgm:spPr/>
    </dgm:pt>
    <dgm:pt modelId="{C0FE44C0-8FDB-4211-BC36-2539C97D2CE4}" type="pres">
      <dgm:prSet presAssocID="{B458959A-A347-49E1-AC24-C410D99695E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849C2A29-B7B7-469B-B63D-534F76CA5156}" type="pres">
      <dgm:prSet presAssocID="{B458959A-A347-49E1-AC24-C410D99695EE}" presName="spaceRect" presStyleCnt="0"/>
      <dgm:spPr/>
    </dgm:pt>
    <dgm:pt modelId="{D3EE5D24-9E94-4856-BC09-A7C7592A3D36}" type="pres">
      <dgm:prSet presAssocID="{B458959A-A347-49E1-AC24-C410D99695EE}" presName="parTx" presStyleLbl="revTx" presStyleIdx="0" presStyleCnt="4">
        <dgm:presLayoutVars>
          <dgm:chMax val="0"/>
          <dgm:chPref val="0"/>
        </dgm:presLayoutVars>
      </dgm:prSet>
      <dgm:spPr/>
    </dgm:pt>
    <dgm:pt modelId="{D27C1473-51AF-48F8-A274-CDC1B548249E}" type="pres">
      <dgm:prSet presAssocID="{B458959A-A347-49E1-AC24-C410D99695EE}" presName="desTx" presStyleLbl="revTx" presStyleIdx="1" presStyleCnt="4" custScaleX="118373" custLinFactNeighborX="-21493" custLinFactNeighborY="-5734">
        <dgm:presLayoutVars/>
      </dgm:prSet>
      <dgm:spPr/>
    </dgm:pt>
    <dgm:pt modelId="{42663D8A-FEF4-4DC1-B6BF-4A059D7CA8A4}" type="pres">
      <dgm:prSet presAssocID="{2EAD15C5-9495-4B56-8A66-0DE944ED5AED}" presName="sibTrans" presStyleCnt="0"/>
      <dgm:spPr/>
    </dgm:pt>
    <dgm:pt modelId="{907AF243-E438-46E2-9807-E1E6D22119C4}" type="pres">
      <dgm:prSet presAssocID="{B9669E06-1EC0-42A4-8431-D0477F0BA2AE}" presName="compNode" presStyleCnt="0"/>
      <dgm:spPr/>
    </dgm:pt>
    <dgm:pt modelId="{D739BB5F-1B2D-416C-B866-677B69CDB9AC}" type="pres">
      <dgm:prSet presAssocID="{B9669E06-1EC0-42A4-8431-D0477F0BA2AE}" presName="bgRect" presStyleLbl="bgShp" presStyleIdx="1" presStyleCnt="2"/>
      <dgm:spPr/>
    </dgm:pt>
    <dgm:pt modelId="{12A2526F-F6CC-473A-9144-8FA0AC0CA7DC}" type="pres">
      <dgm:prSet presAssocID="{B9669E06-1EC0-42A4-8431-D0477F0BA2A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194285E-5648-4127-9714-DF6C75F677CA}" type="pres">
      <dgm:prSet presAssocID="{B9669E06-1EC0-42A4-8431-D0477F0BA2AE}" presName="spaceRect" presStyleCnt="0"/>
      <dgm:spPr/>
    </dgm:pt>
    <dgm:pt modelId="{F57B0279-6F2D-4C9C-B7C1-A55ADA61D56F}" type="pres">
      <dgm:prSet presAssocID="{B9669E06-1EC0-42A4-8431-D0477F0BA2AE}" presName="parTx" presStyleLbl="revTx" presStyleIdx="2" presStyleCnt="4" custLinFactNeighborX="-5083" custLinFactNeighborY="-3295">
        <dgm:presLayoutVars>
          <dgm:chMax val="0"/>
          <dgm:chPref val="0"/>
        </dgm:presLayoutVars>
      </dgm:prSet>
      <dgm:spPr/>
    </dgm:pt>
    <dgm:pt modelId="{06E9BAC9-013D-490C-B19B-80204E6EF394}" type="pres">
      <dgm:prSet presAssocID="{B9669E06-1EC0-42A4-8431-D0477F0BA2AE}" presName="desTx" presStyleLbl="revTx" presStyleIdx="3" presStyleCnt="4" custScaleX="134618" custLinFactNeighborX="-13917" custLinFactNeighborY="-1648">
        <dgm:presLayoutVars/>
      </dgm:prSet>
      <dgm:spPr/>
    </dgm:pt>
  </dgm:ptLst>
  <dgm:cxnLst>
    <dgm:cxn modelId="{1CD82E01-C9F9-42E4-992E-EE20ECCF625A}" type="presOf" srcId="{DBEEE6E4-9D2B-442D-9EA5-E05546F5006F}" destId="{06E9BAC9-013D-490C-B19B-80204E6EF394}" srcOrd="0" destOrd="0" presId="urn:microsoft.com/office/officeart/2018/2/layout/IconVerticalSolidList"/>
    <dgm:cxn modelId="{9CE5D301-3965-4771-9BEF-3028535DBF43}" type="presOf" srcId="{231ADAC2-4027-4BAC-B3D8-F84FB592F028}" destId="{06E9BAC9-013D-490C-B19B-80204E6EF394}" srcOrd="0" destOrd="4" presId="urn:microsoft.com/office/officeart/2018/2/layout/IconVerticalSolidList"/>
    <dgm:cxn modelId="{E17BB706-C2F1-4418-9AD2-DE2ABA2C4B18}" srcId="{B458959A-A347-49E1-AC24-C410D99695EE}" destId="{71F1393E-AA0E-43E7-8D85-EE3E585A4B8D}" srcOrd="2" destOrd="0" parTransId="{3DFF0A3F-4D28-4739-BDBA-73ACB14F781B}" sibTransId="{65433836-3E3D-42CF-8335-890BE3F568FD}"/>
    <dgm:cxn modelId="{5D35B909-803A-4105-AC5F-38536EE99A6D}" type="presOf" srcId="{7229F0E2-0E4B-4C59-A747-6B0FE796F522}" destId="{06E9BAC9-013D-490C-B19B-80204E6EF394}" srcOrd="0" destOrd="1" presId="urn:microsoft.com/office/officeart/2018/2/layout/IconVerticalSolidList"/>
    <dgm:cxn modelId="{67D5980C-E63B-4FD2-867B-5CE8CDBDEC77}" type="presOf" srcId="{C0A63AAF-370A-4C73-8D2D-F2226058919C}" destId="{06E9BAC9-013D-490C-B19B-80204E6EF394}" srcOrd="0" destOrd="5" presId="urn:microsoft.com/office/officeart/2018/2/layout/IconVerticalSolidList"/>
    <dgm:cxn modelId="{9252771D-5583-4BFF-9E4D-B558C071FB7E}" type="presOf" srcId="{C499685C-F366-4037-A64C-227C11F9381F}" destId="{D27C1473-51AF-48F8-A274-CDC1B548249E}" srcOrd="0" destOrd="1" presId="urn:microsoft.com/office/officeart/2018/2/layout/IconVerticalSolidList"/>
    <dgm:cxn modelId="{760A3F5F-BDEF-421B-92DD-3B5BA35F5752}" type="presOf" srcId="{B9669E06-1EC0-42A4-8431-D0477F0BA2AE}" destId="{F57B0279-6F2D-4C9C-B7C1-A55ADA61D56F}" srcOrd="0" destOrd="0" presId="urn:microsoft.com/office/officeart/2018/2/layout/IconVerticalSolidList"/>
    <dgm:cxn modelId="{6F3CC06A-4A11-4466-8078-49DEE42280A0}" srcId="{B9669E06-1EC0-42A4-8431-D0477F0BA2AE}" destId="{231ADAC2-4027-4BAC-B3D8-F84FB592F028}" srcOrd="4" destOrd="0" parTransId="{67FC25B6-0F58-4F0F-955D-A2BF7BCC7649}" sibTransId="{547B8F40-24D6-419B-9BC5-D33B9C8B244D}"/>
    <dgm:cxn modelId="{EA7FAB6C-A7B2-4711-880E-A8C540E677B9}" srcId="{B458959A-A347-49E1-AC24-C410D99695EE}" destId="{07AACAFD-5E9D-494B-86B5-27F5407BF63E}" srcOrd="0" destOrd="0" parTransId="{3C665A0A-8EB2-43F5-9A1B-B2B7C4F32259}" sibTransId="{1B4F48FC-EF46-42EE-83CF-7F3A9A7F3C02}"/>
    <dgm:cxn modelId="{4B2A8D56-A321-44A3-A990-CDA20019399D}" type="presOf" srcId="{07AACAFD-5E9D-494B-86B5-27F5407BF63E}" destId="{D27C1473-51AF-48F8-A274-CDC1B548249E}" srcOrd="0" destOrd="0" presId="urn:microsoft.com/office/officeart/2018/2/layout/IconVerticalSolidList"/>
    <dgm:cxn modelId="{00E0FB56-73D3-4C86-BE47-E3B777386FC8}" srcId="{B9669E06-1EC0-42A4-8431-D0477F0BA2AE}" destId="{567E58C4-77C4-4912-9DF0-A3FB55A34DC8}" srcOrd="3" destOrd="0" parTransId="{2B10B0F6-C90C-44D0-AA85-FD41F42C008B}" sibTransId="{DD35CB15-3337-4AF7-BE2F-C24A121C0EF0}"/>
    <dgm:cxn modelId="{3E01F057-1BE2-4AE1-A75E-F7444CB60C59}" srcId="{B9669E06-1EC0-42A4-8431-D0477F0BA2AE}" destId="{C0A63AAF-370A-4C73-8D2D-F2226058919C}" srcOrd="5" destOrd="0" parTransId="{314ADC3D-743E-4FD5-9FA9-E9D105810814}" sibTransId="{CC02F192-AE95-4D07-8E5C-12A548599E3F}"/>
    <dgm:cxn modelId="{12D2487D-ECC4-4F93-BF7D-DB4CBE33A8BE}" srcId="{B9669E06-1EC0-42A4-8431-D0477F0BA2AE}" destId="{7229F0E2-0E4B-4C59-A747-6B0FE796F522}" srcOrd="1" destOrd="0" parTransId="{8C7D194D-E468-415A-AA5F-D0DAB01D5746}" sibTransId="{23FC3AFD-03BF-419B-9C80-FBA14E5B904D}"/>
    <dgm:cxn modelId="{9ABB799C-FBAF-44D4-B441-53080E231B7E}" srcId="{B9669E06-1EC0-42A4-8431-D0477F0BA2AE}" destId="{54E93282-CDA8-41A1-A36A-535C50415D35}" srcOrd="2" destOrd="0" parTransId="{96E4DD59-A534-4E7D-91C5-C4EEE62D244B}" sibTransId="{410F0EC5-15F5-439A-98E9-B6D71DA13316}"/>
    <dgm:cxn modelId="{A7F2769E-39E6-4485-8ABA-3E20313DB5ED}" type="presOf" srcId="{71F1393E-AA0E-43E7-8D85-EE3E585A4B8D}" destId="{D27C1473-51AF-48F8-A274-CDC1B548249E}" srcOrd="0" destOrd="2" presId="urn:microsoft.com/office/officeart/2018/2/layout/IconVerticalSolidList"/>
    <dgm:cxn modelId="{AAD256A5-D27C-40F8-8900-EF52AA5D33C5}" type="presOf" srcId="{567E58C4-77C4-4912-9DF0-A3FB55A34DC8}" destId="{06E9BAC9-013D-490C-B19B-80204E6EF394}" srcOrd="0" destOrd="3" presId="urn:microsoft.com/office/officeart/2018/2/layout/IconVerticalSolidList"/>
    <dgm:cxn modelId="{ECC11EE3-3DCF-4DDA-A0D1-C1CAB58396D0}" type="presOf" srcId="{49A99A6C-5823-4FF9-9B38-5AA46B230392}" destId="{00782A77-24CB-4795-80DF-7E4F0BEFC53D}" srcOrd="0" destOrd="0" presId="urn:microsoft.com/office/officeart/2018/2/layout/IconVerticalSolidList"/>
    <dgm:cxn modelId="{8E5DBAE9-23B2-4DA1-97D4-BF93C8386B41}" type="presOf" srcId="{54E93282-CDA8-41A1-A36A-535C50415D35}" destId="{06E9BAC9-013D-490C-B19B-80204E6EF394}" srcOrd="0" destOrd="2" presId="urn:microsoft.com/office/officeart/2018/2/layout/IconVerticalSolidList"/>
    <dgm:cxn modelId="{9DCC77EC-D827-430A-83FD-432151CB73BC}" srcId="{49A99A6C-5823-4FF9-9B38-5AA46B230392}" destId="{B458959A-A347-49E1-AC24-C410D99695EE}" srcOrd="0" destOrd="0" parTransId="{B53CF0AE-8E63-41C6-892B-6CEB2DFB5C0A}" sibTransId="{2EAD15C5-9495-4B56-8A66-0DE944ED5AED}"/>
    <dgm:cxn modelId="{960E04F2-1952-4EE9-B09E-940DFCCCE02D}" srcId="{B9669E06-1EC0-42A4-8431-D0477F0BA2AE}" destId="{DBEEE6E4-9D2B-442D-9EA5-E05546F5006F}" srcOrd="0" destOrd="0" parTransId="{1CC7B5BB-2A40-4D9E-8EBD-62D8ACFDAA82}" sibTransId="{D47D2772-5592-448F-97B0-BF7DB5045803}"/>
    <dgm:cxn modelId="{3EDCFCF2-A5D8-42DA-A00F-660010641082}" srcId="{49A99A6C-5823-4FF9-9B38-5AA46B230392}" destId="{B9669E06-1EC0-42A4-8431-D0477F0BA2AE}" srcOrd="1" destOrd="0" parTransId="{023C8224-AD53-4853-B143-EFC2B9869A11}" sibTransId="{CA932413-A7E7-44A3-9760-2E61EB2C4093}"/>
    <dgm:cxn modelId="{CEBDAFF7-CD29-4FC4-A9E2-5C292598E72D}" type="presOf" srcId="{B458959A-A347-49E1-AC24-C410D99695EE}" destId="{D3EE5D24-9E94-4856-BC09-A7C7592A3D36}" srcOrd="0" destOrd="0" presId="urn:microsoft.com/office/officeart/2018/2/layout/IconVerticalSolidList"/>
    <dgm:cxn modelId="{B45439FC-DFD4-4AAF-98E9-8D629D880D2D}" srcId="{B458959A-A347-49E1-AC24-C410D99695EE}" destId="{C499685C-F366-4037-A64C-227C11F9381F}" srcOrd="1" destOrd="0" parTransId="{F46E7A39-4316-433C-B84D-886FE46BD35D}" sibTransId="{E10AEB12-7CAD-455F-A70D-25DE61E20D6B}"/>
    <dgm:cxn modelId="{38B3150F-90D9-4569-A48C-1FE217F4D8DB}" type="presParOf" srcId="{00782A77-24CB-4795-80DF-7E4F0BEFC53D}" destId="{A21EC6A0-9B36-478A-B075-8DC39DB82AC6}" srcOrd="0" destOrd="0" presId="urn:microsoft.com/office/officeart/2018/2/layout/IconVerticalSolidList"/>
    <dgm:cxn modelId="{3C9B3F78-7CC9-4DAB-8E69-D40944F0E0DA}" type="presParOf" srcId="{A21EC6A0-9B36-478A-B075-8DC39DB82AC6}" destId="{9F9AC396-390A-4636-BBC3-6D321042371F}" srcOrd="0" destOrd="0" presId="urn:microsoft.com/office/officeart/2018/2/layout/IconVerticalSolidList"/>
    <dgm:cxn modelId="{6A84B3DD-3A4E-4C80-9CB6-556EE001E50C}" type="presParOf" srcId="{A21EC6A0-9B36-478A-B075-8DC39DB82AC6}" destId="{C0FE44C0-8FDB-4211-BC36-2539C97D2CE4}" srcOrd="1" destOrd="0" presId="urn:microsoft.com/office/officeart/2018/2/layout/IconVerticalSolidList"/>
    <dgm:cxn modelId="{1A672EEA-25FD-45D0-ACF6-42E471A2F3EE}" type="presParOf" srcId="{A21EC6A0-9B36-478A-B075-8DC39DB82AC6}" destId="{849C2A29-B7B7-469B-B63D-534F76CA5156}" srcOrd="2" destOrd="0" presId="urn:microsoft.com/office/officeart/2018/2/layout/IconVerticalSolidList"/>
    <dgm:cxn modelId="{E2AA4766-968C-4E65-85B5-896CF85336FF}" type="presParOf" srcId="{A21EC6A0-9B36-478A-B075-8DC39DB82AC6}" destId="{D3EE5D24-9E94-4856-BC09-A7C7592A3D36}" srcOrd="3" destOrd="0" presId="urn:microsoft.com/office/officeart/2018/2/layout/IconVerticalSolidList"/>
    <dgm:cxn modelId="{BF2A7E9A-2825-4E59-88EE-053230EFFAE0}" type="presParOf" srcId="{A21EC6A0-9B36-478A-B075-8DC39DB82AC6}" destId="{D27C1473-51AF-48F8-A274-CDC1B548249E}" srcOrd="4" destOrd="0" presId="urn:microsoft.com/office/officeart/2018/2/layout/IconVerticalSolidList"/>
    <dgm:cxn modelId="{1E8A6C22-11C7-47BA-BA0B-327AACB5E713}" type="presParOf" srcId="{00782A77-24CB-4795-80DF-7E4F0BEFC53D}" destId="{42663D8A-FEF4-4DC1-B6BF-4A059D7CA8A4}" srcOrd="1" destOrd="0" presId="urn:microsoft.com/office/officeart/2018/2/layout/IconVerticalSolidList"/>
    <dgm:cxn modelId="{88A797FA-E64A-4BF1-BED3-00829EFA357C}" type="presParOf" srcId="{00782A77-24CB-4795-80DF-7E4F0BEFC53D}" destId="{907AF243-E438-46E2-9807-E1E6D22119C4}" srcOrd="2" destOrd="0" presId="urn:microsoft.com/office/officeart/2018/2/layout/IconVerticalSolidList"/>
    <dgm:cxn modelId="{DDF8305A-A01F-4EBA-B7A2-A18E07D0F5FD}" type="presParOf" srcId="{907AF243-E438-46E2-9807-E1E6D22119C4}" destId="{D739BB5F-1B2D-416C-B866-677B69CDB9AC}" srcOrd="0" destOrd="0" presId="urn:microsoft.com/office/officeart/2018/2/layout/IconVerticalSolidList"/>
    <dgm:cxn modelId="{547FA8B9-D4DC-412C-B3EC-5CDD885D1BEE}" type="presParOf" srcId="{907AF243-E438-46E2-9807-E1E6D22119C4}" destId="{12A2526F-F6CC-473A-9144-8FA0AC0CA7DC}" srcOrd="1" destOrd="0" presId="urn:microsoft.com/office/officeart/2018/2/layout/IconVerticalSolidList"/>
    <dgm:cxn modelId="{90D6CE0F-4A76-4908-82E4-673B4A09AB26}" type="presParOf" srcId="{907AF243-E438-46E2-9807-E1E6D22119C4}" destId="{0194285E-5648-4127-9714-DF6C75F677CA}" srcOrd="2" destOrd="0" presId="urn:microsoft.com/office/officeart/2018/2/layout/IconVerticalSolidList"/>
    <dgm:cxn modelId="{58D05736-8677-4F9D-AF9C-4524B5118E64}" type="presParOf" srcId="{907AF243-E438-46E2-9807-E1E6D22119C4}" destId="{F57B0279-6F2D-4C9C-B7C1-A55ADA61D56F}" srcOrd="3" destOrd="0" presId="urn:microsoft.com/office/officeart/2018/2/layout/IconVerticalSolidList"/>
    <dgm:cxn modelId="{78103C9F-EF34-49D4-B2AA-46F72680702F}" type="presParOf" srcId="{907AF243-E438-46E2-9807-E1E6D22119C4}" destId="{06E9BAC9-013D-490C-B19B-80204E6EF39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AC396-390A-4636-BBC3-6D321042371F}">
      <dsp:nvSpPr>
        <dsp:cNvPr id="0" name=""/>
        <dsp:cNvSpPr/>
      </dsp:nvSpPr>
      <dsp:spPr>
        <a:xfrm>
          <a:off x="0" y="10"/>
          <a:ext cx="8473440" cy="14670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E44C0-8FDB-4211-BC36-2539C97D2CE4}">
      <dsp:nvSpPr>
        <dsp:cNvPr id="0" name=""/>
        <dsp:cNvSpPr/>
      </dsp:nvSpPr>
      <dsp:spPr>
        <a:xfrm>
          <a:off x="443778" y="330710"/>
          <a:ext cx="806869" cy="806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E5D24-9E94-4856-BC09-A7C7592A3D36}">
      <dsp:nvSpPr>
        <dsp:cNvPr id="0" name=""/>
        <dsp:cNvSpPr/>
      </dsp:nvSpPr>
      <dsp:spPr>
        <a:xfrm>
          <a:off x="1694426" y="626"/>
          <a:ext cx="6779013" cy="1467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261" tIns="155261" rIns="155261" bIns="1552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/>
            <a:t>Camunda Capabilities of Surge</a:t>
          </a:r>
        </a:p>
      </dsp:txBody>
      <dsp:txXfrm>
        <a:off x="1694426" y="626"/>
        <a:ext cx="6779013" cy="1467036"/>
      </dsp:txXfrm>
    </dsp:sp>
    <dsp:sp modelId="{D739BB5F-1B2D-416C-B866-677B69CDB9AC}">
      <dsp:nvSpPr>
        <dsp:cNvPr id="0" name=""/>
        <dsp:cNvSpPr/>
      </dsp:nvSpPr>
      <dsp:spPr>
        <a:xfrm>
          <a:off x="0" y="1834421"/>
          <a:ext cx="8473440" cy="14670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2526F-F6CC-473A-9144-8FA0AC0CA7DC}">
      <dsp:nvSpPr>
        <dsp:cNvPr id="0" name=""/>
        <dsp:cNvSpPr/>
      </dsp:nvSpPr>
      <dsp:spPr>
        <a:xfrm>
          <a:off x="443778" y="2164505"/>
          <a:ext cx="806869" cy="806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B0279-6F2D-4C9C-B7C1-A55ADA61D56F}">
      <dsp:nvSpPr>
        <dsp:cNvPr id="0" name=""/>
        <dsp:cNvSpPr/>
      </dsp:nvSpPr>
      <dsp:spPr>
        <a:xfrm>
          <a:off x="1694426" y="1834421"/>
          <a:ext cx="6779013" cy="1467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261" tIns="155261" rIns="155261" bIns="1552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/>
            <a:t>Sample use cases and case studies</a:t>
          </a:r>
          <a:endParaRPr lang="en-US" sz="2500" kern="1200" dirty="0"/>
        </a:p>
      </dsp:txBody>
      <dsp:txXfrm>
        <a:off x="1694426" y="1834421"/>
        <a:ext cx="6779013" cy="1467036"/>
      </dsp:txXfrm>
    </dsp:sp>
    <dsp:sp modelId="{A161E584-6F65-4631-89A1-E82D84774412}">
      <dsp:nvSpPr>
        <dsp:cNvPr id="0" name=""/>
        <dsp:cNvSpPr/>
      </dsp:nvSpPr>
      <dsp:spPr>
        <a:xfrm>
          <a:off x="0" y="3668217"/>
          <a:ext cx="8473440" cy="14670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1B62DF-DEA5-419F-AEEF-5A2076CFF3FB}">
      <dsp:nvSpPr>
        <dsp:cNvPr id="0" name=""/>
        <dsp:cNvSpPr/>
      </dsp:nvSpPr>
      <dsp:spPr>
        <a:xfrm>
          <a:off x="443778" y="3998300"/>
          <a:ext cx="806869" cy="806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17BAE-1770-4D43-9320-384F41508518}">
      <dsp:nvSpPr>
        <dsp:cNvPr id="0" name=""/>
        <dsp:cNvSpPr/>
      </dsp:nvSpPr>
      <dsp:spPr>
        <a:xfrm>
          <a:off x="1694426" y="3668217"/>
          <a:ext cx="6779013" cy="1467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261" tIns="155261" rIns="155261" bIns="1552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/>
            <a:t>Q &amp; A</a:t>
          </a:r>
        </a:p>
      </dsp:txBody>
      <dsp:txXfrm>
        <a:off x="1694426" y="3668217"/>
        <a:ext cx="6779013" cy="14670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AC396-390A-4636-BBC3-6D321042371F}">
      <dsp:nvSpPr>
        <dsp:cNvPr id="0" name=""/>
        <dsp:cNvSpPr/>
      </dsp:nvSpPr>
      <dsp:spPr>
        <a:xfrm>
          <a:off x="-264147" y="947693"/>
          <a:ext cx="12251456" cy="17905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E44C0-8FDB-4211-BC36-2539C97D2CE4}">
      <dsp:nvSpPr>
        <dsp:cNvPr id="0" name=""/>
        <dsp:cNvSpPr/>
      </dsp:nvSpPr>
      <dsp:spPr>
        <a:xfrm>
          <a:off x="277496" y="1384445"/>
          <a:ext cx="984806" cy="9848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E5D24-9E94-4856-BC09-A7C7592A3D36}">
      <dsp:nvSpPr>
        <dsp:cNvPr id="0" name=""/>
        <dsp:cNvSpPr/>
      </dsp:nvSpPr>
      <dsp:spPr>
        <a:xfrm>
          <a:off x="1803945" y="981570"/>
          <a:ext cx="5513155" cy="1790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501" tIns="189501" rIns="189501" bIns="18950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Business challenges</a:t>
          </a:r>
          <a:endParaRPr lang="en-US" sz="2500" kern="1200" dirty="0"/>
        </a:p>
      </dsp:txBody>
      <dsp:txXfrm>
        <a:off x="1803945" y="981570"/>
        <a:ext cx="5513155" cy="1790556"/>
      </dsp:txXfrm>
    </dsp:sp>
    <dsp:sp modelId="{D27C1473-51AF-48F8-A274-CDC1B548249E}">
      <dsp:nvSpPr>
        <dsp:cNvPr id="0" name=""/>
        <dsp:cNvSpPr/>
      </dsp:nvSpPr>
      <dsp:spPr>
        <a:xfrm>
          <a:off x="5781863" y="878900"/>
          <a:ext cx="5730841" cy="1790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501" tIns="189501" rIns="189501" bIns="18950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Frequent process sequence changes 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Collect, aggregate, organize data from different applications, devices.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Collaborating with Legacy Systems to automate process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Adequate business rules changes.</a:t>
          </a:r>
          <a:endParaRPr lang="en-US" sz="1500" kern="1200" dirty="0"/>
        </a:p>
      </dsp:txBody>
      <dsp:txXfrm>
        <a:off x="5781863" y="878900"/>
        <a:ext cx="5730841" cy="1790556"/>
      </dsp:txXfrm>
    </dsp:sp>
    <dsp:sp modelId="{D739BB5F-1B2D-416C-B866-677B69CDB9AC}">
      <dsp:nvSpPr>
        <dsp:cNvPr id="0" name=""/>
        <dsp:cNvSpPr/>
      </dsp:nvSpPr>
      <dsp:spPr>
        <a:xfrm>
          <a:off x="-264147" y="3219766"/>
          <a:ext cx="12251456" cy="17905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2526F-F6CC-473A-9144-8FA0AC0CA7DC}">
      <dsp:nvSpPr>
        <dsp:cNvPr id="0" name=""/>
        <dsp:cNvSpPr/>
      </dsp:nvSpPr>
      <dsp:spPr>
        <a:xfrm>
          <a:off x="277496" y="3622641"/>
          <a:ext cx="984806" cy="9848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B0279-6F2D-4C9C-B7C1-A55ADA61D56F}">
      <dsp:nvSpPr>
        <dsp:cNvPr id="0" name=""/>
        <dsp:cNvSpPr/>
      </dsp:nvSpPr>
      <dsp:spPr>
        <a:xfrm>
          <a:off x="1523712" y="3160767"/>
          <a:ext cx="5513155" cy="1790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501" tIns="189501" rIns="189501" bIns="18950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Why process orchestration?</a:t>
          </a:r>
          <a:endParaRPr lang="en-US" sz="2500" kern="1200" dirty="0"/>
        </a:p>
      </dsp:txBody>
      <dsp:txXfrm>
        <a:off x="1523712" y="3160767"/>
        <a:ext cx="5513155" cy="1790556"/>
      </dsp:txXfrm>
    </dsp:sp>
    <dsp:sp modelId="{06E9BAC9-013D-490C-B19B-80204E6EF394}">
      <dsp:nvSpPr>
        <dsp:cNvPr id="0" name=""/>
        <dsp:cNvSpPr/>
      </dsp:nvSpPr>
      <dsp:spPr>
        <a:xfrm>
          <a:off x="6061040" y="3160767"/>
          <a:ext cx="4766532" cy="1790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501" tIns="189501" rIns="189501" bIns="18950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Streamline internal process, faster response time.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Endpoint diversity - Spans across a number of possible process endpoints (people, systems, devices)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Easily integrate with most common technical architectures and frameworks</a:t>
          </a:r>
        </a:p>
      </dsp:txBody>
      <dsp:txXfrm>
        <a:off x="6061040" y="3160767"/>
        <a:ext cx="4766532" cy="17905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AC396-390A-4636-BBC3-6D321042371F}">
      <dsp:nvSpPr>
        <dsp:cNvPr id="0" name=""/>
        <dsp:cNvSpPr/>
      </dsp:nvSpPr>
      <dsp:spPr>
        <a:xfrm>
          <a:off x="-419719" y="1007701"/>
          <a:ext cx="12868951" cy="1903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E44C0-8FDB-4211-BC36-2539C97D2CE4}">
      <dsp:nvSpPr>
        <dsp:cNvPr id="0" name=""/>
        <dsp:cNvSpPr/>
      </dsp:nvSpPr>
      <dsp:spPr>
        <a:xfrm>
          <a:off x="156220" y="1472109"/>
          <a:ext cx="1047164" cy="10471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E5D24-9E94-4856-BC09-A7C7592A3D36}">
      <dsp:nvSpPr>
        <dsp:cNvPr id="0" name=""/>
        <dsp:cNvSpPr/>
      </dsp:nvSpPr>
      <dsp:spPr>
        <a:xfrm>
          <a:off x="1779325" y="1043724"/>
          <a:ext cx="5791027" cy="1903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500" tIns="201500" rIns="201500" bIns="20150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Business challenges</a:t>
          </a:r>
          <a:endParaRPr lang="en-US" sz="2500" kern="1200" dirty="0"/>
        </a:p>
      </dsp:txBody>
      <dsp:txXfrm>
        <a:off x="1779325" y="1043724"/>
        <a:ext cx="5791027" cy="1903935"/>
      </dsp:txXfrm>
    </dsp:sp>
    <dsp:sp modelId="{D27C1473-51AF-48F8-A274-CDC1B548249E}">
      <dsp:nvSpPr>
        <dsp:cNvPr id="0" name=""/>
        <dsp:cNvSpPr/>
      </dsp:nvSpPr>
      <dsp:spPr>
        <a:xfrm>
          <a:off x="6074858" y="934552"/>
          <a:ext cx="5770182" cy="1903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500" tIns="201500" rIns="201500" bIns="20150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Make business Processes agile &amp; configurable to suit business demands</a:t>
          </a:r>
          <a:endParaRPr lang="en-US" sz="1800" kern="1200" dirty="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Get unparalleled speed, scale and resilience. </a:t>
          </a:r>
          <a:endParaRPr lang="en-US" sz="1800" kern="1200" dirty="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Bring IT and the business together</a:t>
          </a:r>
          <a:endParaRPr lang="en-US" sz="1800" kern="1200" dirty="0"/>
        </a:p>
      </dsp:txBody>
      <dsp:txXfrm>
        <a:off x="6074858" y="934552"/>
        <a:ext cx="5770182" cy="1903935"/>
      </dsp:txXfrm>
    </dsp:sp>
    <dsp:sp modelId="{D739BB5F-1B2D-416C-B866-677B69CDB9AC}">
      <dsp:nvSpPr>
        <dsp:cNvPr id="0" name=""/>
        <dsp:cNvSpPr/>
      </dsp:nvSpPr>
      <dsp:spPr>
        <a:xfrm>
          <a:off x="-419719" y="3423643"/>
          <a:ext cx="12868951" cy="1903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2526F-F6CC-473A-9144-8FA0AC0CA7DC}">
      <dsp:nvSpPr>
        <dsp:cNvPr id="0" name=""/>
        <dsp:cNvSpPr/>
      </dsp:nvSpPr>
      <dsp:spPr>
        <a:xfrm>
          <a:off x="156220" y="3852028"/>
          <a:ext cx="1047164" cy="10471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B0279-6F2D-4C9C-B7C1-A55ADA61D56F}">
      <dsp:nvSpPr>
        <dsp:cNvPr id="0" name=""/>
        <dsp:cNvSpPr/>
      </dsp:nvSpPr>
      <dsp:spPr>
        <a:xfrm>
          <a:off x="1484967" y="3360908"/>
          <a:ext cx="5791027" cy="1903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500" tIns="201500" rIns="201500" bIns="20150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Why process orchestration?</a:t>
          </a:r>
          <a:endParaRPr lang="en-US" sz="2500" kern="1200" dirty="0"/>
        </a:p>
      </dsp:txBody>
      <dsp:txXfrm>
        <a:off x="1484967" y="3360908"/>
        <a:ext cx="5791027" cy="1903935"/>
      </dsp:txXfrm>
    </dsp:sp>
    <dsp:sp modelId="{06E9BAC9-013D-490C-B19B-80204E6EF394}">
      <dsp:nvSpPr>
        <dsp:cNvPr id="0" name=""/>
        <dsp:cNvSpPr/>
      </dsp:nvSpPr>
      <dsp:spPr>
        <a:xfrm>
          <a:off x="6048218" y="3392266"/>
          <a:ext cx="6562057" cy="1903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500" tIns="201500" rIns="201500" bIns="20150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End-to-End Orchestration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10 % of static business key attributes are moved into configurable business rules (DMN)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 &amp; provided the flexibility to update business rules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Reduce total effort &lt;30 hours until developer unit testing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Reusable components/ sub process can used across reports generation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Drag and drop custom connectors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Cost-Effective, horizontal scaling, Standards-based</a:t>
          </a:r>
          <a:endParaRPr lang="en-US" sz="1200" kern="1200" dirty="0"/>
        </a:p>
      </dsp:txBody>
      <dsp:txXfrm>
        <a:off x="6048218" y="3392266"/>
        <a:ext cx="6562057" cy="1903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63404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8286750" y="0"/>
            <a:ext cx="63404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45050" y="1028700"/>
            <a:ext cx="4940300" cy="2778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7816850"/>
            <a:ext cx="63404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7" name="Google Shape;857;p1:notes"/>
          <p:cNvSpPr txBox="1">
            <a:spLocks noGrp="1"/>
          </p:cNvSpPr>
          <p:nvPr>
            <p:ph type="body" idx="1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Orchestration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5B7A1-03C1-497F-804C-565E4593E4E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161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8"/>
          <p:cNvSpPr txBox="1"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48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2160"/>
              <a:buFont typeface="Calibri"/>
              <a:buNone/>
              <a:defRPr sz="216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920"/>
              <a:buFont typeface="Calibri"/>
              <a:buNone/>
              <a:defRPr sz="192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920"/>
              <a:buFont typeface="Calibri"/>
              <a:buNone/>
              <a:defRPr sz="192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920"/>
              <a:buFont typeface="Calibri"/>
              <a:buNone/>
              <a:defRPr sz="192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920"/>
              <a:buFont typeface="Calibri"/>
              <a:buNone/>
              <a:defRPr sz="192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920"/>
              <a:buFont typeface="Calibri"/>
              <a:buNone/>
              <a:defRPr sz="192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920"/>
              <a:buFont typeface="Calibri"/>
              <a:buNone/>
              <a:defRPr sz="192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ldNum" idx="12"/>
          </p:nvPr>
        </p:nvSpPr>
        <p:spPr>
          <a:xfrm>
            <a:off x="13137968" y="7627621"/>
            <a:ext cx="48659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8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14"/>
            <a:ext cx="14630400" cy="822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2" descr="A picture containing text, electron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3" descr="A picture containing fish, wha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C83536EB-7875-4B23-AFDF-2E03F9ED7A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218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ish, whale&#10;&#10;Description automatically generated">
            <a:extLst>
              <a:ext uri="{FF2B5EF4-FFF2-40B4-BE49-F238E27FC236}">
                <a16:creationId xmlns:a16="http://schemas.microsoft.com/office/drawing/2014/main" id="{0D94D0DA-724B-41C2-9C47-7047EA13CD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4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357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58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020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135238423,&quot;Placement&quot;:&quot;Footer&quot;,&quot;Top&quot;:627.343,&quot;Left&quot;:0.0,&quot;SlideWidth&quot;:1152,&quot;SlideHeight&quot;:648}">
            <a:extLst>
              <a:ext uri="{FF2B5EF4-FFF2-40B4-BE49-F238E27FC236}">
                <a16:creationId xmlns:a16="http://schemas.microsoft.com/office/drawing/2014/main" id="{B5B20C4C-1600-9EB3-EC02-FD517A869653}"/>
              </a:ext>
            </a:extLst>
          </p:cNvPr>
          <p:cNvSpPr txBox="1"/>
          <p:nvPr userDrawn="1"/>
        </p:nvSpPr>
        <p:spPr>
          <a:xfrm>
            <a:off x="0" y="7967256"/>
            <a:ext cx="1882256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737373"/>
                </a:solidFill>
                <a:latin typeface="Calibri" panose="020F0502020204030204" pitchFamily="34" charset="0"/>
              </a:rPr>
              <a:t>Caterpillar: Confidential Green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816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5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15.jpeg"/><Relationship Id="rId4" Type="http://schemas.openxmlformats.org/officeDocument/2006/relationships/diagramData" Target="../diagrams/data2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5.sv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2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10" Type="http://schemas.openxmlformats.org/officeDocument/2006/relationships/image" Target="../media/image15.jpeg"/><Relationship Id="rId4" Type="http://schemas.openxmlformats.org/officeDocument/2006/relationships/diagramData" Target="../diagrams/data3.xml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"/>
          <p:cNvSpPr txBox="1">
            <a:spLocks noGrp="1"/>
          </p:cNvSpPr>
          <p:nvPr>
            <p:ph type="ctrTitle"/>
          </p:nvPr>
        </p:nvSpPr>
        <p:spPr>
          <a:xfrm>
            <a:off x="418274" y="2181823"/>
            <a:ext cx="13269169" cy="1932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rmAutofit/>
          </a:bodyPr>
          <a:lstStyle/>
          <a:p>
            <a:pPr marL="15240" marR="6096" lvl="0" indent="0" algn="l" rtl="0">
              <a:lnSpc>
                <a:spcPct val="143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20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Camunda 8 Self-Managed Deployment</a:t>
            </a:r>
            <a:endParaRPr sz="432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0" name="Google Shape;860;p1"/>
          <p:cNvSpPr/>
          <p:nvPr/>
        </p:nvSpPr>
        <p:spPr>
          <a:xfrm>
            <a:off x="5913398" y="4786861"/>
            <a:ext cx="5468228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Self Managed Deployment Use Cases</a:t>
            </a:r>
            <a:endParaRPr sz="216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3D76B5-C030-E3E4-9AA9-B16AAEE9F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240" y="264090"/>
            <a:ext cx="188595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4EC98AE-C42C-B52C-6A0F-95A9E7ED40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42" y="4"/>
            <a:ext cx="14630392" cy="8229592"/>
          </a:xfrm>
          <a:prstGeom prst="rect">
            <a:avLst/>
          </a:prstGeom>
        </p:spPr>
      </p:pic>
      <p:graphicFrame>
        <p:nvGraphicFramePr>
          <p:cNvPr id="12" name="TextBox 1">
            <a:extLst>
              <a:ext uri="{FF2B5EF4-FFF2-40B4-BE49-F238E27FC236}">
                <a16:creationId xmlns:a16="http://schemas.microsoft.com/office/drawing/2014/main" id="{FFBCC830-B7E7-99AA-4A2F-C167171660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2322081"/>
              </p:ext>
            </p:extLst>
          </p:nvPr>
        </p:nvGraphicFramePr>
        <p:xfrm>
          <a:off x="4069080" y="1005960"/>
          <a:ext cx="8473440" cy="5135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9F67329-AA27-1AEA-DBBF-A788748E914F}"/>
              </a:ext>
            </a:extLst>
          </p:cNvPr>
          <p:cNvSpPr txBox="1"/>
          <p:nvPr/>
        </p:nvSpPr>
        <p:spPr>
          <a:xfrm>
            <a:off x="213360" y="106802"/>
            <a:ext cx="1491996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240" marR="6096" indent="0">
              <a:lnSpc>
                <a:spcPct val="143611"/>
              </a:lnSpc>
              <a:buSzPts val="1400"/>
              <a:buNone/>
              <a:defRPr sz="432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4400" dirty="0"/>
              <a:t>Agenda:</a:t>
            </a:r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659F32CD-4504-9577-ED7E-AE07F6E4086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pic>
        <p:nvPicPr>
          <p:cNvPr id="2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CFC71D47-95CC-B84E-ECC2-AA14B176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893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14325600" y="7683693"/>
            <a:ext cx="321309" cy="3071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+mn-cs"/>
              </a:rPr>
              <a:pPr marL="381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A8E199-B60F-16F9-BC0E-BEDAC1AAB7A9}"/>
              </a:ext>
            </a:extLst>
          </p:cNvPr>
          <p:cNvGrpSpPr/>
          <p:nvPr/>
        </p:nvGrpSpPr>
        <p:grpSpPr>
          <a:xfrm>
            <a:off x="88664" y="1175528"/>
            <a:ext cx="13934191" cy="3998925"/>
            <a:chOff x="1872254" y="2073501"/>
            <a:chExt cx="10721929" cy="2787884"/>
          </a:xfrm>
        </p:grpSpPr>
        <p:pic>
          <p:nvPicPr>
            <p:cNvPr id="4" name="object 4"/>
            <p:cNvPicPr/>
            <p:nvPr/>
          </p:nvPicPr>
          <p:blipFill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872254" y="2073501"/>
              <a:ext cx="10721929" cy="2531238"/>
            </a:xfrm>
            <a:prstGeom prst="rect">
              <a:avLst/>
            </a:prstGeom>
          </p:spPr>
        </p:pic>
        <p:sp>
          <p:nvSpPr>
            <p:cNvPr id="5" name="object 5"/>
            <p:cNvSpPr txBox="1"/>
            <p:nvPr/>
          </p:nvSpPr>
          <p:spPr>
            <a:xfrm>
              <a:off x="2411933" y="2368109"/>
              <a:ext cx="1836420" cy="366108"/>
            </a:xfrm>
            <a:prstGeom prst="rect">
              <a:avLst/>
            </a:prstGeom>
          </p:spPr>
          <p:txBody>
            <a:bodyPr vert="horz" wrap="square" lIns="0" tIns="154305" rIns="0" bIns="0" rtlCol="0">
              <a:spAutoFit/>
            </a:bodyPr>
            <a:lstStyle/>
            <a:p>
              <a:pPr marL="0" marR="60325" lvl="0" indent="0" algn="ctr" defTabSz="914400" rtl="0" eaLnBrk="1" fontAlgn="auto" latinLnBrk="0" hangingPunct="1">
                <a:lnSpc>
                  <a:spcPct val="100000"/>
                </a:lnSpc>
                <a:spcBef>
                  <a:spcPts val="121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2400" u="sng" kern="1200" dirty="0">
                  <a:solidFill>
                    <a:srgbClr val="FFFF00"/>
                  </a:solidFill>
                  <a:latin typeface="DIN"/>
                  <a:ea typeface="+mn-ea"/>
                </a:rPr>
                <a:t>Projects</a:t>
              </a:r>
              <a:endParaRPr sz="2400" u="sng" kern="1200" dirty="0">
                <a:solidFill>
                  <a:srgbClr val="FFFF00"/>
                </a:solidFill>
                <a:latin typeface="DIN"/>
                <a:ea typeface="+mn-e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5160801" y="2382358"/>
              <a:ext cx="1525270" cy="374748"/>
            </a:xfrm>
            <a:prstGeom prst="rect">
              <a:avLst/>
            </a:prstGeom>
          </p:spPr>
          <p:txBody>
            <a:bodyPr vert="horz" wrap="square" lIns="0" tIns="154305" rIns="0" bIns="0" rtlCol="0">
              <a:spAutoFit/>
            </a:bodyPr>
            <a:lstStyle/>
            <a:p>
              <a:pPr marL="8255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21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400" b="0" i="0" u="sng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DIN"/>
                  <a:ea typeface="+mn-ea"/>
                  <a:cs typeface="DIN"/>
                </a:rPr>
                <a:t>Consultants</a:t>
              </a:r>
              <a:endParaRPr kumimoji="0" sz="2400" b="0" i="0" u="sng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DIN"/>
                <a:ea typeface="+mn-ea"/>
                <a:cs typeface="DIN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904930" y="2380577"/>
              <a:ext cx="1330960" cy="356274"/>
            </a:xfrm>
            <a:prstGeom prst="rect">
              <a:avLst/>
            </a:prstGeom>
          </p:spPr>
          <p:txBody>
            <a:bodyPr vert="horz" wrap="square" lIns="0" tIns="140335" rIns="0" bIns="0" rtlCol="0">
              <a:spAutoFit/>
            </a:bodyPr>
            <a:lstStyle/>
            <a:p>
              <a:pPr marL="635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sng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DIN"/>
                  <a:ea typeface="+mn-ea"/>
                  <a:cs typeface="DIN"/>
                </a:rPr>
                <a:t>Industries</a:t>
              </a:r>
              <a:endParaRPr kumimoji="0" sz="2400" b="0" i="0" u="sng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DIN"/>
                <a:ea typeface="+mn-ea"/>
                <a:cs typeface="DIN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0148340" y="2348393"/>
              <a:ext cx="2205355" cy="362979"/>
            </a:xfrm>
            <a:prstGeom prst="rect">
              <a:avLst/>
            </a:prstGeom>
          </p:spPr>
          <p:txBody>
            <a:bodyPr vert="horz" wrap="square" lIns="0" tIns="149860" rIns="0" bIns="0" rtlCol="0">
              <a:spAutoFit/>
            </a:bodyPr>
            <a:lstStyle/>
            <a:p>
              <a:pPr marL="4445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18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sng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DIN"/>
                  <a:ea typeface="+mn-ea"/>
                  <a:cs typeface="DIN"/>
                </a:rPr>
                <a:t>Geo</a:t>
              </a:r>
              <a:endParaRPr kumimoji="0" sz="2400" b="0" i="0" u="sng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DIN"/>
                <a:ea typeface="+mn-ea"/>
                <a:cs typeface="DIN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B4665A-49F5-4774-980C-E22768757719}"/>
                </a:ext>
              </a:extLst>
            </p:cNvPr>
            <p:cNvSpPr txBox="1"/>
            <p:nvPr/>
          </p:nvSpPr>
          <p:spPr>
            <a:xfrm>
              <a:off x="2983524" y="3335396"/>
              <a:ext cx="87075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-DIN Condensed"/>
                  <a:ea typeface="+mn-ea"/>
                  <a:cs typeface="D-DIN Condensed"/>
                </a:rPr>
                <a:t>25+</a:t>
              </a:r>
              <a:endPara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35640E-F6CD-4A9A-948E-16F0B86BEA01}"/>
                </a:ext>
              </a:extLst>
            </p:cNvPr>
            <p:cNvSpPr txBox="1"/>
            <p:nvPr/>
          </p:nvSpPr>
          <p:spPr>
            <a:xfrm>
              <a:off x="5323485" y="3227937"/>
              <a:ext cx="132119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-DIN Condensed"/>
                  <a:ea typeface="+mn-ea"/>
                  <a:cs typeface="D-DIN Condensed"/>
                </a:rPr>
                <a:t>125+</a:t>
              </a:r>
              <a:endPara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3CAE0CE-30CD-4369-B475-CB53BAC80231}"/>
                </a:ext>
              </a:extLst>
            </p:cNvPr>
            <p:cNvSpPr txBox="1"/>
            <p:nvPr/>
          </p:nvSpPr>
          <p:spPr>
            <a:xfrm>
              <a:off x="7702705" y="2830060"/>
              <a:ext cx="1800045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-DIN Condensed"/>
                  <a:ea typeface="+mn-ea"/>
                  <a:cs typeface="D-DIN Condensed"/>
                </a:rPr>
                <a:t>Banking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-DIN Condensed"/>
                  <a:ea typeface="+mn-ea"/>
                  <a:cs typeface="D-DIN Condensed"/>
                </a:rPr>
                <a:t>Telecom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-DIN Condensed"/>
                  <a:ea typeface="+mn-ea"/>
                  <a:cs typeface="D-DIN Condensed"/>
                </a:rPr>
                <a:t>Services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-DIN Condensed"/>
                  <a:ea typeface="+mn-ea"/>
                  <a:cs typeface="D-DIN Condensed"/>
                </a:rPr>
                <a:t>Retail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-DIN Condensed"/>
                  <a:ea typeface="+mn-ea"/>
                  <a:cs typeface="+mn-cs"/>
                </a:rPr>
                <a:t>Manufacturing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-DIN Condensed"/>
                  <a:ea typeface="+mn-ea"/>
                  <a:cs typeface="+mn-cs"/>
                </a:rPr>
                <a:t>Healthcare</a:t>
              </a:r>
              <a:endPara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597875-0699-496F-9A43-C5FC45211530}"/>
                </a:ext>
              </a:extLst>
            </p:cNvPr>
            <p:cNvSpPr txBox="1"/>
            <p:nvPr/>
          </p:nvSpPr>
          <p:spPr>
            <a:xfrm>
              <a:off x="10356702" y="2908327"/>
              <a:ext cx="1788631" cy="1061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-DIN Condensed"/>
                  <a:ea typeface="+mn-ea"/>
                  <a:cs typeface="D-DIN Condensed"/>
                </a:rPr>
                <a:t>North America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-DIN Condensed"/>
                  <a:ea typeface="+mn-ea"/>
                  <a:cs typeface="D-DIN Condensed"/>
                </a:rPr>
                <a:t>APAC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-DIN Condensed"/>
                <a:ea typeface="+mn-ea"/>
                <a:cs typeface="D-DIN Condensed"/>
              </a:endParaRPr>
            </a:p>
          </p:txBody>
        </p:sp>
      </p:grpSp>
      <p:sp>
        <p:nvSpPr>
          <p:cNvPr id="25" name="object 11">
            <a:extLst>
              <a:ext uri="{FF2B5EF4-FFF2-40B4-BE49-F238E27FC236}">
                <a16:creationId xmlns:a16="http://schemas.microsoft.com/office/drawing/2014/main" id="{FF93E330-2752-599B-BD77-A42405BB8BF8}"/>
              </a:ext>
            </a:extLst>
          </p:cNvPr>
          <p:cNvSpPr txBox="1">
            <a:spLocks/>
          </p:cNvSpPr>
          <p:nvPr/>
        </p:nvSpPr>
        <p:spPr>
          <a:xfrm>
            <a:off x="1444203" y="68222"/>
            <a:ext cx="11464077" cy="690574"/>
          </a:xfrm>
          <a:prstGeom prst="rect">
            <a:avLst/>
          </a:prstGeom>
        </p:spPr>
        <p:txBody>
          <a:bodyPr vert="horz" wrap="square" lIns="0" tIns="13335" rIns="0" bIns="0" rtlCol="0" anchor="t" anchorCtr="1">
            <a:spAutoFit/>
          </a:bodyPr>
          <a:lstStyle>
            <a:lvl1pPr>
              <a:lnSpc>
                <a:spcPct val="100000"/>
              </a:lnSpc>
              <a:spcBef>
                <a:spcPts val="105"/>
              </a:spcBef>
              <a:defRPr sz="4050" spc="-170">
                <a:solidFill>
                  <a:srgbClr val="82C7E2"/>
                </a:solidFill>
                <a:latin typeface="DIN" panose="00000400000000000000" pitchFamily="2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sng" strike="noStrike" kern="1200" cap="none" spc="-1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" panose="00000400000000000000" pitchFamily="2" charset="0"/>
                <a:ea typeface="+mj-ea"/>
                <a:cs typeface="+mj-cs"/>
              </a:rPr>
              <a:t>Surge Technology Enhanced Mastery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DA3B5731-C207-4375-BAE7-A36C48036C92}"/>
              </a:ext>
            </a:extLst>
          </p:cNvPr>
          <p:cNvSpPr txBox="1">
            <a:spLocks/>
          </p:cNvSpPr>
          <p:nvPr/>
        </p:nvSpPr>
        <p:spPr>
          <a:xfrm>
            <a:off x="384027" y="4637268"/>
            <a:ext cx="13319759" cy="629018"/>
          </a:xfrm>
          <a:prstGeom prst="rect">
            <a:avLst/>
          </a:prstGeom>
        </p:spPr>
        <p:txBody>
          <a:bodyPr vert="horz" wrap="square" lIns="0" tIns="13335" rIns="0" bIns="0" rtlCol="0" anchor="ctr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 rtl="0">
              <a:spcBef>
                <a:spcPts val="105"/>
              </a:spcBef>
            </a:pPr>
            <a:r>
              <a:rPr lang="en-US" sz="4000" b="1" i="0" u="sng" dirty="0">
                <a:solidFill>
                  <a:schemeClr val="bg1"/>
                </a:solidFill>
                <a:effectLst/>
                <a:latin typeface="Söhne"/>
              </a:rPr>
              <a:t>Camunda Certified Platinum Partner With Center of Excellence</a:t>
            </a:r>
            <a:endParaRPr lang="en-IN" sz="4000" u="sng" kern="1200" spc="-170" dirty="0">
              <a:solidFill>
                <a:schemeClr val="bg1"/>
              </a:solidFill>
              <a:latin typeface="DIN" panose="00000400000000000000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1034DD-CAF9-ECCA-812C-0D864EC0FE99}"/>
              </a:ext>
            </a:extLst>
          </p:cNvPr>
          <p:cNvGrpSpPr/>
          <p:nvPr/>
        </p:nvGrpSpPr>
        <p:grpSpPr>
          <a:xfrm>
            <a:off x="749324" y="5369412"/>
            <a:ext cx="12853834" cy="2621416"/>
            <a:chOff x="767821" y="1981169"/>
            <a:chExt cx="12716260" cy="5715028"/>
          </a:xfrm>
        </p:grpSpPr>
        <p:pic>
          <p:nvPicPr>
            <p:cNvPr id="24" name="Picture 23" descr="A picture containing logo, graphics, clipart, symbol&#10;&#10;Description automatically generated">
              <a:extLst>
                <a:ext uri="{FF2B5EF4-FFF2-40B4-BE49-F238E27FC236}">
                  <a16:creationId xmlns:a16="http://schemas.microsoft.com/office/drawing/2014/main" id="{D2951307-3DDB-C191-DC41-8DADE130F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6801" y="1993979"/>
              <a:ext cx="4355660" cy="5702218"/>
            </a:xfrm>
            <a:prstGeom prst="rect">
              <a:avLst/>
            </a:prstGeom>
          </p:spPr>
        </p:pic>
        <p:pic>
          <p:nvPicPr>
            <p:cNvPr id="26" name="Picture 25" descr="A picture containing logo, clipart, graphics, design&#10;&#10;Description automatically generated">
              <a:extLst>
                <a:ext uri="{FF2B5EF4-FFF2-40B4-BE49-F238E27FC236}">
                  <a16:creationId xmlns:a16="http://schemas.microsoft.com/office/drawing/2014/main" id="{A52A3027-BC57-91F6-7B5C-E7398727C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3561" y="1981171"/>
              <a:ext cx="4360520" cy="570221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F45D94-C8ED-2CB6-5989-964240D3A9F4}"/>
                </a:ext>
              </a:extLst>
            </p:cNvPr>
            <p:cNvSpPr txBox="1"/>
            <p:nvPr/>
          </p:nvSpPr>
          <p:spPr>
            <a:xfrm>
              <a:off x="9848131" y="2362171"/>
              <a:ext cx="2797750" cy="2012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800" dirty="0">
                  <a:solidFill>
                    <a:schemeClr val="accent1">
                      <a:lumMod val="75000"/>
                    </a:schemeClr>
                  </a:solidFill>
                  <a:latin typeface="D-DIN Condensed" panose="020B0604020202020204" charset="0"/>
                </a:rPr>
                <a:t>Building strong teams with Realtime knowledge of industry challenges </a:t>
              </a:r>
              <a:endParaRPr lang="en-IN" sz="1800" dirty="0">
                <a:solidFill>
                  <a:schemeClr val="accent1">
                    <a:lumMod val="75000"/>
                  </a:schemeClr>
                </a:solidFill>
                <a:latin typeface="D-DIN Condensed" panose="020B060402020202020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934015A-2007-0EC8-829A-BD08DDC84C96}"/>
                </a:ext>
              </a:extLst>
            </p:cNvPr>
            <p:cNvSpPr txBox="1"/>
            <p:nvPr/>
          </p:nvSpPr>
          <p:spPr>
            <a:xfrm>
              <a:off x="5651374" y="2779278"/>
              <a:ext cx="2710771" cy="2012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800" dirty="0">
                  <a:solidFill>
                    <a:schemeClr val="accent1">
                      <a:lumMod val="75000"/>
                    </a:schemeClr>
                  </a:solidFill>
                  <a:latin typeface="D-DIN Condensed" panose="020B0604020202020204" charset="0"/>
                </a:rPr>
                <a:t>Demonstratable scenarios for focused industries</a:t>
              </a:r>
              <a:endParaRPr lang="en-IN" sz="1800" dirty="0">
                <a:solidFill>
                  <a:schemeClr val="accent1">
                    <a:lumMod val="75000"/>
                  </a:schemeClr>
                </a:solidFill>
                <a:latin typeface="D-DIN Condensed" panose="020B0604020202020204" charset="0"/>
              </a:endParaRPr>
            </a:p>
          </p:txBody>
        </p:sp>
        <p:pic>
          <p:nvPicPr>
            <p:cNvPr id="29" name="Picture 28" descr="A picture containing graphics, design, creativity&#10;&#10;Description automatically generated">
              <a:extLst>
                <a:ext uri="{FF2B5EF4-FFF2-40B4-BE49-F238E27FC236}">
                  <a16:creationId xmlns:a16="http://schemas.microsoft.com/office/drawing/2014/main" id="{328D2E01-66A5-8C4F-0933-084D141D6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821" y="1981169"/>
              <a:ext cx="4345938" cy="5702216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37B41C8-9421-DEE8-0F01-2002E6C6AFC6}"/>
                </a:ext>
              </a:extLst>
            </p:cNvPr>
            <p:cNvSpPr txBox="1"/>
            <p:nvPr/>
          </p:nvSpPr>
          <p:spPr>
            <a:xfrm>
              <a:off x="1484238" y="2610647"/>
              <a:ext cx="2657906" cy="2012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800" dirty="0">
                  <a:solidFill>
                    <a:schemeClr val="accent1">
                      <a:lumMod val="75000"/>
                    </a:schemeClr>
                  </a:solidFill>
                  <a:latin typeface="D-DIN Condensed" panose="020B0604020202020204" charset="0"/>
                  <a:cs typeface="DIN" panose="020B0604020202020204" charset="0"/>
                </a:rPr>
                <a:t>Building </a:t>
              </a:r>
            </a:p>
            <a:p>
              <a:pPr lvl="0" algn="ctr"/>
              <a:r>
                <a:rPr lang="en-US" sz="1800" dirty="0">
                  <a:solidFill>
                    <a:schemeClr val="accent1">
                      <a:lumMod val="75000"/>
                    </a:schemeClr>
                  </a:solidFill>
                  <a:latin typeface="D-DIN Condensed" panose="020B0604020202020204" charset="0"/>
                  <a:cs typeface="DIN" panose="020B0604020202020204" charset="0"/>
                </a:rPr>
                <a:t>Re-usable components &amp; Toolkits</a:t>
              </a:r>
              <a:endParaRPr lang="en-IN" sz="1800" dirty="0">
                <a:solidFill>
                  <a:schemeClr val="accent1">
                    <a:lumMod val="75000"/>
                  </a:schemeClr>
                </a:solidFill>
                <a:latin typeface="D-DIN Condensed" panose="020B0604020202020204" charset="0"/>
                <a:cs typeface="DIN" panose="020B060402020202020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8564360-E01F-1E90-99E2-B1352BF39D39}"/>
                </a:ext>
              </a:extLst>
            </p:cNvPr>
            <p:cNvSpPr txBox="1"/>
            <p:nvPr/>
          </p:nvSpPr>
          <p:spPr>
            <a:xfrm>
              <a:off x="1203601" y="5384221"/>
              <a:ext cx="3447275" cy="80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D-DIN Condensed" panose="020B0604020202020204" charset="0"/>
                </a:rPr>
                <a:t>Connectors &amp; Templates</a:t>
              </a:r>
              <a:endParaRPr lang="en-IN" sz="1800" b="1" dirty="0">
                <a:solidFill>
                  <a:schemeClr val="bg1"/>
                </a:solidFill>
                <a:latin typeface="D-DIN Condensed" panose="020B060402020202020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6FFA7F-313A-07EB-9A51-9E99B06FC838}"/>
                </a:ext>
              </a:extLst>
            </p:cNvPr>
            <p:cNvSpPr txBox="1"/>
            <p:nvPr/>
          </p:nvSpPr>
          <p:spPr>
            <a:xfrm>
              <a:off x="5482179" y="5846771"/>
              <a:ext cx="3025710" cy="80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D-DIN Condensed" panose="020B0604020202020204" charset="0"/>
                </a:rPr>
                <a:t>POC’s, MVP’s</a:t>
              </a:r>
              <a:endParaRPr lang="en-IN" sz="1800" b="1" dirty="0">
                <a:solidFill>
                  <a:schemeClr val="bg1"/>
                </a:solidFill>
                <a:latin typeface="D-DIN Condensed" panose="020B060402020202020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B58B5F-DC3B-DB50-A3C9-3ADF4065C47B}"/>
                </a:ext>
              </a:extLst>
            </p:cNvPr>
            <p:cNvSpPr txBox="1"/>
            <p:nvPr/>
          </p:nvSpPr>
          <p:spPr>
            <a:xfrm>
              <a:off x="9458387" y="5582450"/>
              <a:ext cx="3585059" cy="2012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D-DIN Condensed" panose="020B0604020202020204" charset="0"/>
                </a:rPr>
                <a:t>Finance, Telecom, Insurance, Healthcare, Utilities, Manufacturing</a:t>
              </a:r>
            </a:p>
          </p:txBody>
        </p:sp>
      </p:grpSp>
      <p:pic>
        <p:nvPicPr>
          <p:cNvPr id="1026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7F1B61F0-6B36-C6C6-A664-B3D09B430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34624"/>
            <a:ext cx="14630392" cy="8592824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453ACA15-31E6-4C80-F0DF-C18952039E21}"/>
              </a:ext>
            </a:extLst>
          </p:cNvPr>
          <p:cNvGrpSpPr/>
          <p:nvPr/>
        </p:nvGrpSpPr>
        <p:grpSpPr>
          <a:xfrm>
            <a:off x="-811804" y="134632"/>
            <a:ext cx="15442204" cy="1731301"/>
            <a:chOff x="-777239" y="425358"/>
            <a:chExt cx="15442204" cy="1731301"/>
          </a:xfrm>
        </p:grpSpPr>
        <p:sp>
          <p:nvSpPr>
            <p:cNvPr id="3" name="object 3"/>
            <p:cNvSpPr txBox="1"/>
            <p:nvPr/>
          </p:nvSpPr>
          <p:spPr>
            <a:xfrm>
              <a:off x="-777239" y="425358"/>
              <a:ext cx="15442204" cy="720967"/>
            </a:xfrm>
            <a:prstGeom prst="rect">
              <a:avLst/>
            </a:prstGeom>
          </p:spPr>
          <p:txBody>
            <a:bodyPr vert="horz" wrap="square" lIns="0" tIns="214630" rIns="0" bIns="0" rtlCol="0">
              <a:spAutoFit/>
            </a:bodyPr>
            <a:lstStyle/>
            <a:p>
              <a:pPr marL="12700" marR="5080" lvl="0" indent="1356360" defTabSz="914400" rtl="0" eaLnBrk="1" fontAlgn="auto" latinLnBrk="0" hangingPunct="1">
                <a:lnSpc>
                  <a:spcPct val="73500"/>
                </a:lnSpc>
                <a:spcBef>
                  <a:spcPts val="16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400" b="1" i="0" u="none" strike="noStrike" kern="1200" cap="none" spc="-19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DIN" panose="00000400000000000000" pitchFamily="2" charset="0"/>
                  <a:ea typeface="+mn-ea"/>
                  <a:cs typeface="D-DIN"/>
                </a:rPr>
                <a:t>ENABLING </a:t>
              </a:r>
              <a:r>
                <a:rPr kumimoji="0" sz="4400" b="1" i="0" u="none" strike="noStrike" kern="1200" cap="none" spc="-18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DIN" panose="00000400000000000000" pitchFamily="2" charset="0"/>
                  <a:ea typeface="+mn-ea"/>
                  <a:cs typeface="D-DIN"/>
                </a:rPr>
                <a:t>DIGITALTRANSFORMATION</a:t>
              </a:r>
              <a:r>
                <a:rPr kumimoji="0" sz="4400" b="1" i="0" u="none" strike="noStrike" kern="1200" cap="none" spc="-315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DIN" panose="00000400000000000000" pitchFamily="2" charset="0"/>
                  <a:ea typeface="+mn-ea"/>
                  <a:cs typeface="D-DIN"/>
                </a:rPr>
                <a:t> </a:t>
              </a:r>
              <a:r>
                <a:rPr kumimoji="0" sz="4400" b="1" i="0" u="none" strike="noStrike" kern="1200" cap="none" spc="-204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DIN" panose="00000400000000000000" pitchFamily="2" charset="0"/>
                  <a:ea typeface="+mn-ea"/>
                  <a:cs typeface="D-DIN"/>
                </a:rPr>
                <a:t>THROUGH</a:t>
              </a:r>
              <a:endParaRPr kumimoji="0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D-DIN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76448" y="1871955"/>
              <a:ext cx="13426876" cy="284704"/>
            </a:xfrm>
            <a:custGeom>
              <a:avLst/>
              <a:gdLst/>
              <a:ahLst/>
              <a:cxnLst/>
              <a:rect l="l" t="t" r="r" b="b"/>
              <a:pathLst>
                <a:path w="7495540">
                  <a:moveTo>
                    <a:pt x="0" y="0"/>
                  </a:moveTo>
                  <a:lnTo>
                    <a:pt x="7495272" y="0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70934" y="1166360"/>
              <a:ext cx="14221336" cy="44242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993390" algn="l"/>
                </a:tabLst>
                <a:defRPr/>
              </a:pPr>
              <a:r>
                <a:rPr kumimoji="0" lang="en-US" sz="2800" b="0" i="0" u="none" strike="noStrike" kern="1200" cap="none" spc="-12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DIN" panose="00000400000000000000" pitchFamily="2" charset="0"/>
                  <a:ea typeface="+mn-ea"/>
                  <a:cs typeface="D-DIN"/>
                </a:rPr>
                <a:t>DESIGN | DEVELOPMENT | MANAGED SERVICES | BUSINESS  &amp; TECH CONSULTING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D-DIN"/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68758" y="7653390"/>
            <a:ext cx="696207" cy="420674"/>
          </a:xfrm>
          <a:prstGeom prst="rect">
            <a:avLst/>
          </a:prstGeom>
        </p:spPr>
      </p:pic>
      <p:sp>
        <p:nvSpPr>
          <p:cNvPr id="9" name="object 15">
            <a:extLst>
              <a:ext uri="{FF2B5EF4-FFF2-40B4-BE49-F238E27FC236}">
                <a16:creationId xmlns:a16="http://schemas.microsoft.com/office/drawing/2014/main" id="{72B3CB5D-7BAF-49B8-A6E0-D6A613A75F97}"/>
              </a:ext>
            </a:extLst>
          </p:cNvPr>
          <p:cNvSpPr txBox="1">
            <a:spLocks/>
          </p:cNvSpPr>
          <p:nvPr/>
        </p:nvSpPr>
        <p:spPr>
          <a:xfrm>
            <a:off x="14385291" y="7683693"/>
            <a:ext cx="321309" cy="3071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+mn-cs"/>
              </a:rPr>
              <a:pPr marL="381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 panose="00000400000000000000" pitchFamily="2" charset="0"/>
              <a:ea typeface="+mn-ea"/>
              <a:cs typeface="+mn-cs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1A62B64-9CF8-3DB3-3CFF-A56D53195A60}"/>
              </a:ext>
            </a:extLst>
          </p:cNvPr>
          <p:cNvGrpSpPr/>
          <p:nvPr/>
        </p:nvGrpSpPr>
        <p:grpSpPr>
          <a:xfrm>
            <a:off x="507310" y="1721459"/>
            <a:ext cx="13679454" cy="1092066"/>
            <a:chOff x="475473" y="1691561"/>
            <a:chExt cx="13679454" cy="1358616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3FDBA54-9CAC-9F35-B13F-D7E356A2B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1799" y="1724218"/>
              <a:ext cx="4453128" cy="1325959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D65247A-5E37-C790-5958-CC579F9E0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112" y="1691561"/>
              <a:ext cx="4456176" cy="1325959"/>
            </a:xfrm>
            <a:prstGeom prst="rect">
              <a:avLst/>
            </a:prstGeom>
          </p:spPr>
        </p:pic>
        <p:pic>
          <p:nvPicPr>
            <p:cNvPr id="44" name="Picture 43" descr="Text&#10;&#10;Description automatically generated with low confidence">
              <a:extLst>
                <a:ext uri="{FF2B5EF4-FFF2-40B4-BE49-F238E27FC236}">
                  <a16:creationId xmlns:a16="http://schemas.microsoft.com/office/drawing/2014/main" id="{75A3F2E9-022C-350F-DFD8-ABCAE7347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473" y="1691561"/>
              <a:ext cx="4453128" cy="1325959"/>
            </a:xfrm>
            <a:prstGeom prst="rect">
              <a:avLst/>
            </a:prstGeom>
          </p:spPr>
        </p:pic>
      </p:grpSp>
      <p:sp>
        <p:nvSpPr>
          <p:cNvPr id="73" name="object 4">
            <a:extLst>
              <a:ext uri="{FF2B5EF4-FFF2-40B4-BE49-F238E27FC236}">
                <a16:creationId xmlns:a16="http://schemas.microsoft.com/office/drawing/2014/main" id="{233F8D34-B8AE-F485-8520-48D558780535}"/>
              </a:ext>
            </a:extLst>
          </p:cNvPr>
          <p:cNvSpPr/>
          <p:nvPr/>
        </p:nvSpPr>
        <p:spPr>
          <a:xfrm>
            <a:off x="601758" y="2814691"/>
            <a:ext cx="13426876" cy="284704"/>
          </a:xfrm>
          <a:custGeom>
            <a:avLst/>
            <a:gdLst/>
            <a:ahLst/>
            <a:cxnLst/>
            <a:rect l="l" t="t" r="r" b="b"/>
            <a:pathLst>
              <a:path w="7495540">
                <a:moveTo>
                  <a:pt x="0" y="0"/>
                </a:moveTo>
                <a:lnTo>
                  <a:pt x="7495272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D8E2CC03-8689-5FFD-8B14-DA1BAAE5F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770188"/>
              </p:ext>
            </p:extLst>
          </p:nvPr>
        </p:nvGraphicFramePr>
        <p:xfrm>
          <a:off x="525415" y="2881635"/>
          <a:ext cx="13597675" cy="432719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532558">
                  <a:extLst>
                    <a:ext uri="{9D8B030D-6E8A-4147-A177-3AD203B41FA5}">
                      <a16:colId xmlns:a16="http://schemas.microsoft.com/office/drawing/2014/main" val="430982676"/>
                    </a:ext>
                  </a:extLst>
                </a:gridCol>
                <a:gridCol w="4626394">
                  <a:extLst>
                    <a:ext uri="{9D8B030D-6E8A-4147-A177-3AD203B41FA5}">
                      <a16:colId xmlns:a16="http://schemas.microsoft.com/office/drawing/2014/main" val="1209785493"/>
                    </a:ext>
                  </a:extLst>
                </a:gridCol>
                <a:gridCol w="4438723">
                  <a:extLst>
                    <a:ext uri="{9D8B030D-6E8A-4147-A177-3AD203B41FA5}">
                      <a16:colId xmlns:a16="http://schemas.microsoft.com/office/drawing/2014/main" val="991728842"/>
                    </a:ext>
                  </a:extLst>
                </a:gridCol>
              </a:tblGrid>
              <a:tr h="526002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Camunda Application Development and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Business Process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Camunda Technology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8046005"/>
                  </a:ext>
                </a:extLst>
              </a:tr>
              <a:tr h="526002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Application/BPM  Design and Development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Reengineering &amp; Enhancement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Technology On Boarding &amp; Tech landscape Integration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9649295"/>
                  </a:ext>
                </a:extLst>
              </a:tr>
              <a:tr h="526002">
                <a:tc>
                  <a:txBody>
                    <a:bodyPr/>
                    <a:lstStyle/>
                    <a:p>
                      <a:r>
                        <a:rPr lang="en-US" dirty="0"/>
                        <a:t>SDLC : SAFE,  Agile, Scrum, Waterfall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Improvements &amp; Agility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POC and MVP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3477660"/>
                  </a:ext>
                </a:extLst>
              </a:tr>
              <a:tr h="646068">
                <a:tc>
                  <a:txBody>
                    <a:bodyPr/>
                    <a:lstStyle/>
                    <a:p>
                      <a:r>
                        <a:rPr lang="en-US" dirty="0"/>
                        <a:t>DevOps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Kaizen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Architecture &amp; Solution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548090"/>
                  </a:ext>
                </a:extLst>
              </a:tr>
              <a:tr h="526002">
                <a:tc>
                  <a:txBody>
                    <a:bodyPr/>
                    <a:lstStyle/>
                    <a:p>
                      <a:r>
                        <a:rPr lang="en-US" dirty="0"/>
                        <a:t>Testing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Infrastructure planning and sizing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7556139"/>
                  </a:ext>
                </a:extLst>
              </a:tr>
              <a:tr h="526002">
                <a:tc>
                  <a:txBody>
                    <a:bodyPr/>
                    <a:lstStyle/>
                    <a:p>
                      <a:r>
                        <a:rPr lang="en-US" dirty="0"/>
                        <a:t>Project and Program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Evangelize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DevSecOps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133904"/>
                  </a:ext>
                </a:extLst>
              </a:tr>
              <a:tr h="526002">
                <a:tc>
                  <a:txBody>
                    <a:bodyPr/>
                    <a:lstStyle/>
                    <a:p>
                      <a:r>
                        <a:rPr lang="en-US" dirty="0"/>
                        <a:t>Multi-LOB Scaling, LOB Onboarding,  with POD concept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&amp; Portfolio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Managed Services, Application Management and  Monitoring with ITIL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9126797"/>
                  </a:ext>
                </a:extLst>
              </a:tr>
            </a:tbl>
          </a:graphicData>
        </a:graphic>
      </p:graphicFrame>
      <p:sp>
        <p:nvSpPr>
          <p:cNvPr id="77" name="object 3">
            <a:extLst>
              <a:ext uri="{FF2B5EF4-FFF2-40B4-BE49-F238E27FC236}">
                <a16:creationId xmlns:a16="http://schemas.microsoft.com/office/drawing/2014/main" id="{D33F7819-6D91-77E2-FD93-403EACDD5E45}"/>
              </a:ext>
            </a:extLst>
          </p:cNvPr>
          <p:cNvSpPr txBox="1"/>
          <p:nvPr/>
        </p:nvSpPr>
        <p:spPr>
          <a:xfrm>
            <a:off x="-668107" y="1686759"/>
            <a:ext cx="14791197" cy="1039323"/>
          </a:xfrm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12700" marR="5080" lvl="0" indent="1356360" algn="ctr" defTabSz="914400" rtl="0" eaLnBrk="1" fontAlgn="auto" latinLnBrk="0" hangingPunct="1">
              <a:lnSpc>
                <a:spcPct val="73500"/>
              </a:lnSpc>
              <a:spcBef>
                <a:spcPts val="16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-19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D-DIN"/>
              </a:rPr>
              <a:t>End to end capability from Ideation to Realization to Management         		with  </a:t>
            </a:r>
            <a:r>
              <a:rPr kumimoji="0" lang="en-US" sz="3600" b="1" i="0" u="none" strike="noStrike" kern="1200" cap="none" spc="-18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D-DIN"/>
              </a:rPr>
              <a:t>Innovation and Partnership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DIN" panose="00000400000000000000" pitchFamily="2" charset="0"/>
              <a:ea typeface="+mn-ea"/>
              <a:cs typeface="D-DIN"/>
            </a:endParaRPr>
          </a:p>
        </p:txBody>
      </p:sp>
      <p:pic>
        <p:nvPicPr>
          <p:cNvPr id="205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2EF0600B-C57F-75E9-03BD-0E0194D4C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2362" y="7623943"/>
            <a:ext cx="476583" cy="47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AB29303B-5D3B-2695-8E58-9BED25182041}"/>
              </a:ext>
            </a:extLst>
          </p:cNvPr>
          <p:cNvSpPr txBox="1"/>
          <p:nvPr/>
        </p:nvSpPr>
        <p:spPr>
          <a:xfrm>
            <a:off x="507310" y="7239442"/>
            <a:ext cx="12481026" cy="87331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3390" algn="l"/>
              </a:tabLst>
              <a:defRPr/>
            </a:pPr>
            <a:r>
              <a:rPr kumimoji="0" lang="en-US" sz="2800" b="1" i="0" u="none" strike="noStrike" kern="1200" cap="none" spc="-1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D-DIN"/>
              </a:rPr>
              <a:t>Our Accelerators, Templates and Premade Reusable Components </a:t>
            </a:r>
            <a:r>
              <a:rPr lang="en-US" sz="2800" b="1" kern="1200" spc="-120" dirty="0">
                <a:solidFill>
                  <a:schemeClr val="bg1"/>
                </a:solidFill>
                <a:latin typeface="DIN" panose="00000400000000000000" pitchFamily="2" charset="0"/>
                <a:ea typeface="+mn-ea"/>
                <a:cs typeface="D-DIN"/>
              </a:rPr>
              <a:t>Makes</a:t>
            </a:r>
            <a:r>
              <a:rPr kumimoji="0" lang="en-US" sz="2800" b="1" i="0" u="none" strike="noStrike" kern="1200" cap="none" spc="-1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D-DIN"/>
              </a:rPr>
              <a:t> us Unique and Different  from Others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DIN" panose="00000400000000000000" pitchFamily="2" charset="0"/>
              <a:ea typeface="+mn-ea"/>
              <a:cs typeface="D-DIN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4EC98AE-C42C-B52C-6A0F-95A9E7ED407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42" y="4"/>
            <a:ext cx="14630392" cy="8229592"/>
          </a:xfrm>
          <a:prstGeom prst="rect">
            <a:avLst/>
          </a:prstGeom>
        </p:spPr>
      </p:pic>
      <p:graphicFrame>
        <p:nvGraphicFramePr>
          <p:cNvPr id="12" name="TextBox 1">
            <a:extLst>
              <a:ext uri="{FF2B5EF4-FFF2-40B4-BE49-F238E27FC236}">
                <a16:creationId xmlns:a16="http://schemas.microsoft.com/office/drawing/2014/main" id="{FFBCC830-B7E7-99AA-4A2F-C167171660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9280864"/>
              </p:ext>
            </p:extLst>
          </p:nvPr>
        </p:nvGraphicFramePr>
        <p:xfrm>
          <a:off x="1569720" y="1445342"/>
          <a:ext cx="12251457" cy="5991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9F67329-AA27-1AEA-DBBF-A788748E914F}"/>
              </a:ext>
            </a:extLst>
          </p:cNvPr>
          <p:cNvSpPr txBox="1"/>
          <p:nvPr/>
        </p:nvSpPr>
        <p:spPr>
          <a:xfrm>
            <a:off x="213360" y="106802"/>
            <a:ext cx="1491996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240" marR="6096" indent="0">
              <a:lnSpc>
                <a:spcPct val="143611"/>
              </a:lnSpc>
              <a:buSzPts val="1400"/>
              <a:buNone/>
              <a:defRPr sz="432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4400" u="sng" dirty="0"/>
              <a:t>Leading Financial and Wealth Management Organization</a:t>
            </a:r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659F32CD-4504-9577-ED7E-AE07F6E4086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pic>
        <p:nvPicPr>
          <p:cNvPr id="2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CFC71D47-95CC-B84E-ECC2-AA14B176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297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4EC98AE-C42C-B52C-6A0F-95A9E7ED407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42" y="4"/>
            <a:ext cx="14630392" cy="8229592"/>
          </a:xfrm>
          <a:prstGeom prst="rect">
            <a:avLst/>
          </a:prstGeom>
        </p:spPr>
      </p:pic>
      <p:pic>
        <p:nvPicPr>
          <p:cNvPr id="19" name="object 3">
            <a:extLst>
              <a:ext uri="{FF2B5EF4-FFF2-40B4-BE49-F238E27FC236}">
                <a16:creationId xmlns:a16="http://schemas.microsoft.com/office/drawing/2014/main" id="{659F32CD-4504-9577-ED7E-AE07F6E4086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pic>
        <p:nvPicPr>
          <p:cNvPr id="2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CFC71D47-95CC-B84E-ECC2-AA14B176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F8B1C6AB-C503-AAEF-5A25-78F2E78FE1F7}"/>
              </a:ext>
            </a:extLst>
          </p:cNvPr>
          <p:cNvGrpSpPr/>
          <p:nvPr/>
        </p:nvGrpSpPr>
        <p:grpSpPr>
          <a:xfrm>
            <a:off x="878833" y="1303038"/>
            <a:ext cx="12872734" cy="6369646"/>
            <a:chOff x="878833" y="1303038"/>
            <a:chExt cx="12872734" cy="636964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6669E9D-BF97-5481-E2DD-C4D5EAF53D1C}"/>
                </a:ext>
              </a:extLst>
            </p:cNvPr>
            <p:cNvGrpSpPr/>
            <p:nvPr/>
          </p:nvGrpSpPr>
          <p:grpSpPr>
            <a:xfrm>
              <a:off x="878833" y="1303038"/>
              <a:ext cx="12872734" cy="5913085"/>
              <a:chOff x="878832" y="772160"/>
              <a:chExt cx="12872734" cy="591308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4390F8E-1548-ABCB-D6C9-2086BD3F2882}"/>
                  </a:ext>
                </a:extLst>
              </p:cNvPr>
              <p:cNvSpPr/>
              <p:nvPr/>
            </p:nvSpPr>
            <p:spPr>
              <a:xfrm>
                <a:off x="3153506" y="1637373"/>
                <a:ext cx="7208772" cy="431878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682BA7C-5A3D-0F99-0691-A417FDF957F3}"/>
                  </a:ext>
                </a:extLst>
              </p:cNvPr>
              <p:cNvSpPr/>
              <p:nvPr/>
            </p:nvSpPr>
            <p:spPr>
              <a:xfrm>
                <a:off x="878832" y="772160"/>
                <a:ext cx="12733146" cy="5913085"/>
              </a:xfrm>
              <a:prstGeom prst="rect">
                <a:avLst/>
              </a:prstGeom>
              <a:ln w="571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2227609-40FA-ED2E-104B-D9A7438E25F4}"/>
                  </a:ext>
                </a:extLst>
              </p:cNvPr>
              <p:cNvSpPr/>
              <p:nvPr/>
            </p:nvSpPr>
            <p:spPr>
              <a:xfrm>
                <a:off x="2947523" y="1487005"/>
                <a:ext cx="6486850" cy="4150647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3E1A2B8-B8D4-0AEB-F6CE-E81250EDF7D1}"/>
                  </a:ext>
                </a:extLst>
              </p:cNvPr>
              <p:cNvSpPr/>
              <p:nvPr/>
            </p:nvSpPr>
            <p:spPr>
              <a:xfrm>
                <a:off x="3689595" y="1847683"/>
                <a:ext cx="3141806" cy="3315326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chemeClr val="dk1"/>
                    </a:solidFill>
                    <a:latin typeface="+mn-lt"/>
                    <a:ea typeface="+mn-ea"/>
                    <a:cs typeface="+mn-cs"/>
                    <a:sym typeface="Arial"/>
                  </a:rPr>
                  <a:t>    </a:t>
                </a:r>
                <a:endParaRPr lang="en-US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40C127A3-FAE9-EFB2-6DC2-BE50D888CD09}"/>
                  </a:ext>
                </a:extLst>
              </p:cNvPr>
              <p:cNvSpPr/>
              <p:nvPr/>
            </p:nvSpPr>
            <p:spPr>
              <a:xfrm>
                <a:off x="7039421" y="1897984"/>
                <a:ext cx="343795" cy="3265025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chemeClr val="dk1"/>
                    </a:solidFill>
                    <a:latin typeface="+mn-lt"/>
                    <a:ea typeface="+mn-ea"/>
                    <a:cs typeface="+mn-cs"/>
                    <a:sym typeface="Arial"/>
                  </a:rPr>
                  <a:t>ELASTICSEARCH</a:t>
                </a:r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3E78998B-7DDA-D363-07D3-366B79F372B9}"/>
                  </a:ext>
                </a:extLst>
              </p:cNvPr>
              <p:cNvSpPr/>
              <p:nvPr/>
            </p:nvSpPr>
            <p:spPr>
              <a:xfrm>
                <a:off x="7820702" y="1690496"/>
                <a:ext cx="1263669" cy="100563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555555"/>
                    </a:solidFill>
                    <a:latin typeface="+mn-lt"/>
                    <a:ea typeface="+mn-ea"/>
                    <a:cs typeface="+mn-cs"/>
                    <a:sym typeface="Arial"/>
                  </a:rPr>
                  <a:t>TASKLIST</a:t>
                </a:r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80FC5BE-1990-452B-6C51-445BB2409E78}"/>
                  </a:ext>
                </a:extLst>
              </p:cNvPr>
              <p:cNvSpPr/>
              <p:nvPr/>
            </p:nvSpPr>
            <p:spPr>
              <a:xfrm>
                <a:off x="7810660" y="3028155"/>
                <a:ext cx="1263669" cy="100563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555555"/>
                    </a:solidFill>
                    <a:latin typeface="+mn-lt"/>
                    <a:ea typeface="+mn-ea"/>
                    <a:cs typeface="+mn-cs"/>
                    <a:sym typeface="Arial"/>
                  </a:rPr>
                  <a:t>OPERATE</a:t>
                </a:r>
                <a:endParaRPr lang="en-US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0EDF7E2-0729-0DBC-6639-47DABAD25D54}"/>
                  </a:ext>
                </a:extLst>
              </p:cNvPr>
              <p:cNvSpPr/>
              <p:nvPr/>
            </p:nvSpPr>
            <p:spPr>
              <a:xfrm>
                <a:off x="7765820" y="4293736"/>
                <a:ext cx="1277230" cy="10254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555555"/>
                    </a:solidFill>
                    <a:latin typeface="+mn-lt"/>
                    <a:ea typeface="+mn-ea"/>
                    <a:cs typeface="+mn-cs"/>
                    <a:sym typeface="Arial"/>
                  </a:rPr>
                  <a:t>OPTIMIZER</a:t>
                </a:r>
                <a:endParaRPr lang="en-US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A0C3763-9E23-E372-74B3-6FACB89F0821}"/>
                  </a:ext>
                </a:extLst>
              </p:cNvPr>
              <p:cNvSpPr/>
              <p:nvPr/>
            </p:nvSpPr>
            <p:spPr>
              <a:xfrm>
                <a:off x="3454443" y="2488115"/>
                <a:ext cx="476825" cy="201600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555555"/>
                    </a:solidFill>
                    <a:latin typeface="+mn-lt"/>
                    <a:ea typeface="+mn-ea"/>
                    <a:cs typeface="+mn-cs"/>
                    <a:sym typeface="Arial"/>
                  </a:rPr>
                  <a:t>GATEWAY</a:t>
                </a:r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95E55E57-B0B9-8A0B-B52B-7BD77464D3FD}"/>
                  </a:ext>
                </a:extLst>
              </p:cNvPr>
              <p:cNvSpPr/>
              <p:nvPr/>
            </p:nvSpPr>
            <p:spPr>
              <a:xfrm>
                <a:off x="4512816" y="2143887"/>
                <a:ext cx="1149305" cy="597534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chemeClr val="dk1"/>
                    </a:solidFill>
                    <a:latin typeface="+mn-lt"/>
                    <a:ea typeface="+mn-ea"/>
                    <a:cs typeface="+mn-cs"/>
                    <a:sym typeface="Arial"/>
                  </a:rPr>
                  <a:t>BROKER 1</a:t>
                </a:r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63B97726-18EC-10C1-1627-F40E1F316D55}"/>
                  </a:ext>
                </a:extLst>
              </p:cNvPr>
              <p:cNvSpPr/>
              <p:nvPr/>
            </p:nvSpPr>
            <p:spPr>
              <a:xfrm>
                <a:off x="5609792" y="3130624"/>
                <a:ext cx="1113569" cy="597534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chemeClr val="dk1"/>
                    </a:solidFill>
                    <a:latin typeface="+mn-lt"/>
                    <a:ea typeface="+mn-ea"/>
                    <a:cs typeface="+mn-cs"/>
                    <a:sym typeface="Arial"/>
                  </a:rPr>
                  <a:t>BROKER 2</a:t>
                </a:r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E31393B1-9707-1787-6330-FF19214E87B8}"/>
                  </a:ext>
                </a:extLst>
              </p:cNvPr>
              <p:cNvSpPr/>
              <p:nvPr/>
            </p:nvSpPr>
            <p:spPr>
              <a:xfrm>
                <a:off x="4512816" y="4054342"/>
                <a:ext cx="1113570" cy="568553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chemeClr val="dk1"/>
                    </a:solidFill>
                    <a:latin typeface="+mn-lt"/>
                    <a:ea typeface="+mn-ea"/>
                    <a:cs typeface="+mn-cs"/>
                    <a:sym typeface="Arial"/>
                  </a:rPr>
                  <a:t>BROKER 3</a:t>
                </a:r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35A54A8-C2A0-E6EC-BD27-4C287FFC70BE}"/>
                  </a:ext>
                </a:extLst>
              </p:cNvPr>
              <p:cNvSpPr/>
              <p:nvPr/>
            </p:nvSpPr>
            <p:spPr>
              <a:xfrm>
                <a:off x="1027785" y="5881499"/>
                <a:ext cx="12420866" cy="53318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2112" b="0" i="0" u="none" strike="noStrike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Arial"/>
                  </a:rPr>
                  <a:t>KUBERNETES</a:t>
                </a:r>
                <a:endParaRPr lang="en-US" sz="24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1" name="Graphic 20" descr="Arrow circle outline">
                <a:extLst>
                  <a:ext uri="{FF2B5EF4-FFF2-40B4-BE49-F238E27FC236}">
                    <a16:creationId xmlns:a16="http://schemas.microsoft.com/office/drawing/2014/main" id="{0DB84DBB-919B-225A-663C-5180B55281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24963" y="2976024"/>
                <a:ext cx="1059893" cy="908599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405A8D-C9E9-E0F1-B226-DE2A0DEE4255}"/>
                  </a:ext>
                </a:extLst>
              </p:cNvPr>
              <p:cNvSpPr txBox="1"/>
              <p:nvPr/>
            </p:nvSpPr>
            <p:spPr>
              <a:xfrm>
                <a:off x="4720926" y="2765941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1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F8FFFB-DD43-1E2F-A57F-E3B776EE99D9}"/>
                  </a:ext>
                </a:extLst>
              </p:cNvPr>
              <p:cNvSpPr txBox="1"/>
              <p:nvPr/>
            </p:nvSpPr>
            <p:spPr>
              <a:xfrm>
                <a:off x="5722135" y="3744805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2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E378C45-8295-3ECF-3353-D4B39F25EE5C}"/>
                  </a:ext>
                </a:extLst>
              </p:cNvPr>
              <p:cNvSpPr txBox="1"/>
              <p:nvPr/>
            </p:nvSpPr>
            <p:spPr>
              <a:xfrm>
                <a:off x="4713223" y="4660828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3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078BCB-EA6F-9F73-0D07-3A33F4F48E71}"/>
                  </a:ext>
                </a:extLst>
              </p:cNvPr>
              <p:cNvSpPr txBox="1"/>
              <p:nvPr/>
            </p:nvSpPr>
            <p:spPr>
              <a:xfrm>
                <a:off x="8126531" y="2681761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6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9F417F-C6F5-C010-660F-DF8BF4957D41}"/>
                  </a:ext>
                </a:extLst>
              </p:cNvPr>
              <p:cNvSpPr txBox="1"/>
              <p:nvPr/>
            </p:nvSpPr>
            <p:spPr>
              <a:xfrm>
                <a:off x="8153237" y="4004235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7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8EE609D-5F40-849A-2B05-5607747EAC81}"/>
                  </a:ext>
                </a:extLst>
              </p:cNvPr>
              <p:cNvSpPr txBox="1"/>
              <p:nvPr/>
            </p:nvSpPr>
            <p:spPr>
              <a:xfrm>
                <a:off x="8045438" y="5363159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8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6CF18E-EE99-D711-34D6-422A4FA05C96}"/>
                  </a:ext>
                </a:extLst>
              </p:cNvPr>
              <p:cNvSpPr txBox="1"/>
              <p:nvPr/>
            </p:nvSpPr>
            <p:spPr>
              <a:xfrm>
                <a:off x="3071269" y="4483361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4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366DC63-FB71-DF9C-5CD1-D8BF8E072D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83215" y="2178169"/>
                <a:ext cx="427445" cy="13522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4ED121FD-A49B-53EB-38F1-44B2F2C962DD}"/>
                  </a:ext>
                </a:extLst>
              </p:cNvPr>
              <p:cNvCxnSpPr>
                <a:endCxn id="9" idx="1"/>
              </p:cNvCxnSpPr>
              <p:nvPr/>
            </p:nvCxnSpPr>
            <p:spPr>
              <a:xfrm>
                <a:off x="7408446" y="3530449"/>
                <a:ext cx="402214" cy="5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91118D83-205C-9013-CA1F-4968188BC169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>
                <a:off x="7383215" y="3530497"/>
                <a:ext cx="359301" cy="1275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CBB2CF-3662-3475-5381-45DC9DEF6C43}"/>
                  </a:ext>
                </a:extLst>
              </p:cNvPr>
              <p:cNvSpPr txBox="1"/>
              <p:nvPr/>
            </p:nvSpPr>
            <p:spPr>
              <a:xfrm>
                <a:off x="5279600" y="823103"/>
                <a:ext cx="2570648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Namespace : CamundaInfra</a:t>
                </a:r>
                <a:endParaRPr lang="en-US" b="1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DCBA06-1AA5-3218-747B-64BAFCAD5F69}"/>
                  </a:ext>
                </a:extLst>
              </p:cNvPr>
              <p:cNvSpPr txBox="1"/>
              <p:nvPr/>
            </p:nvSpPr>
            <p:spPr>
              <a:xfrm>
                <a:off x="6939973" y="5183845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5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FBC0D70-8953-E302-FEE1-17C70036A6DD}"/>
                  </a:ext>
                </a:extLst>
              </p:cNvPr>
              <p:cNvSpPr/>
              <p:nvPr/>
            </p:nvSpPr>
            <p:spPr>
              <a:xfrm>
                <a:off x="9795108" y="1847683"/>
                <a:ext cx="2069683" cy="3471467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A95412-4BAD-8E88-C200-D817A89A7138}"/>
                  </a:ext>
                </a:extLst>
              </p:cNvPr>
              <p:cNvSpPr txBox="1"/>
              <p:nvPr/>
            </p:nvSpPr>
            <p:spPr>
              <a:xfrm>
                <a:off x="10415877" y="2696129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9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B2A26DBE-5452-8C8C-732A-A851B9350A3C}"/>
                  </a:ext>
                </a:extLst>
              </p:cNvPr>
              <p:cNvSpPr/>
              <p:nvPr/>
            </p:nvSpPr>
            <p:spPr>
              <a:xfrm>
                <a:off x="10011314" y="1982141"/>
                <a:ext cx="1627847" cy="75284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555555"/>
                    </a:solidFill>
                    <a:latin typeface="+mn-lt"/>
                    <a:ea typeface="+mn-ea"/>
                    <a:cs typeface="+mn-cs"/>
                    <a:sym typeface="Arial"/>
                  </a:rPr>
                  <a:t>MICROSERVICE 1</a:t>
                </a:r>
                <a:endParaRPr lang="en-US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E39BF8C2-7FE6-95BE-8D64-186443BAE1B5}"/>
                  </a:ext>
                </a:extLst>
              </p:cNvPr>
              <p:cNvSpPr/>
              <p:nvPr/>
            </p:nvSpPr>
            <p:spPr>
              <a:xfrm>
                <a:off x="10011314" y="3147156"/>
                <a:ext cx="1650899" cy="7522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555555"/>
                    </a:solidFill>
                    <a:latin typeface="+mn-lt"/>
                    <a:ea typeface="+mn-ea"/>
                    <a:cs typeface="+mn-cs"/>
                    <a:sym typeface="Arial"/>
                  </a:rPr>
                  <a:t>MICROSERVICE 2</a:t>
                </a:r>
                <a:endParaRPr lang="en-US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69944C4E-B2C5-B4EF-E74C-3AE0DAB0F6CC}"/>
                  </a:ext>
                </a:extLst>
              </p:cNvPr>
              <p:cNvSpPr/>
              <p:nvPr/>
            </p:nvSpPr>
            <p:spPr>
              <a:xfrm>
                <a:off x="10011315" y="4269474"/>
                <a:ext cx="1691040" cy="72259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555555"/>
                    </a:solidFill>
                    <a:latin typeface="+mn-lt"/>
                    <a:ea typeface="+mn-ea"/>
                    <a:cs typeface="+mn-cs"/>
                    <a:sym typeface="Arial"/>
                  </a:rPr>
                  <a:t>MICROSERVICE 3</a:t>
                </a:r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5F44171-A695-CF8E-596D-CA98AF31C4D3}"/>
                  </a:ext>
                </a:extLst>
              </p:cNvPr>
              <p:cNvSpPr txBox="1"/>
              <p:nvPr/>
            </p:nvSpPr>
            <p:spPr>
              <a:xfrm>
                <a:off x="10456282" y="3913795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10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49997A3-3D41-AE7E-4732-072D4C010612}"/>
                  </a:ext>
                </a:extLst>
              </p:cNvPr>
              <p:cNvSpPr txBox="1"/>
              <p:nvPr/>
            </p:nvSpPr>
            <p:spPr>
              <a:xfrm>
                <a:off x="10529976" y="4984161"/>
                <a:ext cx="1324820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11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4B66793-CF49-C585-FA9D-08D1618036BD}"/>
                  </a:ext>
                </a:extLst>
              </p:cNvPr>
              <p:cNvSpPr txBox="1"/>
              <p:nvPr/>
            </p:nvSpPr>
            <p:spPr>
              <a:xfrm>
                <a:off x="9770257" y="1344954"/>
                <a:ext cx="2570648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Namespace : Microservices</a:t>
                </a:r>
                <a:endParaRPr lang="en-US" b="1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D024E42-2B9C-C3F6-2FB4-13750C036112}"/>
                  </a:ext>
                </a:extLst>
              </p:cNvPr>
              <p:cNvSpPr/>
              <p:nvPr/>
            </p:nvSpPr>
            <p:spPr>
              <a:xfrm>
                <a:off x="1027785" y="1936771"/>
                <a:ext cx="1553614" cy="3319509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A3A0D58-E1B0-5E74-A605-4470B506FB91}"/>
                  </a:ext>
                </a:extLst>
              </p:cNvPr>
              <p:cNvSpPr/>
              <p:nvPr/>
            </p:nvSpPr>
            <p:spPr>
              <a:xfrm>
                <a:off x="1150622" y="2415127"/>
                <a:ext cx="1279870" cy="89332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555555"/>
                    </a:solidFill>
                    <a:latin typeface="+mn-lt"/>
                    <a:ea typeface="+mn-ea"/>
                    <a:cs typeface="+mn-cs"/>
                    <a:sym typeface="Arial"/>
                  </a:rPr>
                  <a:t>APPLICATION 1</a:t>
                </a:r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BD718D7-5B94-330E-17BB-C25277AC81B2}"/>
                  </a:ext>
                </a:extLst>
              </p:cNvPr>
              <p:cNvSpPr/>
              <p:nvPr/>
            </p:nvSpPr>
            <p:spPr>
              <a:xfrm>
                <a:off x="1137754" y="3596986"/>
                <a:ext cx="1270698" cy="91471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555555"/>
                    </a:solidFill>
                    <a:latin typeface="+mn-lt"/>
                    <a:ea typeface="+mn-ea"/>
                    <a:cs typeface="+mn-cs"/>
                    <a:sym typeface="Arial"/>
                  </a:rPr>
                  <a:t>APPLICATION 2</a:t>
                </a:r>
                <a:endParaRPr lang="en-US"/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0DBD3A5F-ED96-7E7D-B401-E57A5705FF18}"/>
                  </a:ext>
                </a:extLst>
              </p:cNvPr>
              <p:cNvCxnSpPr/>
              <p:nvPr/>
            </p:nvCxnSpPr>
            <p:spPr>
              <a:xfrm>
                <a:off x="2344910" y="2818301"/>
                <a:ext cx="107352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5D1291B4-7430-D750-34C1-ECA1484AB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4910" y="4004235"/>
                <a:ext cx="107352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C547868-EA31-B0E4-F920-1DF2DC1E6A03}"/>
                  </a:ext>
                </a:extLst>
              </p:cNvPr>
              <p:cNvSpPr txBox="1"/>
              <p:nvPr/>
            </p:nvSpPr>
            <p:spPr>
              <a:xfrm>
                <a:off x="1450937" y="3335095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13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D784664-8420-9AF1-43D5-631EDA8D5431}"/>
                  </a:ext>
                </a:extLst>
              </p:cNvPr>
              <p:cNvSpPr txBox="1"/>
              <p:nvPr/>
            </p:nvSpPr>
            <p:spPr>
              <a:xfrm>
                <a:off x="1483573" y="4568870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14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6F8935-281D-8CF8-CA8B-44FC4987A339}"/>
                  </a:ext>
                </a:extLst>
              </p:cNvPr>
              <p:cNvSpPr txBox="1"/>
              <p:nvPr/>
            </p:nvSpPr>
            <p:spPr>
              <a:xfrm>
                <a:off x="990886" y="1534322"/>
                <a:ext cx="1741848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Namespace : App</a:t>
                </a:r>
                <a:endParaRPr lang="en-US" b="1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0B1B055-A1FA-B38C-D8DD-16FA9A649207}"/>
                  </a:ext>
                </a:extLst>
              </p:cNvPr>
              <p:cNvSpPr/>
              <p:nvPr/>
            </p:nvSpPr>
            <p:spPr>
              <a:xfrm>
                <a:off x="12556737" y="3028154"/>
                <a:ext cx="884245" cy="1651913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lowchart: Magnetic Disk 50">
                <a:extLst>
                  <a:ext uri="{FF2B5EF4-FFF2-40B4-BE49-F238E27FC236}">
                    <a16:creationId xmlns:a16="http://schemas.microsoft.com/office/drawing/2014/main" id="{B68E043D-CE5A-E75F-2902-8104312EE73F}"/>
                  </a:ext>
                </a:extLst>
              </p:cNvPr>
              <p:cNvSpPr/>
              <p:nvPr/>
            </p:nvSpPr>
            <p:spPr>
              <a:xfrm>
                <a:off x="12764114" y="3282658"/>
                <a:ext cx="481617" cy="975407"/>
              </a:xfrm>
              <a:prstGeom prst="flowChartMagneticDisk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555555"/>
                    </a:solidFill>
                    <a:latin typeface="+mn-lt"/>
                    <a:ea typeface="+mn-ea"/>
                    <a:cs typeface="+mn-cs"/>
                    <a:sym typeface="Arial"/>
                  </a:rPr>
                  <a:t>DB</a:t>
                </a:r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CD49448-8C77-AB3F-611C-DE9951A9B3F2}"/>
                  </a:ext>
                </a:extLst>
              </p:cNvPr>
              <p:cNvSpPr txBox="1"/>
              <p:nvPr/>
            </p:nvSpPr>
            <p:spPr>
              <a:xfrm>
                <a:off x="12634457" y="4309977"/>
                <a:ext cx="814195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0" i="0" u="none" strike="noStrike" cap="none">
                    <a:solidFill>
                      <a:srgbClr val="9E2924"/>
                    </a:solidFill>
                    <a:latin typeface="Arial"/>
                    <a:ea typeface="Arial"/>
                    <a:cs typeface="Arial"/>
                    <a:sym typeface="Arial"/>
                  </a:rPr>
                  <a:t>POD 12</a:t>
                </a:r>
                <a:endParaRPr lang="en-US" sz="140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85CCEE20-4D79-4FEE-C528-CA8ED6BA3347}"/>
                  </a:ext>
                </a:extLst>
              </p:cNvPr>
              <p:cNvCxnSpPr/>
              <p:nvPr/>
            </p:nvCxnSpPr>
            <p:spPr>
              <a:xfrm>
                <a:off x="11639161" y="2306084"/>
                <a:ext cx="1071179" cy="15165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E01C8652-CAEB-6A93-4385-BB4394F46F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15438" y="3514813"/>
                <a:ext cx="1137817" cy="39593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A3E56C43-44DE-9082-0E1A-10D7B17ADA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692935" y="3899355"/>
                <a:ext cx="1050270" cy="84641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D4D62D38-E1F3-B533-16B4-3B1A6FF643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1161" y="1267549"/>
                <a:ext cx="0" cy="1544707"/>
              </a:xfrm>
              <a:prstGeom prst="straightConnector1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5E15F3F-1388-7FBF-A773-B3D7E5C7D5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1161" y="1267549"/>
                <a:ext cx="6854890" cy="19135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B004E9B-46A4-8BF3-B8BA-0832E8BEBC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21189" y="1249622"/>
                <a:ext cx="0" cy="3496147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2914E0D5-EC07-6D46-7C74-A9F6B7AB48B6}"/>
                  </a:ext>
                </a:extLst>
              </p:cNvPr>
              <p:cNvCxnSpPr>
                <a:cxnSpLocks/>
                <a:endCxn id="36" idx="1"/>
              </p:cNvCxnSpPr>
              <p:nvPr/>
            </p:nvCxnSpPr>
            <p:spPr>
              <a:xfrm flipV="1">
                <a:off x="9621189" y="2358564"/>
                <a:ext cx="390125" cy="11397"/>
              </a:xfrm>
              <a:prstGeom prst="straightConnector1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307676F1-B720-3053-DB09-319DD5C202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30523" y="3476733"/>
                <a:ext cx="345978" cy="6566"/>
              </a:xfrm>
              <a:prstGeom prst="straightConnector1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0682020D-3A8A-11AE-5AC7-E33435CDFEEE}"/>
                  </a:ext>
                </a:extLst>
              </p:cNvPr>
              <p:cNvCxnSpPr/>
              <p:nvPr/>
            </p:nvCxnSpPr>
            <p:spPr>
              <a:xfrm>
                <a:off x="9621189" y="4745769"/>
                <a:ext cx="390125" cy="0"/>
              </a:xfrm>
              <a:prstGeom prst="straightConnector1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F9BB97-F8F1-B7D0-59E3-E5A9753ACE76}"/>
                  </a:ext>
                </a:extLst>
              </p:cNvPr>
              <p:cNvSpPr txBox="1"/>
              <p:nvPr/>
            </p:nvSpPr>
            <p:spPr>
              <a:xfrm>
                <a:off x="12068110" y="2564680"/>
                <a:ext cx="1683456" cy="28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32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Namespace : DB</a:t>
                </a:r>
                <a:endParaRPr lang="en-US" b="1"/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7978B463-CADC-870D-5B0D-0B6CE494A759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 flipV="1">
                <a:off x="6831401" y="3476733"/>
                <a:ext cx="208019" cy="2861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04F5BED-D544-C68E-C207-050D3469837C}"/>
                </a:ext>
              </a:extLst>
            </p:cNvPr>
            <p:cNvSpPr txBox="1"/>
            <p:nvPr/>
          </p:nvSpPr>
          <p:spPr>
            <a:xfrm>
              <a:off x="5344940" y="7201145"/>
              <a:ext cx="4503996" cy="471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464" b="0" i="0" u="none" strike="noStrike" cap="non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KUBERNETES CLUSTER</a:t>
              </a:r>
              <a:endParaRPr lang="en-US" sz="2800">
                <a:solidFill>
                  <a:srgbClr val="FFC000"/>
                </a:solidFill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AAF2ED13-E899-C339-7985-354018047AC0}"/>
              </a:ext>
            </a:extLst>
          </p:cNvPr>
          <p:cNvSpPr txBox="1"/>
          <p:nvPr/>
        </p:nvSpPr>
        <p:spPr>
          <a:xfrm>
            <a:off x="213360" y="106802"/>
            <a:ext cx="1491996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5240" marR="6096" indent="0">
              <a:lnSpc>
                <a:spcPct val="143611"/>
              </a:lnSpc>
              <a:buSzPts val="1400"/>
              <a:buNone/>
              <a:defRPr sz="4400" u="sng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3600" u="sng" dirty="0"/>
              <a:t>Leading Financial and Wealth Management Organization</a:t>
            </a:r>
          </a:p>
        </p:txBody>
      </p:sp>
    </p:spTree>
    <p:extLst>
      <p:ext uri="{BB962C8B-B14F-4D97-AF65-F5344CB8AC3E}">
        <p14:creationId xmlns:p14="http://schemas.microsoft.com/office/powerpoint/2010/main" val="3553641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4EC98AE-C42C-B52C-6A0F-95A9E7ED407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42" y="4"/>
            <a:ext cx="14630392" cy="8229592"/>
          </a:xfrm>
          <a:prstGeom prst="rect">
            <a:avLst/>
          </a:prstGeom>
        </p:spPr>
      </p:pic>
      <p:graphicFrame>
        <p:nvGraphicFramePr>
          <p:cNvPr id="12" name="TextBox 1">
            <a:extLst>
              <a:ext uri="{FF2B5EF4-FFF2-40B4-BE49-F238E27FC236}">
                <a16:creationId xmlns:a16="http://schemas.microsoft.com/office/drawing/2014/main" id="{FFBCC830-B7E7-99AA-4A2F-C167171660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4128316"/>
              </p:ext>
            </p:extLst>
          </p:nvPr>
        </p:nvGraphicFramePr>
        <p:xfrm>
          <a:off x="1569720" y="1371599"/>
          <a:ext cx="12868951" cy="6371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9F67329-AA27-1AEA-DBBF-A788748E914F}"/>
              </a:ext>
            </a:extLst>
          </p:cNvPr>
          <p:cNvSpPr txBox="1"/>
          <p:nvPr/>
        </p:nvSpPr>
        <p:spPr>
          <a:xfrm>
            <a:off x="213360" y="106802"/>
            <a:ext cx="1491996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5240" marR="6096" indent="0">
              <a:lnSpc>
                <a:spcPct val="143611"/>
              </a:lnSpc>
              <a:buSzPts val="1400"/>
              <a:buNone/>
              <a:defRPr sz="4400" u="sng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3600" dirty="0"/>
              <a:t>World’s Leading Manufacturer of construction and mining equipment</a:t>
            </a:r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659F32CD-4504-9577-ED7E-AE07F6E4086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pic>
        <p:nvPicPr>
          <p:cNvPr id="2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CFC71D47-95CC-B84E-ECC2-AA14B176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645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4EC98AE-C42C-B52C-6A0F-95A9E7ED40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42" y="4"/>
            <a:ext cx="14630392" cy="82295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F67329-AA27-1AEA-DBBF-A788748E914F}"/>
              </a:ext>
            </a:extLst>
          </p:cNvPr>
          <p:cNvSpPr txBox="1"/>
          <p:nvPr/>
        </p:nvSpPr>
        <p:spPr>
          <a:xfrm>
            <a:off x="94877" y="662057"/>
            <a:ext cx="1491996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240" marR="6096" indent="0">
              <a:lnSpc>
                <a:spcPct val="143611"/>
              </a:lnSpc>
              <a:buSzPts val="1400"/>
              <a:buNone/>
              <a:defRPr sz="432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3200" u="sng" dirty="0"/>
              <a:t>World’s Leading Manufacturer of construction and mining equipment</a:t>
            </a:r>
          </a:p>
          <a:p>
            <a:endParaRPr lang="en-US" sz="4400" u="sng" dirty="0"/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659F32CD-4504-9577-ED7E-AE07F6E408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pic>
        <p:nvPicPr>
          <p:cNvPr id="2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CFC71D47-95CC-B84E-ECC2-AA14B176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DDF58FD-675F-29A9-4091-C187450CF49C}"/>
              </a:ext>
            </a:extLst>
          </p:cNvPr>
          <p:cNvGrpSpPr/>
          <p:nvPr/>
        </p:nvGrpSpPr>
        <p:grpSpPr>
          <a:xfrm>
            <a:off x="791605" y="1147446"/>
            <a:ext cx="13086079" cy="6732167"/>
            <a:chOff x="772160" y="790620"/>
            <a:chExt cx="13086079" cy="6732167"/>
          </a:xfrm>
        </p:grpSpPr>
        <p:sp>
          <p:nvSpPr>
            <p:cNvPr id="66" name="Google Shape;870;p3">
              <a:extLst>
                <a:ext uri="{FF2B5EF4-FFF2-40B4-BE49-F238E27FC236}">
                  <a16:creationId xmlns:a16="http://schemas.microsoft.com/office/drawing/2014/main" id="{F2D027BE-6808-22F6-BD47-84D8A252A0B2}"/>
                </a:ext>
              </a:extLst>
            </p:cNvPr>
            <p:cNvSpPr/>
            <p:nvPr/>
          </p:nvSpPr>
          <p:spPr>
            <a:xfrm>
              <a:off x="3059937" y="1723442"/>
              <a:ext cx="7307398" cy="4377867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871;p3">
              <a:extLst>
                <a:ext uri="{FF2B5EF4-FFF2-40B4-BE49-F238E27FC236}">
                  <a16:creationId xmlns:a16="http://schemas.microsoft.com/office/drawing/2014/main" id="{BCE4846E-62C4-7849-FE76-A38EA2E30029}"/>
                </a:ext>
              </a:extLst>
            </p:cNvPr>
            <p:cNvSpPr/>
            <p:nvPr/>
          </p:nvSpPr>
          <p:spPr>
            <a:xfrm>
              <a:off x="772160" y="790620"/>
              <a:ext cx="12907354" cy="5993984"/>
            </a:xfrm>
            <a:prstGeom prst="rect">
              <a:avLst/>
            </a:prstGeom>
            <a:solidFill>
              <a:schemeClr val="lt1"/>
            </a:solidFill>
            <a:ln w="571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872;p3">
              <a:extLst>
                <a:ext uri="{FF2B5EF4-FFF2-40B4-BE49-F238E27FC236}">
                  <a16:creationId xmlns:a16="http://schemas.microsoft.com/office/drawing/2014/main" id="{BC5637B9-1133-38AE-A6B8-75CC35D0FB48}"/>
                </a:ext>
              </a:extLst>
            </p:cNvPr>
            <p:cNvSpPr/>
            <p:nvPr/>
          </p:nvSpPr>
          <p:spPr>
            <a:xfrm>
              <a:off x="2851137" y="1771343"/>
              <a:ext cx="6106097" cy="3825339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873;p3">
              <a:extLst>
                <a:ext uri="{FF2B5EF4-FFF2-40B4-BE49-F238E27FC236}">
                  <a16:creationId xmlns:a16="http://schemas.microsoft.com/office/drawing/2014/main" id="{A1C3A313-7229-6A28-72F1-2ED38E8A4296}"/>
                </a:ext>
              </a:extLst>
            </p:cNvPr>
            <p:cNvSpPr/>
            <p:nvPr/>
          </p:nvSpPr>
          <p:spPr>
            <a:xfrm>
              <a:off x="3603361" y="1936630"/>
              <a:ext cx="3184790" cy="336068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602" b="0" i="0" u="none" strike="noStrike" cap="none">
                  <a:solidFill>
                    <a:schemeClr val="dk1"/>
                  </a:solidFill>
                  <a:latin typeface="Calibri"/>
                  <a:ea typeface="Arial"/>
                  <a:cs typeface="Calibri"/>
                  <a:sym typeface="Calibri"/>
                </a:rPr>
                <a:t>    </a:t>
              </a:r>
              <a:endParaRPr lang="en-US"/>
            </a:p>
          </p:txBody>
        </p:sp>
        <p:sp>
          <p:nvSpPr>
            <p:cNvPr id="70" name="Google Shape;874;p3">
              <a:extLst>
                <a:ext uri="{FF2B5EF4-FFF2-40B4-BE49-F238E27FC236}">
                  <a16:creationId xmlns:a16="http://schemas.microsoft.com/office/drawing/2014/main" id="{1D8A33E0-AD43-0D62-1995-74E2812B4A6E}"/>
                </a:ext>
              </a:extLst>
            </p:cNvPr>
            <p:cNvSpPr/>
            <p:nvPr/>
          </p:nvSpPr>
          <p:spPr>
            <a:xfrm>
              <a:off x="6999017" y="1987619"/>
              <a:ext cx="348498" cy="330969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602" b="0" i="0" u="none" strike="noStrike" cap="none">
                  <a:solidFill>
                    <a:schemeClr val="dk1"/>
                  </a:solidFill>
                  <a:latin typeface="Calibri"/>
                  <a:ea typeface="Arial"/>
                  <a:cs typeface="Calibri"/>
                  <a:sym typeface="Calibri"/>
                </a:rPr>
                <a:t>OPENSEARCH</a:t>
              </a:r>
              <a:endParaRPr lang="en-US"/>
            </a:p>
          </p:txBody>
        </p:sp>
        <p:sp>
          <p:nvSpPr>
            <p:cNvPr id="71" name="Google Shape;876;p3">
              <a:extLst>
                <a:ext uri="{FF2B5EF4-FFF2-40B4-BE49-F238E27FC236}">
                  <a16:creationId xmlns:a16="http://schemas.microsoft.com/office/drawing/2014/main" id="{73974B29-4A84-5108-16B5-B3AE8726FFAF}"/>
                </a:ext>
              </a:extLst>
            </p:cNvPr>
            <p:cNvSpPr/>
            <p:nvPr/>
          </p:nvSpPr>
          <p:spPr>
            <a:xfrm>
              <a:off x="7756037" y="3274292"/>
              <a:ext cx="1038801" cy="69760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602" b="0" i="0" u="none" strike="noStrike" cap="none">
                  <a:solidFill>
                    <a:srgbClr val="555555"/>
                  </a:solidFill>
                  <a:latin typeface="Calibri"/>
                  <a:ea typeface="Arial"/>
                  <a:cs typeface="Calibri"/>
                  <a:sym typeface="Calibri"/>
                </a:rPr>
                <a:t>OPERATE</a:t>
              </a:r>
              <a:endParaRPr lang="en-US"/>
            </a:p>
          </p:txBody>
        </p:sp>
        <p:sp>
          <p:nvSpPr>
            <p:cNvPr id="72" name="Google Shape;878;p3">
              <a:extLst>
                <a:ext uri="{FF2B5EF4-FFF2-40B4-BE49-F238E27FC236}">
                  <a16:creationId xmlns:a16="http://schemas.microsoft.com/office/drawing/2014/main" id="{7CF2F862-82F1-C66B-4CAB-F43CC2432B70}"/>
                </a:ext>
              </a:extLst>
            </p:cNvPr>
            <p:cNvSpPr/>
            <p:nvPr/>
          </p:nvSpPr>
          <p:spPr>
            <a:xfrm>
              <a:off x="3379802" y="2838764"/>
              <a:ext cx="483348" cy="1421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602" b="0" i="0" u="none" strike="noStrike" cap="none">
                  <a:solidFill>
                    <a:srgbClr val="555555"/>
                  </a:solidFill>
                  <a:latin typeface="Calibri"/>
                  <a:ea typeface="Arial"/>
                  <a:cs typeface="Calibri"/>
                  <a:sym typeface="Calibri"/>
                </a:rPr>
                <a:t>GATEWAY</a:t>
              </a:r>
              <a:endParaRPr lang="en-US"/>
            </a:p>
          </p:txBody>
        </p:sp>
        <p:sp>
          <p:nvSpPr>
            <p:cNvPr id="73" name="Google Shape;880;p3">
              <a:extLst>
                <a:ext uri="{FF2B5EF4-FFF2-40B4-BE49-F238E27FC236}">
                  <a16:creationId xmlns:a16="http://schemas.microsoft.com/office/drawing/2014/main" id="{76D23D96-96EB-106E-0F86-E2DD576C3F16}"/>
                </a:ext>
              </a:extLst>
            </p:cNvPr>
            <p:cNvSpPr/>
            <p:nvPr/>
          </p:nvSpPr>
          <p:spPr>
            <a:xfrm>
              <a:off x="4295033" y="2271638"/>
              <a:ext cx="1165029" cy="60570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602" b="0" i="0" u="none" strike="noStrike" cap="none">
                  <a:solidFill>
                    <a:schemeClr val="dk1"/>
                  </a:solidFill>
                  <a:latin typeface="Calibri"/>
                  <a:ea typeface="Arial"/>
                  <a:cs typeface="Calibri"/>
                  <a:sym typeface="Calibri"/>
                </a:rPr>
                <a:t>BROKER 1</a:t>
              </a:r>
              <a:endParaRPr lang="en-US"/>
            </a:p>
          </p:txBody>
        </p:sp>
        <p:sp>
          <p:nvSpPr>
            <p:cNvPr id="74" name="Google Shape;881;p3">
              <a:extLst>
                <a:ext uri="{FF2B5EF4-FFF2-40B4-BE49-F238E27FC236}">
                  <a16:creationId xmlns:a16="http://schemas.microsoft.com/office/drawing/2014/main" id="{E1982800-2710-A73D-0106-263DCEC8B1A8}"/>
                </a:ext>
              </a:extLst>
            </p:cNvPr>
            <p:cNvSpPr/>
            <p:nvPr/>
          </p:nvSpPr>
          <p:spPr>
            <a:xfrm>
              <a:off x="5284013" y="3181903"/>
              <a:ext cx="1128805" cy="60570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602" b="0" i="0" u="none" strike="noStrike" cap="none">
                  <a:solidFill>
                    <a:schemeClr val="dk1"/>
                  </a:solidFill>
                  <a:latin typeface="Calibri"/>
                  <a:ea typeface="Arial"/>
                  <a:cs typeface="Calibri"/>
                  <a:sym typeface="Calibri"/>
                </a:rPr>
                <a:t>BROKER 2</a:t>
              </a:r>
              <a:endParaRPr lang="en-US"/>
            </a:p>
          </p:txBody>
        </p:sp>
        <p:sp>
          <p:nvSpPr>
            <p:cNvPr id="75" name="Google Shape;882;p3">
              <a:extLst>
                <a:ext uri="{FF2B5EF4-FFF2-40B4-BE49-F238E27FC236}">
                  <a16:creationId xmlns:a16="http://schemas.microsoft.com/office/drawing/2014/main" id="{70D17AED-2880-ACE8-B0B7-2711B74E7E1D}"/>
                </a:ext>
              </a:extLst>
            </p:cNvPr>
            <p:cNvSpPr/>
            <p:nvPr/>
          </p:nvSpPr>
          <p:spPr>
            <a:xfrm>
              <a:off x="4437844" y="4173479"/>
              <a:ext cx="1128805" cy="576331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602" b="0" i="0" u="none" strike="noStrike" cap="none">
                  <a:solidFill>
                    <a:schemeClr val="dk1"/>
                  </a:solidFill>
                  <a:latin typeface="Calibri"/>
                  <a:ea typeface="Arial"/>
                  <a:cs typeface="Calibri"/>
                  <a:sym typeface="Calibri"/>
                </a:rPr>
                <a:t>BROKER 3</a:t>
              </a:r>
              <a:endParaRPr lang="en-US"/>
            </a:p>
          </p:txBody>
        </p:sp>
        <p:sp>
          <p:nvSpPr>
            <p:cNvPr id="76" name="Google Shape;883;p3">
              <a:extLst>
                <a:ext uri="{FF2B5EF4-FFF2-40B4-BE49-F238E27FC236}">
                  <a16:creationId xmlns:a16="http://schemas.microsoft.com/office/drawing/2014/main" id="{7D779CF3-693C-518B-5493-F8EBE6EB2A69}"/>
                </a:ext>
              </a:extLst>
            </p:cNvPr>
            <p:cNvSpPr/>
            <p:nvPr/>
          </p:nvSpPr>
          <p:spPr>
            <a:xfrm>
              <a:off x="905134" y="5962020"/>
              <a:ext cx="12590801" cy="604096"/>
            </a:xfrm>
            <a:prstGeom prst="rect">
              <a:avLst/>
            </a:prstGeom>
            <a:solidFill>
              <a:srgbClr val="8CB3E3"/>
            </a:solidFill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136" b="0" i="0" u="none" strike="noStrike" cap="none">
                  <a:solidFill>
                    <a:schemeClr val="dk1"/>
                  </a:solidFill>
                  <a:latin typeface="Calibri"/>
                  <a:ea typeface="Arial"/>
                  <a:cs typeface="Calibri"/>
                  <a:sym typeface="Calibri"/>
                </a:rPr>
                <a:t>KUBERNETES</a:t>
              </a:r>
              <a:endParaRPr lang="en-US"/>
            </a:p>
          </p:txBody>
        </p:sp>
        <p:pic>
          <p:nvPicPr>
            <p:cNvPr id="77" name="Google Shape;884;p3" descr="Arrow circle outline">
              <a:extLst>
                <a:ext uri="{FF2B5EF4-FFF2-40B4-BE49-F238E27FC236}">
                  <a16:creationId xmlns:a16="http://schemas.microsoft.com/office/drawing/2014/main" id="{FD57E602-62AD-89B1-A59A-FA260C13C27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46054" y="3080407"/>
              <a:ext cx="1074394" cy="9210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885;p3">
              <a:extLst>
                <a:ext uri="{FF2B5EF4-FFF2-40B4-BE49-F238E27FC236}">
                  <a16:creationId xmlns:a16="http://schemas.microsoft.com/office/drawing/2014/main" id="{F5F27512-2E2E-DEE1-E2EC-9237C3840FFD}"/>
                </a:ext>
              </a:extLst>
            </p:cNvPr>
            <p:cNvSpPr txBox="1"/>
            <p:nvPr/>
          </p:nvSpPr>
          <p:spPr>
            <a:xfrm>
              <a:off x="4648802" y="2867450"/>
              <a:ext cx="825334" cy="36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46" b="0" i="0" u="none" strike="noStrike" cap="none">
                  <a:solidFill>
                    <a:srgbClr val="9E2924"/>
                  </a:solidFill>
                  <a:latin typeface="Calibri"/>
                  <a:ea typeface="Arial"/>
                  <a:cs typeface="Calibri"/>
                  <a:sym typeface="Calibri"/>
                </a:rPr>
                <a:t>POD 1</a:t>
              </a:r>
              <a:endParaRPr lang="en-US"/>
            </a:p>
          </p:txBody>
        </p:sp>
        <p:sp>
          <p:nvSpPr>
            <p:cNvPr id="79" name="Google Shape;886;p3">
              <a:extLst>
                <a:ext uri="{FF2B5EF4-FFF2-40B4-BE49-F238E27FC236}">
                  <a16:creationId xmlns:a16="http://schemas.microsoft.com/office/drawing/2014/main" id="{E73B11A0-6F73-B7D1-A18E-D86AA2BBFC30}"/>
                </a:ext>
              </a:extLst>
            </p:cNvPr>
            <p:cNvSpPr txBox="1"/>
            <p:nvPr/>
          </p:nvSpPr>
          <p:spPr>
            <a:xfrm>
              <a:off x="5663709" y="3859706"/>
              <a:ext cx="825334" cy="36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46" b="0" i="0" u="none" strike="noStrike" cap="none">
                  <a:solidFill>
                    <a:srgbClr val="9E2924"/>
                  </a:solidFill>
                  <a:latin typeface="Calibri"/>
                  <a:ea typeface="Arial"/>
                  <a:cs typeface="Calibri"/>
                  <a:sym typeface="Calibri"/>
                </a:rPr>
                <a:t>POD 2</a:t>
              </a:r>
              <a:endParaRPr lang="en-US"/>
            </a:p>
          </p:txBody>
        </p:sp>
        <p:sp>
          <p:nvSpPr>
            <p:cNvPr id="80" name="Google Shape;887;p3">
              <a:extLst>
                <a:ext uri="{FF2B5EF4-FFF2-40B4-BE49-F238E27FC236}">
                  <a16:creationId xmlns:a16="http://schemas.microsoft.com/office/drawing/2014/main" id="{FBC62FB2-B1FA-858B-025E-4F8732108276}"/>
                </a:ext>
              </a:extLst>
            </p:cNvPr>
            <p:cNvSpPr txBox="1"/>
            <p:nvPr/>
          </p:nvSpPr>
          <p:spPr>
            <a:xfrm>
              <a:off x="4640994" y="4788262"/>
              <a:ext cx="825334" cy="36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46" b="0" i="0" u="none" strike="noStrike" cap="none">
                  <a:solidFill>
                    <a:srgbClr val="9E2924"/>
                  </a:solidFill>
                  <a:latin typeface="Calibri"/>
                  <a:ea typeface="Arial"/>
                  <a:cs typeface="Calibri"/>
                  <a:sym typeface="Calibri"/>
                </a:rPr>
                <a:t>POD 3</a:t>
              </a:r>
              <a:endParaRPr lang="en-US"/>
            </a:p>
          </p:txBody>
        </p:sp>
        <p:sp>
          <p:nvSpPr>
            <p:cNvPr id="81" name="Google Shape;890;p3">
              <a:extLst>
                <a:ext uri="{FF2B5EF4-FFF2-40B4-BE49-F238E27FC236}">
                  <a16:creationId xmlns:a16="http://schemas.microsoft.com/office/drawing/2014/main" id="{0E8E6EB7-728F-1532-0882-0F25980E82A1}"/>
                </a:ext>
              </a:extLst>
            </p:cNvPr>
            <p:cNvSpPr txBox="1"/>
            <p:nvPr/>
          </p:nvSpPr>
          <p:spPr>
            <a:xfrm>
              <a:off x="8005288" y="4031009"/>
              <a:ext cx="825334" cy="36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46" b="0" i="0" u="none" strike="noStrike" cap="none">
                  <a:solidFill>
                    <a:srgbClr val="9E2924"/>
                  </a:solidFill>
                  <a:latin typeface="Calibri"/>
                  <a:ea typeface="Arial"/>
                  <a:cs typeface="Calibri"/>
                  <a:sym typeface="Calibri"/>
                </a:rPr>
                <a:t>POD 6</a:t>
              </a:r>
              <a:endParaRPr lang="en-US"/>
            </a:p>
          </p:txBody>
        </p:sp>
        <p:sp>
          <p:nvSpPr>
            <p:cNvPr id="82" name="Google Shape;891;p3">
              <a:extLst>
                <a:ext uri="{FF2B5EF4-FFF2-40B4-BE49-F238E27FC236}">
                  <a16:creationId xmlns:a16="http://schemas.microsoft.com/office/drawing/2014/main" id="{FD96FA35-EDD6-2EC5-7B33-CC5E8E7F3A23}"/>
                </a:ext>
              </a:extLst>
            </p:cNvPr>
            <p:cNvSpPr txBox="1"/>
            <p:nvPr/>
          </p:nvSpPr>
          <p:spPr>
            <a:xfrm>
              <a:off x="2995410" y="2567880"/>
              <a:ext cx="825334" cy="36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46" b="0" i="0" u="none" strike="noStrike" cap="none">
                  <a:solidFill>
                    <a:srgbClr val="9E2924"/>
                  </a:solidFill>
                  <a:latin typeface="Calibri"/>
                  <a:ea typeface="Arial"/>
                  <a:cs typeface="Calibri"/>
                  <a:sym typeface="Calibri"/>
                </a:rPr>
                <a:t>POD 4</a:t>
              </a:r>
              <a:endParaRPr lang="en-US"/>
            </a:p>
          </p:txBody>
        </p:sp>
        <p:cxnSp>
          <p:nvCxnSpPr>
            <p:cNvPr id="83" name="Google Shape;894;p3">
              <a:extLst>
                <a:ext uri="{FF2B5EF4-FFF2-40B4-BE49-F238E27FC236}">
                  <a16:creationId xmlns:a16="http://schemas.microsoft.com/office/drawing/2014/main" id="{9B406A0C-11BB-5606-10DF-0F787CD39858}"/>
                </a:ext>
              </a:extLst>
            </p:cNvPr>
            <p:cNvCxnSpPr>
              <a:cxnSpLocks/>
            </p:cNvCxnSpPr>
            <p:nvPr/>
          </p:nvCxnSpPr>
          <p:spPr>
            <a:xfrm>
              <a:off x="7317442" y="3639629"/>
              <a:ext cx="435941" cy="2837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84" name="Google Shape;896;p3">
              <a:extLst>
                <a:ext uri="{FF2B5EF4-FFF2-40B4-BE49-F238E27FC236}">
                  <a16:creationId xmlns:a16="http://schemas.microsoft.com/office/drawing/2014/main" id="{E6EFDFA7-60A6-9E71-F224-AD0D67C351CA}"/>
                </a:ext>
              </a:extLst>
            </p:cNvPr>
            <p:cNvSpPr txBox="1"/>
            <p:nvPr/>
          </p:nvSpPr>
          <p:spPr>
            <a:xfrm>
              <a:off x="5215119" y="898032"/>
              <a:ext cx="2912949" cy="4157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602" b="1" i="0" u="none" strike="noStrike" cap="none">
                  <a:solidFill>
                    <a:schemeClr val="dk1"/>
                  </a:solidFill>
                  <a:latin typeface="Calibri"/>
                  <a:ea typeface="Arial"/>
                  <a:cs typeface="Calibri"/>
                  <a:sym typeface="Calibri"/>
                </a:rPr>
                <a:t>Namespace : workflow-engine</a:t>
              </a:r>
              <a:endParaRPr lang="en-US"/>
            </a:p>
          </p:txBody>
        </p:sp>
        <p:sp>
          <p:nvSpPr>
            <p:cNvPr id="85" name="Google Shape;897;p3">
              <a:extLst>
                <a:ext uri="{FF2B5EF4-FFF2-40B4-BE49-F238E27FC236}">
                  <a16:creationId xmlns:a16="http://schemas.microsoft.com/office/drawing/2014/main" id="{AE45CEAB-84D4-B8A7-9A56-398C55F41B7D}"/>
                </a:ext>
              </a:extLst>
            </p:cNvPr>
            <p:cNvSpPr txBox="1"/>
            <p:nvPr/>
          </p:nvSpPr>
          <p:spPr>
            <a:xfrm>
              <a:off x="6898209" y="5318434"/>
              <a:ext cx="825334" cy="36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46" b="0" i="0" u="none" strike="noStrike" cap="none">
                  <a:solidFill>
                    <a:srgbClr val="9E2924"/>
                  </a:solidFill>
                  <a:latin typeface="Calibri"/>
                  <a:ea typeface="Arial"/>
                  <a:cs typeface="Calibri"/>
                  <a:sym typeface="Calibri"/>
                </a:rPr>
                <a:t>POD 5</a:t>
              </a:r>
              <a:endParaRPr lang="en-US"/>
            </a:p>
          </p:txBody>
        </p:sp>
        <p:sp>
          <p:nvSpPr>
            <p:cNvPr id="86" name="Google Shape;898;p3">
              <a:extLst>
                <a:ext uri="{FF2B5EF4-FFF2-40B4-BE49-F238E27FC236}">
                  <a16:creationId xmlns:a16="http://schemas.microsoft.com/office/drawing/2014/main" id="{067EC61B-2CE9-EA47-0373-68DBFF620A3C}"/>
                </a:ext>
              </a:extLst>
            </p:cNvPr>
            <p:cNvSpPr/>
            <p:nvPr/>
          </p:nvSpPr>
          <p:spPr>
            <a:xfrm>
              <a:off x="9792406" y="2385867"/>
              <a:ext cx="2097999" cy="2669081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99;p3">
              <a:extLst>
                <a:ext uri="{FF2B5EF4-FFF2-40B4-BE49-F238E27FC236}">
                  <a16:creationId xmlns:a16="http://schemas.microsoft.com/office/drawing/2014/main" id="{90E27CAF-68AB-DDE6-7F35-481EE293399C}"/>
                </a:ext>
              </a:extLst>
            </p:cNvPr>
            <p:cNvSpPr txBox="1"/>
            <p:nvPr/>
          </p:nvSpPr>
          <p:spPr>
            <a:xfrm>
              <a:off x="10421668" y="3400218"/>
              <a:ext cx="825334" cy="36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46" b="0" i="0" u="none" strike="noStrike" cap="none">
                  <a:solidFill>
                    <a:srgbClr val="9E2924"/>
                  </a:solidFill>
                  <a:latin typeface="Calibri"/>
                  <a:ea typeface="Arial"/>
                  <a:cs typeface="Calibri"/>
                  <a:sym typeface="Calibri"/>
                </a:rPr>
                <a:t>POD 7</a:t>
              </a:r>
              <a:endParaRPr lang="en-US"/>
            </a:p>
          </p:txBody>
        </p:sp>
        <p:sp>
          <p:nvSpPr>
            <p:cNvPr id="88" name="Google Shape;900;p3">
              <a:extLst>
                <a:ext uri="{FF2B5EF4-FFF2-40B4-BE49-F238E27FC236}">
                  <a16:creationId xmlns:a16="http://schemas.microsoft.com/office/drawing/2014/main" id="{CBB368A9-7D4E-A7FB-1794-80AC1EC35DB4}"/>
                </a:ext>
              </a:extLst>
            </p:cNvPr>
            <p:cNvSpPr/>
            <p:nvPr/>
          </p:nvSpPr>
          <p:spPr>
            <a:xfrm>
              <a:off x="10011570" y="2676462"/>
              <a:ext cx="1673485" cy="76314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602" b="0" i="0" u="none" strike="noStrike" cap="none">
                  <a:solidFill>
                    <a:srgbClr val="555555"/>
                  </a:solidFill>
                  <a:latin typeface="Calibri"/>
                  <a:ea typeface="Arial"/>
                  <a:cs typeface="Calibri"/>
                  <a:sym typeface="Calibri"/>
                </a:rPr>
                <a:t>MICROSERVICE 1</a:t>
              </a:r>
              <a:endParaRPr lang="en-US"/>
            </a:p>
          </p:txBody>
        </p:sp>
        <p:sp>
          <p:nvSpPr>
            <p:cNvPr id="89" name="Google Shape;901;p3">
              <a:extLst>
                <a:ext uri="{FF2B5EF4-FFF2-40B4-BE49-F238E27FC236}">
                  <a16:creationId xmlns:a16="http://schemas.microsoft.com/office/drawing/2014/main" id="{05A228EC-F4FF-8011-E7A3-0BC701D17E82}"/>
                </a:ext>
              </a:extLst>
            </p:cNvPr>
            <p:cNvSpPr/>
            <p:nvPr/>
          </p:nvSpPr>
          <p:spPr>
            <a:xfrm>
              <a:off x="10011570" y="3857416"/>
              <a:ext cx="1673486" cy="76249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602" b="0" i="0" u="none" strike="noStrike" cap="none">
                  <a:solidFill>
                    <a:srgbClr val="555555"/>
                  </a:solidFill>
                  <a:latin typeface="Calibri"/>
                  <a:ea typeface="Arial"/>
                  <a:cs typeface="Calibri"/>
                  <a:sym typeface="Calibri"/>
                </a:rPr>
                <a:t>MICROSERVICE 2</a:t>
              </a:r>
              <a:endParaRPr lang="en-US"/>
            </a:p>
          </p:txBody>
        </p:sp>
        <p:sp>
          <p:nvSpPr>
            <p:cNvPr id="90" name="Google Shape;903;p3">
              <a:extLst>
                <a:ext uri="{FF2B5EF4-FFF2-40B4-BE49-F238E27FC236}">
                  <a16:creationId xmlns:a16="http://schemas.microsoft.com/office/drawing/2014/main" id="{C9575DEE-7367-7EF7-B3AB-1BDCDC8EB976}"/>
                </a:ext>
              </a:extLst>
            </p:cNvPr>
            <p:cNvSpPr txBox="1"/>
            <p:nvPr/>
          </p:nvSpPr>
          <p:spPr>
            <a:xfrm>
              <a:off x="10462625" y="4634544"/>
              <a:ext cx="825334" cy="36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46" b="0" i="0" u="none" strike="noStrike" cap="none">
                  <a:solidFill>
                    <a:srgbClr val="9E2924"/>
                  </a:solidFill>
                  <a:latin typeface="Calibri"/>
                  <a:ea typeface="Arial"/>
                  <a:cs typeface="Calibri"/>
                  <a:sym typeface="Calibri"/>
                </a:rPr>
                <a:t>POD 8</a:t>
              </a:r>
              <a:endParaRPr lang="en-US"/>
            </a:p>
          </p:txBody>
        </p:sp>
        <p:sp>
          <p:nvSpPr>
            <p:cNvPr id="91" name="Google Shape;905;p3">
              <a:extLst>
                <a:ext uri="{FF2B5EF4-FFF2-40B4-BE49-F238E27FC236}">
                  <a16:creationId xmlns:a16="http://schemas.microsoft.com/office/drawing/2014/main" id="{905EA45D-4F7E-6658-6A41-5DEC25770EE2}"/>
                </a:ext>
              </a:extLst>
            </p:cNvPr>
            <p:cNvSpPr txBox="1"/>
            <p:nvPr/>
          </p:nvSpPr>
          <p:spPr>
            <a:xfrm>
              <a:off x="9767215" y="1427023"/>
              <a:ext cx="2605818" cy="4157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602" b="1" i="0" u="none" strike="noStrike" cap="none">
                  <a:solidFill>
                    <a:schemeClr val="dk1"/>
                  </a:solidFill>
                  <a:latin typeface="Calibri"/>
                  <a:ea typeface="Arial"/>
                  <a:cs typeface="Calibri"/>
                  <a:sym typeface="Calibri"/>
                </a:rPr>
                <a:t>Namespace : microservice</a:t>
              </a:r>
              <a:endParaRPr lang="en-US"/>
            </a:p>
          </p:txBody>
        </p:sp>
        <p:sp>
          <p:nvSpPr>
            <p:cNvPr id="92" name="Google Shape;906;p3">
              <a:extLst>
                <a:ext uri="{FF2B5EF4-FFF2-40B4-BE49-F238E27FC236}">
                  <a16:creationId xmlns:a16="http://schemas.microsoft.com/office/drawing/2014/main" id="{B5ABE3F4-3B60-DBF1-7710-CBB689F4901D}"/>
                </a:ext>
              </a:extLst>
            </p:cNvPr>
            <p:cNvSpPr/>
            <p:nvPr/>
          </p:nvSpPr>
          <p:spPr>
            <a:xfrm>
              <a:off x="905134" y="2730692"/>
              <a:ext cx="1514119" cy="1547107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07;p3">
              <a:extLst>
                <a:ext uri="{FF2B5EF4-FFF2-40B4-BE49-F238E27FC236}">
                  <a16:creationId xmlns:a16="http://schemas.microsoft.com/office/drawing/2014/main" id="{28AD6224-704C-4C80-D46B-4A996ABCB40C}"/>
                </a:ext>
              </a:extLst>
            </p:cNvPr>
            <p:cNvSpPr/>
            <p:nvPr/>
          </p:nvSpPr>
          <p:spPr>
            <a:xfrm>
              <a:off x="1007801" y="2968987"/>
              <a:ext cx="1297381" cy="90555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602" b="0" i="0" u="none" strike="noStrike" cap="none">
                  <a:solidFill>
                    <a:srgbClr val="555555"/>
                  </a:solidFill>
                  <a:latin typeface="Calibri"/>
                  <a:ea typeface="Arial"/>
                  <a:cs typeface="Calibri"/>
                  <a:sym typeface="Calibri"/>
                </a:rPr>
                <a:t>AWS SQS CONNECTOR</a:t>
              </a:r>
              <a:endParaRPr lang="en-US"/>
            </a:p>
          </p:txBody>
        </p:sp>
        <p:cxnSp>
          <p:nvCxnSpPr>
            <p:cNvPr id="94" name="Google Shape;909;p3">
              <a:extLst>
                <a:ext uri="{FF2B5EF4-FFF2-40B4-BE49-F238E27FC236}">
                  <a16:creationId xmlns:a16="http://schemas.microsoft.com/office/drawing/2014/main" id="{F309FEA8-B374-D92B-A11F-E5D856D0450B}"/>
                </a:ext>
              </a:extLst>
            </p:cNvPr>
            <p:cNvCxnSpPr>
              <a:cxnSpLocks/>
              <a:stCxn id="93" idx="3"/>
            </p:cNvCxnSpPr>
            <p:nvPr/>
          </p:nvCxnSpPr>
          <p:spPr>
            <a:xfrm>
              <a:off x="2305182" y="3421763"/>
              <a:ext cx="1043440" cy="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5" name="Google Shape;911;p3">
              <a:extLst>
                <a:ext uri="{FF2B5EF4-FFF2-40B4-BE49-F238E27FC236}">
                  <a16:creationId xmlns:a16="http://schemas.microsoft.com/office/drawing/2014/main" id="{F86129B6-1A2C-B9A8-9141-269E97A34B48}"/>
                </a:ext>
              </a:extLst>
            </p:cNvPr>
            <p:cNvSpPr txBox="1"/>
            <p:nvPr/>
          </p:nvSpPr>
          <p:spPr>
            <a:xfrm>
              <a:off x="1399431" y="3891885"/>
              <a:ext cx="825334" cy="36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46" b="0" i="0" u="none" strike="noStrike" cap="none">
                  <a:solidFill>
                    <a:srgbClr val="9E2924"/>
                  </a:solidFill>
                  <a:latin typeface="Calibri"/>
                  <a:ea typeface="Arial"/>
                  <a:cs typeface="Calibri"/>
                  <a:sym typeface="Calibri"/>
                </a:rPr>
                <a:t>POD 9</a:t>
              </a:r>
              <a:endParaRPr lang="en-US"/>
            </a:p>
          </p:txBody>
        </p:sp>
        <p:sp>
          <p:nvSpPr>
            <p:cNvPr id="96" name="Google Shape;913;p3">
              <a:extLst>
                <a:ext uri="{FF2B5EF4-FFF2-40B4-BE49-F238E27FC236}">
                  <a16:creationId xmlns:a16="http://schemas.microsoft.com/office/drawing/2014/main" id="{63678614-F30E-80E8-D925-A2BE4600EC65}"/>
                </a:ext>
              </a:extLst>
            </p:cNvPr>
            <p:cNvSpPr txBox="1"/>
            <p:nvPr/>
          </p:nvSpPr>
          <p:spPr>
            <a:xfrm>
              <a:off x="867730" y="1515816"/>
              <a:ext cx="1765679" cy="4157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602" b="1" i="0" u="none" strike="noStrike" cap="none">
                  <a:solidFill>
                    <a:schemeClr val="dk1"/>
                  </a:solidFill>
                  <a:latin typeface="Calibri"/>
                  <a:ea typeface="Arial"/>
                  <a:cs typeface="Calibri"/>
                  <a:sym typeface="Calibri"/>
                </a:rPr>
                <a:t>Namespace : app</a:t>
              </a:r>
              <a:endParaRPr lang="en-US"/>
            </a:p>
          </p:txBody>
        </p:sp>
        <p:cxnSp>
          <p:nvCxnSpPr>
            <p:cNvPr id="97" name="Google Shape;920;p3">
              <a:extLst>
                <a:ext uri="{FF2B5EF4-FFF2-40B4-BE49-F238E27FC236}">
                  <a16:creationId xmlns:a16="http://schemas.microsoft.com/office/drawing/2014/main" id="{D17D0BA2-425E-2E55-D2CE-DCCC0DD099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33409" y="1367955"/>
              <a:ext cx="9461" cy="2053808"/>
            </a:xfrm>
            <a:prstGeom prst="straightConnector1">
              <a:avLst/>
            </a:prstGeom>
            <a:noFill/>
            <a:ln w="19050" cap="flat" cmpd="sng">
              <a:solidFill>
                <a:srgbClr val="205867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8" name="Google Shape;921;p3">
              <a:extLst>
                <a:ext uri="{FF2B5EF4-FFF2-40B4-BE49-F238E27FC236}">
                  <a16:creationId xmlns:a16="http://schemas.microsoft.com/office/drawing/2014/main" id="{CDDCD287-80CB-E21B-4FF4-DF5C84C88268}"/>
                </a:ext>
              </a:extLst>
            </p:cNvPr>
            <p:cNvCxnSpPr>
              <a:cxnSpLocks/>
            </p:cNvCxnSpPr>
            <p:nvPr/>
          </p:nvCxnSpPr>
          <p:spPr>
            <a:xfrm>
              <a:off x="2652088" y="1367955"/>
              <a:ext cx="6733719" cy="3147"/>
            </a:xfrm>
            <a:prstGeom prst="straightConnector1">
              <a:avLst/>
            </a:prstGeom>
            <a:noFill/>
            <a:ln w="19050" cap="flat" cmpd="sng">
              <a:solidFill>
                <a:srgbClr val="20586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22;p3">
              <a:extLst>
                <a:ext uri="{FF2B5EF4-FFF2-40B4-BE49-F238E27FC236}">
                  <a16:creationId xmlns:a16="http://schemas.microsoft.com/office/drawing/2014/main" id="{A6AAAEA9-1711-6E03-5326-CAEAD3D5300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35" y="1367955"/>
              <a:ext cx="0" cy="2855407"/>
            </a:xfrm>
            <a:prstGeom prst="straightConnector1">
              <a:avLst/>
            </a:prstGeom>
            <a:noFill/>
            <a:ln w="19050" cap="flat" cmpd="sng">
              <a:solidFill>
                <a:srgbClr val="20586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923;p3">
              <a:extLst>
                <a:ext uri="{FF2B5EF4-FFF2-40B4-BE49-F238E27FC236}">
                  <a16:creationId xmlns:a16="http://schemas.microsoft.com/office/drawing/2014/main" id="{16AB1DAE-7177-6724-7A3E-93AAF5518A99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9389117" y="3058035"/>
              <a:ext cx="622453" cy="0"/>
            </a:xfrm>
            <a:prstGeom prst="straightConnector1">
              <a:avLst/>
            </a:prstGeom>
            <a:noFill/>
            <a:ln w="19050" cap="flat" cmpd="sng">
              <a:solidFill>
                <a:srgbClr val="205867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1" name="Google Shape;924;p3">
              <a:extLst>
                <a:ext uri="{FF2B5EF4-FFF2-40B4-BE49-F238E27FC236}">
                  <a16:creationId xmlns:a16="http://schemas.microsoft.com/office/drawing/2014/main" id="{4C41AD05-5700-17DE-DC8C-E020195A7330}"/>
                </a:ext>
              </a:extLst>
            </p:cNvPr>
            <p:cNvCxnSpPr>
              <a:cxnSpLocks/>
            </p:cNvCxnSpPr>
            <p:nvPr/>
          </p:nvCxnSpPr>
          <p:spPr>
            <a:xfrm>
              <a:off x="9400495" y="4223362"/>
              <a:ext cx="585866" cy="0"/>
            </a:xfrm>
            <a:prstGeom prst="straightConnector1">
              <a:avLst/>
            </a:prstGeom>
            <a:noFill/>
            <a:ln w="19050" cap="flat" cmpd="sng">
              <a:solidFill>
                <a:srgbClr val="205867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02" name="Google Shape;926;p3">
              <a:extLst>
                <a:ext uri="{FF2B5EF4-FFF2-40B4-BE49-F238E27FC236}">
                  <a16:creationId xmlns:a16="http://schemas.microsoft.com/office/drawing/2014/main" id="{574032BD-D8F3-3D26-1264-D2335FAE7F2B}"/>
                </a:ext>
              </a:extLst>
            </p:cNvPr>
            <p:cNvSpPr txBox="1"/>
            <p:nvPr/>
          </p:nvSpPr>
          <p:spPr>
            <a:xfrm>
              <a:off x="5732917" y="6970047"/>
              <a:ext cx="3155918" cy="552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492" b="0" i="0" u="none" strike="noStrike" cap="none" dirty="0">
                  <a:solidFill>
                    <a:srgbClr val="FFC000"/>
                  </a:solidFill>
                  <a:latin typeface="Calibri"/>
                  <a:ea typeface="Arial"/>
                  <a:cs typeface="Calibri"/>
                  <a:sym typeface="Calibri"/>
                </a:rPr>
                <a:t>KUBERNETES CLUSTER</a:t>
              </a:r>
              <a:endParaRPr lang="en-US" dirty="0">
                <a:solidFill>
                  <a:srgbClr val="FFC000"/>
                </a:solidFill>
              </a:endParaRPr>
            </a:p>
          </p:txBody>
        </p:sp>
        <p:sp>
          <p:nvSpPr>
            <p:cNvPr id="103" name="Google Shape;914;p3">
              <a:extLst>
                <a:ext uri="{FF2B5EF4-FFF2-40B4-BE49-F238E27FC236}">
                  <a16:creationId xmlns:a16="http://schemas.microsoft.com/office/drawing/2014/main" id="{5887A0B1-9EB8-D2D7-B6F0-CC29D7F21404}"/>
                </a:ext>
              </a:extLst>
            </p:cNvPr>
            <p:cNvSpPr/>
            <p:nvPr/>
          </p:nvSpPr>
          <p:spPr>
            <a:xfrm>
              <a:off x="12579229" y="2936747"/>
              <a:ext cx="896342" cy="167451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915;p3">
              <a:extLst>
                <a:ext uri="{FF2B5EF4-FFF2-40B4-BE49-F238E27FC236}">
                  <a16:creationId xmlns:a16="http://schemas.microsoft.com/office/drawing/2014/main" id="{8F55A347-2D68-40F5-C168-3C34F2AB0F27}"/>
                </a:ext>
              </a:extLst>
            </p:cNvPr>
            <p:cNvSpPr/>
            <p:nvPr/>
          </p:nvSpPr>
          <p:spPr>
            <a:xfrm>
              <a:off x="12828973" y="3176710"/>
              <a:ext cx="488207" cy="988752"/>
            </a:xfrm>
            <a:prstGeom prst="flowChartMagneticDisk">
              <a:avLst/>
            </a:prstGeom>
            <a:solidFill>
              <a:schemeClr val="accent1"/>
            </a:solidFill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602" b="0" i="0" u="none" strike="noStrike" cap="none">
                  <a:solidFill>
                    <a:srgbClr val="555555"/>
                  </a:solidFill>
                  <a:latin typeface="Calibri"/>
                  <a:ea typeface="Arial"/>
                  <a:cs typeface="Calibri"/>
                  <a:sym typeface="Calibri"/>
                </a:rPr>
                <a:t>DB</a:t>
              </a:r>
              <a:endParaRPr lang="en-US"/>
            </a:p>
          </p:txBody>
        </p:sp>
        <p:sp>
          <p:nvSpPr>
            <p:cNvPr id="105" name="Google Shape;927;p3">
              <a:extLst>
                <a:ext uri="{FF2B5EF4-FFF2-40B4-BE49-F238E27FC236}">
                  <a16:creationId xmlns:a16="http://schemas.microsoft.com/office/drawing/2014/main" id="{05ADAF7C-DC01-9859-9236-691C322107FB}"/>
                </a:ext>
              </a:extLst>
            </p:cNvPr>
            <p:cNvSpPr txBox="1"/>
            <p:nvPr/>
          </p:nvSpPr>
          <p:spPr>
            <a:xfrm>
              <a:off x="12151751" y="2657875"/>
              <a:ext cx="1706488" cy="4157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602" b="1" i="0" u="none" strike="noStrike" cap="none">
                  <a:solidFill>
                    <a:schemeClr val="dk1"/>
                  </a:solidFill>
                  <a:latin typeface="Calibri"/>
                  <a:ea typeface="Arial"/>
                  <a:cs typeface="Calibri"/>
                  <a:sym typeface="Calibri"/>
                </a:rPr>
                <a:t>Namespace : </a:t>
              </a:r>
              <a:r>
                <a:rPr lang="en-US" sz="1602" b="1" i="0" u="none" strike="noStrike" cap="none" err="1">
                  <a:solidFill>
                    <a:schemeClr val="dk1"/>
                  </a:solidFill>
                  <a:latin typeface="Calibri"/>
                  <a:ea typeface="Arial"/>
                  <a:cs typeface="Calibri"/>
                  <a:sym typeface="Calibri"/>
                </a:rPr>
                <a:t>db</a:t>
              </a:r>
              <a:endParaRPr lang="en-US" sz="1800"/>
            </a:p>
          </p:txBody>
        </p:sp>
        <p:cxnSp>
          <p:nvCxnSpPr>
            <p:cNvPr id="106" name="Google Shape;917;p3">
              <a:extLst>
                <a:ext uri="{FF2B5EF4-FFF2-40B4-BE49-F238E27FC236}">
                  <a16:creationId xmlns:a16="http://schemas.microsoft.com/office/drawing/2014/main" id="{88C7F0AF-FD6F-618D-A135-0CEBB018218A}"/>
                </a:ext>
              </a:extLst>
            </p:cNvPr>
            <p:cNvCxnSpPr>
              <a:cxnSpLocks/>
            </p:cNvCxnSpPr>
            <p:nvPr/>
          </p:nvCxnSpPr>
          <p:spPr>
            <a:xfrm>
              <a:off x="11662995" y="2963541"/>
              <a:ext cx="1165979" cy="76666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7" name="Google Shape;918;p3">
              <a:extLst>
                <a:ext uri="{FF2B5EF4-FFF2-40B4-BE49-F238E27FC236}">
                  <a16:creationId xmlns:a16="http://schemas.microsoft.com/office/drawing/2014/main" id="{BCD933A7-29EA-EB8E-1D5F-66A75EC8A0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85055" y="3774003"/>
              <a:ext cx="1129858" cy="465785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08" name="Google Shape;916;p3">
              <a:extLst>
                <a:ext uri="{FF2B5EF4-FFF2-40B4-BE49-F238E27FC236}">
                  <a16:creationId xmlns:a16="http://schemas.microsoft.com/office/drawing/2014/main" id="{4183D187-94C1-B80E-9C92-CA9A7291C0AD}"/>
                </a:ext>
              </a:extLst>
            </p:cNvPr>
            <p:cNvSpPr txBox="1"/>
            <p:nvPr/>
          </p:nvSpPr>
          <p:spPr>
            <a:xfrm>
              <a:off x="12745753" y="4155179"/>
              <a:ext cx="825334" cy="36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46" b="0" i="0" u="none" strike="noStrike" cap="none">
                  <a:solidFill>
                    <a:srgbClr val="9E2924"/>
                  </a:solidFill>
                  <a:latin typeface="Calibri"/>
                  <a:ea typeface="Arial"/>
                  <a:cs typeface="Calibri"/>
                  <a:sym typeface="Calibri"/>
                </a:rPr>
                <a:t>POD 10</a:t>
              </a:r>
              <a:endParaRPr lang="en-US" sz="1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644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4EC98AE-C42C-B52C-6A0F-95A9E7ED40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"/>
            <a:ext cx="14630392" cy="82295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F67329-AA27-1AEA-DBBF-A788748E914F}"/>
              </a:ext>
            </a:extLst>
          </p:cNvPr>
          <p:cNvSpPr txBox="1"/>
          <p:nvPr/>
        </p:nvSpPr>
        <p:spPr>
          <a:xfrm>
            <a:off x="5581773" y="3041133"/>
            <a:ext cx="4594614" cy="142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240" marR="6096" indent="0">
              <a:lnSpc>
                <a:spcPct val="143611"/>
              </a:lnSpc>
              <a:buSzPts val="1400"/>
              <a:buNone/>
              <a:defRPr sz="432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 &amp; A</a:t>
            </a:r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659F32CD-4504-9577-ED7E-AE07F6E408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pic>
        <p:nvPicPr>
          <p:cNvPr id="2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CFC71D47-95CC-B84E-ECC2-AA14B176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633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4EC98AE-C42C-B52C-6A0F-95A9E7ED40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"/>
            <a:ext cx="14630392" cy="82295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F67329-AA27-1AEA-DBBF-A788748E914F}"/>
              </a:ext>
            </a:extLst>
          </p:cNvPr>
          <p:cNvSpPr txBox="1"/>
          <p:nvPr/>
        </p:nvSpPr>
        <p:spPr>
          <a:xfrm>
            <a:off x="5581773" y="3041134"/>
            <a:ext cx="31197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240" marR="6096" indent="0">
              <a:lnSpc>
                <a:spcPct val="143611"/>
              </a:lnSpc>
              <a:buSzPts val="1400"/>
              <a:buNone/>
              <a:defRPr sz="432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5400" u="sng" dirty="0"/>
              <a:t>Appendix</a:t>
            </a:r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659F32CD-4504-9577-ED7E-AE07F6E408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pic>
        <p:nvPicPr>
          <p:cNvPr id="2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CFC71D47-95CC-B84E-ECC2-AA14B176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435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4EC98AE-C42C-B52C-6A0F-95A9E7ED40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"/>
            <a:ext cx="14630392" cy="8229592"/>
          </a:xfrm>
          <a:prstGeom prst="rect">
            <a:avLst/>
          </a:prstGeom>
        </p:spPr>
      </p:pic>
      <p:pic>
        <p:nvPicPr>
          <p:cNvPr id="19" name="object 3">
            <a:extLst>
              <a:ext uri="{FF2B5EF4-FFF2-40B4-BE49-F238E27FC236}">
                <a16:creationId xmlns:a16="http://schemas.microsoft.com/office/drawing/2014/main" id="{659F32CD-4504-9577-ED7E-AE07F6E408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pic>
        <p:nvPicPr>
          <p:cNvPr id="2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CFC71D47-95CC-B84E-ECC2-AA14B176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A56C73-21AB-6965-610F-788ED2F27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936164"/>
              </p:ext>
            </p:extLst>
          </p:nvPr>
        </p:nvGraphicFramePr>
        <p:xfrm>
          <a:off x="1031304" y="1000902"/>
          <a:ext cx="13250991" cy="6575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954">
                  <a:extLst>
                    <a:ext uri="{9D8B030D-6E8A-4147-A177-3AD203B41FA5}">
                      <a16:colId xmlns:a16="http://schemas.microsoft.com/office/drawing/2014/main" val="1398372644"/>
                    </a:ext>
                  </a:extLst>
                </a:gridCol>
                <a:gridCol w="1601664">
                  <a:extLst>
                    <a:ext uri="{9D8B030D-6E8A-4147-A177-3AD203B41FA5}">
                      <a16:colId xmlns:a16="http://schemas.microsoft.com/office/drawing/2014/main" val="501586953"/>
                    </a:ext>
                  </a:extLst>
                </a:gridCol>
                <a:gridCol w="978326">
                  <a:extLst>
                    <a:ext uri="{9D8B030D-6E8A-4147-A177-3AD203B41FA5}">
                      <a16:colId xmlns:a16="http://schemas.microsoft.com/office/drawing/2014/main" val="2802174736"/>
                    </a:ext>
                  </a:extLst>
                </a:gridCol>
                <a:gridCol w="1220218">
                  <a:extLst>
                    <a:ext uri="{9D8B030D-6E8A-4147-A177-3AD203B41FA5}">
                      <a16:colId xmlns:a16="http://schemas.microsoft.com/office/drawing/2014/main" val="2468238852"/>
                    </a:ext>
                  </a:extLst>
                </a:gridCol>
                <a:gridCol w="1021121">
                  <a:extLst>
                    <a:ext uri="{9D8B030D-6E8A-4147-A177-3AD203B41FA5}">
                      <a16:colId xmlns:a16="http://schemas.microsoft.com/office/drawing/2014/main" val="3764157701"/>
                    </a:ext>
                  </a:extLst>
                </a:gridCol>
                <a:gridCol w="3293053">
                  <a:extLst>
                    <a:ext uri="{9D8B030D-6E8A-4147-A177-3AD203B41FA5}">
                      <a16:colId xmlns:a16="http://schemas.microsoft.com/office/drawing/2014/main" val="708998574"/>
                    </a:ext>
                  </a:extLst>
                </a:gridCol>
                <a:gridCol w="4500655">
                  <a:extLst>
                    <a:ext uri="{9D8B030D-6E8A-4147-A177-3AD203B41FA5}">
                      <a16:colId xmlns:a16="http://schemas.microsoft.com/office/drawing/2014/main" val="4289987889"/>
                    </a:ext>
                  </a:extLst>
                </a:gridCol>
              </a:tblGrid>
              <a:tr h="423732"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vCPUs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Memory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Disk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Nodes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96537" marR="96537" marT="48269" marB="48269"/>
                </a:tc>
                <a:extLst>
                  <a:ext uri="{0D108BD9-81ED-4DB2-BD59-A6C34878D82A}">
                    <a16:rowId xmlns:a16="http://schemas.microsoft.com/office/drawing/2014/main" val="2363368593"/>
                  </a:ext>
                </a:extLst>
              </a:tr>
              <a:tr h="999934"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Zeebe Gateway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with 1, Scale is needed. Default is 2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 compute optimized processors like Arm CPU or 3</a:t>
                      </a:r>
                      <a:r>
                        <a:rPr lang="en-US" sz="1900" baseline="30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rd</a:t>
                      </a:r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 AMD or Intel Processors</a:t>
                      </a:r>
                    </a:p>
                  </a:txBody>
                  <a:tcPr marL="96537" marR="96537" marT="48269" marB="48269"/>
                </a:tc>
                <a:extLst>
                  <a:ext uri="{0D108BD9-81ED-4DB2-BD59-A6C34878D82A}">
                    <a16:rowId xmlns:a16="http://schemas.microsoft.com/office/drawing/2014/main" val="1173017685"/>
                  </a:ext>
                </a:extLst>
              </a:tr>
              <a:tr h="3016641"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Zeebe Brokers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100GB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with 3, scale if needed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 compute optimized processors like Arm CPU or 3</a:t>
                      </a:r>
                      <a:r>
                        <a:rPr lang="en-US" sz="1900" baseline="30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rd</a:t>
                      </a:r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 AMD or Intel Processors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SSD disk types provides better IO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with 5 partition with 3 broker / nodes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Based on experience, we would need 7 brokers with 12 partition. We need to do performance test and scale from 3 as needed</a:t>
                      </a:r>
                    </a:p>
                  </a:txBody>
                  <a:tcPr marL="96537" marR="96537" marT="48269" marB="48269"/>
                </a:tc>
                <a:extLst>
                  <a:ext uri="{0D108BD9-81ED-4DB2-BD59-A6C34878D82A}">
                    <a16:rowId xmlns:a16="http://schemas.microsoft.com/office/drawing/2014/main" val="3648971098"/>
                  </a:ext>
                </a:extLst>
              </a:tr>
              <a:tr h="423732"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Workers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with 2, scale if needed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endParaRPr lang="en-US" sz="19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6537" marR="96537" marT="48269" marB="48269"/>
                </a:tc>
                <a:extLst>
                  <a:ext uri="{0D108BD9-81ED-4DB2-BD59-A6C34878D82A}">
                    <a16:rowId xmlns:a16="http://schemas.microsoft.com/office/drawing/2014/main" val="3874323796"/>
                  </a:ext>
                </a:extLst>
              </a:tr>
              <a:tr h="999934"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Elastic Search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250GB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endParaRPr lang="en-US" sz="19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Retentions period</a:t>
                      </a:r>
                      <a:b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Operate 30 to 90 days</a:t>
                      </a:r>
                      <a:b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Optimize: is it needed, 6 to 18 months</a:t>
                      </a:r>
                    </a:p>
                  </a:txBody>
                  <a:tcPr marL="96537" marR="96537" marT="48269" marB="48269"/>
                </a:tc>
                <a:extLst>
                  <a:ext uri="{0D108BD9-81ED-4DB2-BD59-A6C34878D82A}">
                    <a16:rowId xmlns:a16="http://schemas.microsoft.com/office/drawing/2014/main" val="2390144691"/>
                  </a:ext>
                </a:extLst>
              </a:tr>
              <a:tr h="711833">
                <a:tc>
                  <a:txBody>
                    <a:bodyPr/>
                    <a:lstStyle/>
                    <a:p>
                      <a:r>
                        <a:rPr lang="en-US" sz="19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Prometheus and Grafana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100GB</a:t>
                      </a: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6537" marR="96537" marT="48269" marB="48269"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6537" marR="96537" marT="48269" marB="48269"/>
                </a:tc>
                <a:extLst>
                  <a:ext uri="{0D108BD9-81ED-4DB2-BD59-A6C34878D82A}">
                    <a16:rowId xmlns:a16="http://schemas.microsoft.com/office/drawing/2014/main" val="21192354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002E313-7736-19C3-CC9B-FD8164F6D5B1}"/>
              </a:ext>
            </a:extLst>
          </p:cNvPr>
          <p:cNvSpPr txBox="1"/>
          <p:nvPr/>
        </p:nvSpPr>
        <p:spPr>
          <a:xfrm>
            <a:off x="4789288" y="125727"/>
            <a:ext cx="505181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240" marR="6096" indent="0">
              <a:lnSpc>
                <a:spcPct val="143611"/>
              </a:lnSpc>
              <a:buSzPts val="1400"/>
              <a:buNone/>
              <a:defRPr sz="432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5400" u="sng" dirty="0"/>
              <a:t>Sample Sizing</a:t>
            </a:r>
          </a:p>
        </p:txBody>
      </p:sp>
    </p:spTree>
    <p:extLst>
      <p:ext uri="{BB962C8B-B14F-4D97-AF65-F5344CB8AC3E}">
        <p14:creationId xmlns:p14="http://schemas.microsoft.com/office/powerpoint/2010/main" val="270526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4EC98AE-C42C-B52C-6A0F-95A9E7ED40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"/>
            <a:ext cx="14630392" cy="8229592"/>
          </a:xfrm>
          <a:prstGeom prst="rect">
            <a:avLst/>
          </a:prstGeom>
        </p:spPr>
      </p:pic>
      <p:pic>
        <p:nvPicPr>
          <p:cNvPr id="19" name="object 3">
            <a:extLst>
              <a:ext uri="{FF2B5EF4-FFF2-40B4-BE49-F238E27FC236}">
                <a16:creationId xmlns:a16="http://schemas.microsoft.com/office/drawing/2014/main" id="{659F32CD-4504-9577-ED7E-AE07F6E408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pic>
        <p:nvPicPr>
          <p:cNvPr id="2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CFC71D47-95CC-B84E-ECC2-AA14B176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02E313-7736-19C3-CC9B-FD8164F6D5B1}"/>
              </a:ext>
            </a:extLst>
          </p:cNvPr>
          <p:cNvSpPr txBox="1"/>
          <p:nvPr/>
        </p:nvSpPr>
        <p:spPr>
          <a:xfrm>
            <a:off x="4789288" y="125727"/>
            <a:ext cx="505181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240" marR="6096" indent="0">
              <a:lnSpc>
                <a:spcPct val="143611"/>
              </a:lnSpc>
              <a:buSzPts val="1400"/>
              <a:buNone/>
              <a:defRPr sz="432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5400" u="sng" dirty="0"/>
              <a:t>Sample Sizing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3201F-B265-C148-E8B7-A26DC24D4048}"/>
              </a:ext>
            </a:extLst>
          </p:cNvPr>
          <p:cNvSpPr txBox="1"/>
          <p:nvPr/>
        </p:nvSpPr>
        <p:spPr>
          <a:xfrm>
            <a:off x="560439" y="1193439"/>
            <a:ext cx="13260738" cy="17556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kern="1200" dirty="0">
                <a:solidFill>
                  <a:schemeClr val="tx1"/>
                </a:solidFill>
              </a:rPr>
              <a:t>Microservices/ APIs response time should meet the below SLA to achieve Optimal end to end response time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16C973-397C-9A72-6169-85BA839BC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230137"/>
              </p:ext>
            </p:extLst>
          </p:nvPr>
        </p:nvGraphicFramePr>
        <p:xfrm>
          <a:off x="640043" y="2963245"/>
          <a:ext cx="13181132" cy="4351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68">
                  <a:extLst>
                    <a:ext uri="{9D8B030D-6E8A-4147-A177-3AD203B41FA5}">
                      <a16:colId xmlns:a16="http://schemas.microsoft.com/office/drawing/2014/main" val="2795183069"/>
                    </a:ext>
                  </a:extLst>
                </a:gridCol>
                <a:gridCol w="1529617">
                  <a:extLst>
                    <a:ext uri="{9D8B030D-6E8A-4147-A177-3AD203B41FA5}">
                      <a16:colId xmlns:a16="http://schemas.microsoft.com/office/drawing/2014/main" val="2985339858"/>
                    </a:ext>
                  </a:extLst>
                </a:gridCol>
                <a:gridCol w="1329077">
                  <a:extLst>
                    <a:ext uri="{9D8B030D-6E8A-4147-A177-3AD203B41FA5}">
                      <a16:colId xmlns:a16="http://schemas.microsoft.com/office/drawing/2014/main" val="4080204692"/>
                    </a:ext>
                  </a:extLst>
                </a:gridCol>
                <a:gridCol w="1539744">
                  <a:extLst>
                    <a:ext uri="{9D8B030D-6E8A-4147-A177-3AD203B41FA5}">
                      <a16:colId xmlns:a16="http://schemas.microsoft.com/office/drawing/2014/main" val="463157334"/>
                    </a:ext>
                  </a:extLst>
                </a:gridCol>
                <a:gridCol w="1726103">
                  <a:extLst>
                    <a:ext uri="{9D8B030D-6E8A-4147-A177-3AD203B41FA5}">
                      <a16:colId xmlns:a16="http://schemas.microsoft.com/office/drawing/2014/main" val="2247787664"/>
                    </a:ext>
                  </a:extLst>
                </a:gridCol>
                <a:gridCol w="1679514">
                  <a:extLst>
                    <a:ext uri="{9D8B030D-6E8A-4147-A177-3AD203B41FA5}">
                      <a16:colId xmlns:a16="http://schemas.microsoft.com/office/drawing/2014/main" val="2626384769"/>
                    </a:ext>
                  </a:extLst>
                </a:gridCol>
                <a:gridCol w="1663309">
                  <a:extLst>
                    <a:ext uri="{9D8B030D-6E8A-4147-A177-3AD203B41FA5}">
                      <a16:colId xmlns:a16="http://schemas.microsoft.com/office/drawing/2014/main" val="4261737845"/>
                    </a:ext>
                  </a:extLst>
                </a:gridCol>
                <a:gridCol w="1227794">
                  <a:extLst>
                    <a:ext uri="{9D8B030D-6E8A-4147-A177-3AD203B41FA5}">
                      <a16:colId xmlns:a16="http://schemas.microsoft.com/office/drawing/2014/main" val="3860957905"/>
                    </a:ext>
                  </a:extLst>
                </a:gridCol>
                <a:gridCol w="1734206">
                  <a:extLst>
                    <a:ext uri="{9D8B030D-6E8A-4147-A177-3AD203B41FA5}">
                      <a16:colId xmlns:a16="http://schemas.microsoft.com/office/drawing/2014/main" val="372840832"/>
                    </a:ext>
                  </a:extLst>
                </a:gridCol>
              </a:tblGrid>
              <a:tr h="1827177"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Process  Name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 service Calls (A)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Zeebe Overhead by task (B)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overhead per transaction (A*B)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Expected Response time per service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service  response time (B)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 Service Time </a:t>
                      </a:r>
                      <a:b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(C)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 Transaction Response Time</a:t>
                      </a:r>
                      <a:b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(A+B+C)</a:t>
                      </a:r>
                    </a:p>
                  </a:txBody>
                  <a:tcPr marL="137843" marR="137843" marT="68921" marB="68921"/>
                </a:tc>
                <a:extLst>
                  <a:ext uri="{0D108BD9-81ED-4DB2-BD59-A6C34878D82A}">
                    <a16:rowId xmlns:a16="http://schemas.microsoft.com/office/drawing/2014/main" val="2249386132"/>
                  </a:ext>
                </a:extLst>
              </a:tr>
              <a:tr h="841410"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Workflow 1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60-100ms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.54 -&gt; .9 secs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100-150ms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.9 -&gt;1.35 secs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100ms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2.35 secs</a:t>
                      </a:r>
                    </a:p>
                  </a:txBody>
                  <a:tcPr marL="137843" marR="137843" marT="68921" marB="68921"/>
                </a:tc>
                <a:extLst>
                  <a:ext uri="{0D108BD9-81ED-4DB2-BD59-A6C34878D82A}">
                    <a16:rowId xmlns:a16="http://schemas.microsoft.com/office/drawing/2014/main" val="2914112888"/>
                  </a:ext>
                </a:extLst>
              </a:tr>
              <a:tr h="841410"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Workflow 2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60-100ms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.3 -&gt; .5 secs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100-150ms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.5 -&gt;.75 secs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100ms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1.35 secs</a:t>
                      </a:r>
                    </a:p>
                  </a:txBody>
                  <a:tcPr marL="137843" marR="137843" marT="68921" marB="68921"/>
                </a:tc>
                <a:extLst>
                  <a:ext uri="{0D108BD9-81ED-4DB2-BD59-A6C34878D82A}">
                    <a16:rowId xmlns:a16="http://schemas.microsoft.com/office/drawing/2014/main" val="3095282455"/>
                  </a:ext>
                </a:extLst>
              </a:tr>
              <a:tr h="841410"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Workflow 3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60-100ms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.24 -&gt; .4 secs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100-150ms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.4 -&gt;.6 secs</a:t>
                      </a:r>
                    </a:p>
                    <a:p>
                      <a:endParaRPr lang="en-US" sz="2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100ms</a:t>
                      </a:r>
                    </a:p>
                  </a:txBody>
                  <a:tcPr marL="137843" marR="137843" marT="68921" marB="68921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1.1 secs</a:t>
                      </a:r>
                    </a:p>
                  </a:txBody>
                  <a:tcPr marL="137843" marR="137843" marT="68921" marB="68921"/>
                </a:tc>
                <a:extLst>
                  <a:ext uri="{0D108BD9-81ED-4DB2-BD59-A6C34878D82A}">
                    <a16:rowId xmlns:a16="http://schemas.microsoft.com/office/drawing/2014/main" val="3895820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863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4EC98AE-C42C-B52C-6A0F-95A9E7ED40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"/>
            <a:ext cx="14630392" cy="8229592"/>
          </a:xfrm>
          <a:prstGeom prst="rect">
            <a:avLst/>
          </a:prstGeom>
        </p:spPr>
      </p:pic>
      <p:pic>
        <p:nvPicPr>
          <p:cNvPr id="19" name="object 3">
            <a:extLst>
              <a:ext uri="{FF2B5EF4-FFF2-40B4-BE49-F238E27FC236}">
                <a16:creationId xmlns:a16="http://schemas.microsoft.com/office/drawing/2014/main" id="{659F32CD-4504-9577-ED7E-AE07F6E408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pic>
        <p:nvPicPr>
          <p:cNvPr id="2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CFC71D47-95CC-B84E-ECC2-AA14B176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02E313-7736-19C3-CC9B-FD8164F6D5B1}"/>
              </a:ext>
            </a:extLst>
          </p:cNvPr>
          <p:cNvSpPr txBox="1"/>
          <p:nvPr/>
        </p:nvSpPr>
        <p:spPr>
          <a:xfrm>
            <a:off x="4789288" y="125727"/>
            <a:ext cx="505181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240" marR="6096" indent="0">
              <a:lnSpc>
                <a:spcPct val="143611"/>
              </a:lnSpc>
              <a:buSzPts val="1400"/>
              <a:buNone/>
              <a:defRPr sz="432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5400" u="sng" dirty="0"/>
              <a:t>Sample Config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CF13E7-63F5-77C9-96A4-5D9605830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2581" y="1219179"/>
            <a:ext cx="8369715" cy="67093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2755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4EC98AE-C42C-B52C-6A0F-95A9E7ED40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"/>
            <a:ext cx="14630392" cy="82295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F67329-AA27-1AEA-DBBF-A788748E914F}"/>
              </a:ext>
            </a:extLst>
          </p:cNvPr>
          <p:cNvSpPr txBox="1"/>
          <p:nvPr/>
        </p:nvSpPr>
        <p:spPr>
          <a:xfrm>
            <a:off x="4203290" y="3041133"/>
            <a:ext cx="7123471" cy="142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240" marR="6096" indent="0">
              <a:lnSpc>
                <a:spcPct val="143611"/>
              </a:lnSpc>
              <a:buSzPts val="1400"/>
              <a:buNone/>
              <a:defRPr sz="432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</a:t>
            </a:r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659F32CD-4504-9577-ED7E-AE07F6E408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34192" y="7620000"/>
            <a:ext cx="696207" cy="420674"/>
          </a:xfrm>
          <a:prstGeom prst="rect">
            <a:avLst/>
          </a:prstGeom>
        </p:spPr>
      </p:pic>
      <p:pic>
        <p:nvPicPr>
          <p:cNvPr id="20" name="Picture 2" descr="Stream World Bank | Listen to podcast episodes online for free on SoundCloud">
            <a:extLst>
              <a:ext uri="{FF2B5EF4-FFF2-40B4-BE49-F238E27FC236}">
                <a16:creationId xmlns:a16="http://schemas.microsoft.com/office/drawing/2014/main" id="{CFC71D47-95CC-B84E-ECC2-AA14B176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5981" y="7632015"/>
            <a:ext cx="495196" cy="4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925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547E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547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547E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547E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547E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2947</TotalTime>
  <Words>821</Words>
  <Application>Microsoft Office PowerPoint</Application>
  <PresentationFormat>Custom</PresentationFormat>
  <Paragraphs>229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trebuchet ms</vt:lpstr>
      <vt:lpstr>D-DIN Condensed</vt:lpstr>
      <vt:lpstr>Arial</vt:lpstr>
      <vt:lpstr>Tahoma</vt:lpstr>
      <vt:lpstr>Calibri</vt:lpstr>
      <vt:lpstr>Verdana</vt:lpstr>
      <vt:lpstr>DIN</vt:lpstr>
      <vt:lpstr>Söhne</vt:lpstr>
      <vt:lpstr>Office Theme</vt:lpstr>
      <vt:lpstr>1_Office Theme</vt:lpstr>
      <vt:lpstr>Camunda 8 Self-Managed Deployment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Camunda 8 Self-Managed Deployment</dc:title>
  <dc:creator>Pradeep</dc:creator>
  <cp:lastModifiedBy>Muralibabu Muthukrishnan</cp:lastModifiedBy>
  <cp:revision>32</cp:revision>
  <dcterms:created xsi:type="dcterms:W3CDTF">2022-02-19T13:03:16Z</dcterms:created>
  <dcterms:modified xsi:type="dcterms:W3CDTF">2023-12-06T16:46:52Z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2022-02-19T00:00:00Z</vt:filetime>
  </property>
  <property fmtid="{D5CDD505-2E9C-101B-9397-08002B2CF9AE}" pid="3" name="Creator">
    <vt:lpwstr>CorelDRAW 2017</vt:lpwstr>
  </property>
  <property fmtid="{D5CDD505-2E9C-101B-9397-08002B2CF9AE}" pid="4" name="LastSaved">
    <vt:filetime>2022-02-19T00:00:00Z</vt:filetime>
  </property>
  <property fmtid="{D5CDD505-2E9C-101B-9397-08002B2CF9AE}" pid="5" name="MSIP_Label_fb5e2db6-eecf-4aa2-8fc3-174bf94bce19_Enabled">
    <vt:lpwstr>true</vt:lpwstr>
  </property>
  <property fmtid="{D5CDD505-2E9C-101B-9397-08002B2CF9AE}" pid="6" name="MSIP_Label_fb5e2db6-eecf-4aa2-8fc3-174bf94bce19_SetDate">
    <vt:lpwstr>2023-11-20T17:29:15Z</vt:lpwstr>
  </property>
  <property fmtid="{D5CDD505-2E9C-101B-9397-08002B2CF9AE}" pid="7" name="MSIP_Label_fb5e2db6-eecf-4aa2-8fc3-174bf94bce19_Method">
    <vt:lpwstr>Standard</vt:lpwstr>
  </property>
  <property fmtid="{D5CDD505-2E9C-101B-9397-08002B2CF9AE}" pid="8" name="MSIP_Label_fb5e2db6-eecf-4aa2-8fc3-174bf94bce19_Name">
    <vt:lpwstr>fb5e2db6-eecf-4aa2-8fc3-174bf94bce19</vt:lpwstr>
  </property>
  <property fmtid="{D5CDD505-2E9C-101B-9397-08002B2CF9AE}" pid="9" name="MSIP_Label_fb5e2db6-eecf-4aa2-8fc3-174bf94bce19_SiteId">
    <vt:lpwstr>ceb177bf-013b-49ab-8a9c-4abce32afc1e</vt:lpwstr>
  </property>
  <property fmtid="{D5CDD505-2E9C-101B-9397-08002B2CF9AE}" pid="10" name="MSIP_Label_fb5e2db6-eecf-4aa2-8fc3-174bf94bce19_ActionId">
    <vt:lpwstr>3c684f95-b4c4-408c-8e8b-ce6552b6a432</vt:lpwstr>
  </property>
  <property fmtid="{D5CDD505-2E9C-101B-9397-08002B2CF9AE}" pid="11" name="MSIP_Label_fb5e2db6-eecf-4aa2-8fc3-174bf94bce19_ContentBits">
    <vt:lpwstr>2</vt:lpwstr>
  </property>
</Properties>
</file>